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xmlns=""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9144000" cy="5143500"/>
  <p:notesSz cx="5143500" cy="9144000"/>
  <p:embeddedFontLst>
    <p:embeddedFont>
      <p:font typeface="Inter"/>
      <p:regular r:id="rId59"/>
    </p:embeddedFont>
    <p:embeddedFont>
      <p:font typeface="Roboto"/>
      <p:regular r:id="rId60"/>
    </p:embeddedFont>
    <p:embeddedFont>
      <p:font typeface="IBM Plex Sans"/>
      <p:regular r:id="rId61"/>
    </p:embeddedFont>
    <p:embeddedFont>
      <p:font typeface="Plus Jakarta Sans"/>
      <p:regular r:id="rId62"/>
    </p:embeddedFont>
    <p:embeddedFont>
      <p:font typeface="Public Sans"/>
      <p:regular r:id="rId63"/>
    </p:embeddedFont>
    <p:embeddedFont>
      <p:font typeface="Nunito"/>
      <p:regular r:id="rId64"/>
    </p:embeddedFont>
    <p:embeddedFont>
      <p:font typeface="Roboto Mono"/>
      <p:regular r:id="rId6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 xmlns="" Id="rId59" Type="http://schemas.openxmlformats.org/officeDocument/2006/relationships/font" Target="fonts/rId59.fntdata"/><Relationship xmlns="" Id="rId60" Type="http://schemas.openxmlformats.org/officeDocument/2006/relationships/font" Target="fonts/rId60.fntdata"/><Relationship xmlns="" Id="rId61" Type="http://schemas.openxmlformats.org/officeDocument/2006/relationships/font" Target="fonts/rId61.fntdata"/><Relationship xmlns="" Id="rId62" Type="http://schemas.openxmlformats.org/officeDocument/2006/relationships/font" Target="fonts/rId62.fntdata"/><Relationship xmlns="" Id="rId63" Type="http://schemas.openxmlformats.org/officeDocument/2006/relationships/font" Target="fonts/rId63.fntdata"/><Relationship xmlns="" Id="rId64" Type="http://schemas.openxmlformats.org/officeDocument/2006/relationships/font" Target="fonts/rId64.fntdata"/><Relationship xmlns="" Id="rId65" Type="http://schemas.openxmlformats.org/officeDocument/2006/relationships/font" Target="fonts/rId65.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Strategy &amp;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Deliverables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Deliverables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1.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slideLayout" Target="../slideLayouts/slideLayout1.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slideLayout" Target="../slideLayouts/slideLayout1.xm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1.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slideLayout" Target="../slideLayouts/slideLayout1.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image" Target="../media/image-49-7.png"/><Relationship Id="rId8" Type="http://schemas.openxmlformats.org/officeDocument/2006/relationships/image" Target="../media/image-49-8.png"/><Relationship Id="rId9" Type="http://schemas.openxmlformats.org/officeDocument/2006/relationships/image" Target="../media/image-49-9.png"/><Relationship Id="rId10" Type="http://schemas.openxmlformats.org/officeDocument/2006/relationships/image" Target="../media/image-49-10.png"/><Relationship Id="rId11" Type="http://schemas.openxmlformats.org/officeDocument/2006/relationships/image" Target="../media/image-49-11.png"/><Relationship Id="rId12" Type="http://schemas.openxmlformats.org/officeDocument/2006/relationships/image" Target="../media/image-49-12.png"/><Relationship Id="rId13" Type="http://schemas.openxmlformats.org/officeDocument/2006/relationships/image" Target="../media/image-49-13.png"/><Relationship Id="rId14" Type="http://schemas.openxmlformats.org/officeDocument/2006/relationships/image" Target="../media/image-49-14.png"/><Relationship Id="rId15" Type="http://schemas.openxmlformats.org/officeDocument/2006/relationships/image" Target="../media/image-49-15.png"/><Relationship Id="rId16" Type="http://schemas.openxmlformats.org/officeDocument/2006/relationships/image" Target="../media/image-49-16.png"/><Relationship Id="rId17" Type="http://schemas.openxmlformats.org/officeDocument/2006/relationships/image" Target="../media/image-49-17.png"/><Relationship Id="rId18" Type="http://schemas.openxmlformats.org/officeDocument/2006/relationships/image" Target="../media/image-49-18.png"/><Relationship Id="rId19" Type="http://schemas.openxmlformats.org/officeDocument/2006/relationships/image" Target="../media/image-49-19.png"/><Relationship Id="rId20" Type="http://schemas.openxmlformats.org/officeDocument/2006/relationships/image" Target="../media/image-49-20.png"/><Relationship Id="rId21" Type="http://schemas.openxmlformats.org/officeDocument/2006/relationships/image" Target="../media/image-49-21.png"/><Relationship Id="rId22" Type="http://schemas.openxmlformats.org/officeDocument/2006/relationships/image" Target="../media/image-49-22.png"/><Relationship Id="rId23" Type="http://schemas.openxmlformats.org/officeDocument/2006/relationships/image" Target="../media/image-49-23.png"/><Relationship Id="rId24" Type="http://schemas.openxmlformats.org/officeDocument/2006/relationships/image" Target="../media/image-49-24.png"/><Relationship Id="rId25" Type="http://schemas.openxmlformats.org/officeDocument/2006/relationships/image" Target="../media/image-49-25.png"/><Relationship Id="rId26" Type="http://schemas.openxmlformats.org/officeDocument/2006/relationships/image" Target="../media/image-49-26.png"/><Relationship Id="rId27" Type="http://schemas.openxmlformats.org/officeDocument/2006/relationships/image" Target="../media/image-49-27.png"/><Relationship Id="rId28" Type="http://schemas.openxmlformats.org/officeDocument/2006/relationships/image" Target="../media/image-49-28.png"/><Relationship Id="rId29" Type="http://schemas.openxmlformats.org/officeDocument/2006/relationships/image" Target="../media/image-49-29.png"/><Relationship Id="rId30" Type="http://schemas.openxmlformats.org/officeDocument/2006/relationships/image" Target="../media/image-49-30.png"/><Relationship Id="rId31" Type="http://schemas.openxmlformats.org/officeDocument/2006/relationships/image" Target="../media/image-49-31.png"/><Relationship Id="rId32" Type="http://schemas.openxmlformats.org/officeDocument/2006/relationships/image" Target="../media/image-49-32.png"/><Relationship Id="rId33" Type="http://schemas.openxmlformats.org/officeDocument/2006/relationships/slideLayout" Target="../slideLayouts/slideLayout1.xml"/><Relationship Id="rId3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hyperlink" Target="https://miro.com/app/board/uXjVHLRKfUE=/" TargetMode="External"/><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slideLayout" Target="../slideLayouts/slideLayout1.xml"/><Relationship Id="rId6"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FFFFF"/>
          </a:solidFill>
          <a:ln/>
        </p:spPr>
      </p:sp>
      <p:sp>
        <p:nvSpPr>
          <p:cNvPr id="3" name="Shape 1"/>
          <p:cNvSpPr/>
          <p:nvPr/>
        </p:nvSpPr>
        <p:spPr>
          <a:xfrm>
            <a:off x="700088" y="1776413"/>
            <a:ext cx="5715000" cy="1404938"/>
          </a:xfrm>
          <a:prstGeom prst="rect">
            <a:avLst/>
          </a:prstGeom>
          <a:noFill/>
          <a:ln/>
        </p:spPr>
      </p:sp>
      <p:sp>
        <p:nvSpPr>
          <p:cNvPr id="4" name="Text 2"/>
          <p:cNvSpPr/>
          <p:nvPr/>
        </p:nvSpPr>
        <p:spPr>
          <a:xfrm>
            <a:off x="700088" y="1776413"/>
            <a:ext cx="5715000" cy="1095375"/>
          </a:xfrm>
          <a:prstGeom prst="rect">
            <a:avLst/>
          </a:prstGeom>
          <a:noFill/>
          <a:ln/>
        </p:spPr>
        <p:txBody>
          <a:bodyPr wrap="square" lIns="0" tIns="0" rIns="0" bIns="0" rtlCol="0" anchor="t"/>
          <a:lstStyle/>
          <a:p>
            <a:pPr algn="l" indent="0" marL="0">
              <a:lnSpc>
                <a:spcPts val="4104"/>
              </a:lnSpc>
              <a:buNone/>
            </a:pPr>
            <a:r>
              <a:rPr lang="en-US" sz="3420" b="1" spc="-68" kern="0" dirty="0">
                <a:solidFill>
                  <a:srgbClr val="000000">
                    <a:alpha val="99000"/>
                  </a:srgbClr>
                </a:solidFill>
                <a:latin typeface="Roboto" pitchFamily="34" charset="0"/>
                <a:ea typeface="Roboto" pitchFamily="34" charset="-122"/>
                <a:cs typeface="Roboto" pitchFamily="34" charset="-120"/>
              </a:rPr>
              <a:t>Product review</a:t>
            </a:r>
            <a:endParaRPr lang="en-US" sz="3420" dirty="0"/>
          </a:p>
          <a:p>
            <a:pPr algn="l" indent="0" marL="0">
              <a:lnSpc>
                <a:spcPts val="4104"/>
              </a:lnSpc>
              <a:buNone/>
            </a:pPr>
            <a:r>
              <a:rPr lang="en-US" sz="3420" b="1" spc="-68" kern="0" dirty="0">
                <a:solidFill>
                  <a:srgbClr val="FFFFFF">
                    <a:alpha val="99000"/>
                  </a:srgbClr>
                </a:solidFill>
                <a:latin typeface="Roboto" pitchFamily="34" charset="0"/>
                <a:ea typeface="Roboto" pitchFamily="34" charset="-122"/>
                <a:cs typeface="Roboto" pitchFamily="34" charset="-120"/>
              </a:rPr>
              <a:t>Product name</a:t>
            </a:r>
            <a:endParaRPr lang="en-US" sz="3420" dirty="0"/>
          </a:p>
        </p:txBody>
      </p:sp>
      <p:sp>
        <p:nvSpPr>
          <p:cNvPr id="5" name="Text 3"/>
          <p:cNvSpPr/>
          <p:nvPr/>
        </p:nvSpPr>
        <p:spPr>
          <a:xfrm>
            <a:off x="700088" y="2986088"/>
            <a:ext cx="5715000" cy="195263"/>
          </a:xfrm>
          <a:prstGeom prst="rect">
            <a:avLst/>
          </a:prstGeom>
          <a:noFill/>
          <a:ln/>
        </p:spPr>
        <p:txBody>
          <a:bodyPr wrap="square" lIns="0" tIns="0" rIns="0" bIns="0" rtlCol="0" anchor="t"/>
          <a:lstStyle/>
          <a:p>
            <a:pPr algn="l" indent="0" marL="0">
              <a:lnSpc>
                <a:spcPts val="1453"/>
              </a:lnSpc>
              <a:buNone/>
            </a:pPr>
            <a:r>
              <a:rPr lang="en-US" sz="1069" spc="-11" kern="0" dirty="0">
                <a:solidFill>
                  <a:srgbClr val="000000">
                    <a:alpha val="99000"/>
                  </a:srgbClr>
                </a:solidFill>
                <a:latin typeface="Roboto" pitchFamily="34" charset="0"/>
                <a:ea typeface="Roboto" pitchFamily="34" charset="-122"/>
                <a:cs typeface="Roboto" pitchFamily="34" charset="-120"/>
              </a:rPr>
              <a:t>Add description</a:t>
            </a:r>
            <a:endParaRPr lang="en-US" sz="1069" dirty="0"/>
          </a:p>
        </p:txBody>
      </p:sp>
      <p:sp>
        <p:nvSpPr>
          <p:cNvPr id="6" name="Shape 4"/>
          <p:cNvSpPr/>
          <p:nvPr/>
        </p:nvSpPr>
        <p:spPr>
          <a:xfrm>
            <a:off x="700088" y="3810000"/>
            <a:ext cx="5524500" cy="280988"/>
          </a:xfrm>
          <a:prstGeom prst="rect">
            <a:avLst/>
          </a:prstGeom>
          <a:noFill/>
          <a:ln/>
        </p:spPr>
      </p:sp>
      <p:sp>
        <p:nvSpPr>
          <p:cNvPr id="7" name="Text 5"/>
          <p:cNvSpPr/>
          <p:nvPr/>
        </p:nvSpPr>
        <p:spPr>
          <a:xfrm>
            <a:off x="700088" y="3810000"/>
            <a:ext cx="952500" cy="257175"/>
          </a:xfrm>
          <a:prstGeom prst="rect">
            <a:avLst/>
          </a:prstGeom>
          <a:noFill/>
          <a:ln/>
        </p:spPr>
        <p:txBody>
          <a:bodyPr wrap="square" lIns="0" tIns="0" rIns="0" bIns="0" rtlCol="0" anchor="t"/>
          <a:lstStyle/>
          <a:p>
            <a:pPr algn="l" indent="0" marL="0">
              <a:lnSpc>
                <a:spcPts val="955"/>
              </a:lnSpc>
              <a:buNone/>
            </a:pPr>
            <a:r>
              <a:rPr lang="en-US" sz="713" spc="-4" kern="0" dirty="0">
                <a:solidFill>
                  <a:srgbClr val="4B68FF">
                    <a:alpha val="99000"/>
                  </a:srgbClr>
                </a:solidFill>
                <a:latin typeface="Roboto" pitchFamily="34" charset="0"/>
                <a:ea typeface="Roboto" pitchFamily="34" charset="-122"/>
                <a:cs typeface="Roboto" pitchFamily="34" charset="-120"/>
              </a:rPr>
              <a:t>REVIEW STATUS </a:t>
            </a:r>
            <a:endParaRPr lang="en-US" sz="713" dirty="0"/>
          </a:p>
        </p:txBody>
      </p:sp>
      <p:sp>
        <p:nvSpPr>
          <p:cNvPr id="8" name="Text 6"/>
          <p:cNvSpPr/>
          <p:nvPr/>
        </p:nvSpPr>
        <p:spPr>
          <a:xfrm>
            <a:off x="700088" y="3962400"/>
            <a:ext cx="952500" cy="128588"/>
          </a:xfrm>
          <a:prstGeom prst="rect">
            <a:avLst/>
          </a:prstGeom>
          <a:noFill/>
          <a:ln/>
        </p:spPr>
        <p:txBody>
          <a:bodyPr wrap="square" lIns="0" tIns="0" rIns="0" bIns="0" rtlCol="0" anchor="t"/>
          <a:lstStyle/>
          <a:p>
            <a:pPr algn="l" indent="0" marL="0">
              <a:lnSpc>
                <a:spcPts val="955"/>
              </a:lnSpc>
              <a:buNone/>
            </a:pPr>
            <a:r>
              <a:rPr lang="en-US" sz="713" b="1" spc="-4" kern="0" dirty="0">
                <a:solidFill>
                  <a:srgbClr val="000000">
                    <a:alpha val="99000"/>
                  </a:srgbClr>
                </a:solidFill>
                <a:latin typeface="Roboto" pitchFamily="34" charset="0"/>
                <a:ea typeface="Roboto" pitchFamily="34" charset="-122"/>
                <a:cs typeface="Roboto" pitchFamily="34" charset="-120"/>
              </a:rPr>
              <a:t>In Progress</a:t>
            </a:r>
            <a:endParaRPr lang="en-US" sz="713" dirty="0"/>
          </a:p>
        </p:txBody>
      </p:sp>
      <p:sp>
        <p:nvSpPr>
          <p:cNvPr id="9" name="Text 7"/>
          <p:cNvSpPr/>
          <p:nvPr/>
        </p:nvSpPr>
        <p:spPr>
          <a:xfrm>
            <a:off x="1843088" y="3810000"/>
            <a:ext cx="952500" cy="257175"/>
          </a:xfrm>
          <a:prstGeom prst="rect">
            <a:avLst/>
          </a:prstGeom>
          <a:noFill/>
          <a:ln/>
        </p:spPr>
        <p:txBody>
          <a:bodyPr wrap="square" lIns="0" tIns="0" rIns="0" bIns="0" rtlCol="0" anchor="t"/>
          <a:lstStyle/>
          <a:p>
            <a:pPr algn="l" indent="0" marL="0">
              <a:lnSpc>
                <a:spcPts val="955"/>
              </a:lnSpc>
              <a:buNone/>
            </a:pPr>
            <a:r>
              <a:rPr lang="en-US" sz="713" spc="-4" kern="0" dirty="0">
                <a:solidFill>
                  <a:srgbClr val="4B68FF">
                    <a:alpha val="99000"/>
                  </a:srgbClr>
                </a:solidFill>
                <a:latin typeface="Roboto" pitchFamily="34" charset="0"/>
                <a:ea typeface="Roboto" pitchFamily="34" charset="-122"/>
                <a:cs typeface="Roboto" pitchFamily="34" charset="-120"/>
              </a:rPr>
              <a:t>PRODUCT STAGE </a:t>
            </a:r>
            <a:endParaRPr lang="en-US" sz="713" dirty="0"/>
          </a:p>
        </p:txBody>
      </p:sp>
      <p:sp>
        <p:nvSpPr>
          <p:cNvPr id="10" name="Text 8"/>
          <p:cNvSpPr/>
          <p:nvPr/>
        </p:nvSpPr>
        <p:spPr>
          <a:xfrm>
            <a:off x="1843088" y="3962400"/>
            <a:ext cx="952500" cy="128588"/>
          </a:xfrm>
          <a:prstGeom prst="rect">
            <a:avLst/>
          </a:prstGeom>
          <a:noFill/>
          <a:ln/>
        </p:spPr>
        <p:txBody>
          <a:bodyPr wrap="square" lIns="0" tIns="0" rIns="0" bIns="0" rtlCol="0" anchor="t"/>
          <a:lstStyle/>
          <a:p>
            <a:pPr algn="l" indent="0" marL="0">
              <a:lnSpc>
                <a:spcPts val="955"/>
              </a:lnSpc>
              <a:buNone/>
            </a:pPr>
            <a:r>
              <a:rPr lang="en-US" sz="713" b="1" spc="-4" kern="0" dirty="0">
                <a:solidFill>
                  <a:srgbClr val="000000">
                    <a:alpha val="99000"/>
                  </a:srgbClr>
                </a:solidFill>
                <a:latin typeface="Roboto" pitchFamily="34" charset="0"/>
                <a:ea typeface="Roboto" pitchFamily="34" charset="-122"/>
                <a:cs typeface="Roboto" pitchFamily="34" charset="-120"/>
              </a:rPr>
              <a:t>Beta Release</a:t>
            </a:r>
            <a:endParaRPr lang="en-US" sz="713" dirty="0"/>
          </a:p>
        </p:txBody>
      </p:sp>
      <p:sp>
        <p:nvSpPr>
          <p:cNvPr id="11" name="Text 9"/>
          <p:cNvSpPr/>
          <p:nvPr/>
        </p:nvSpPr>
        <p:spPr>
          <a:xfrm>
            <a:off x="2986088" y="3810000"/>
            <a:ext cx="952500" cy="257175"/>
          </a:xfrm>
          <a:prstGeom prst="rect">
            <a:avLst/>
          </a:prstGeom>
          <a:noFill/>
          <a:ln/>
        </p:spPr>
        <p:txBody>
          <a:bodyPr wrap="square" lIns="0" tIns="0" rIns="0" bIns="0" rtlCol="0" anchor="t"/>
          <a:lstStyle/>
          <a:p>
            <a:pPr algn="l" indent="0" marL="0">
              <a:lnSpc>
                <a:spcPts val="955"/>
              </a:lnSpc>
              <a:buNone/>
            </a:pPr>
            <a:r>
              <a:rPr lang="en-US" sz="713" spc="-4" kern="0" dirty="0">
                <a:solidFill>
                  <a:srgbClr val="4B68FF">
                    <a:alpha val="99000"/>
                  </a:srgbClr>
                </a:solidFill>
                <a:latin typeface="Roboto" pitchFamily="34" charset="0"/>
                <a:ea typeface="Roboto" pitchFamily="34" charset="-122"/>
                <a:cs typeface="Roboto" pitchFamily="34" charset="-120"/>
              </a:rPr>
              <a:t>TEST COVERAGE </a:t>
            </a:r>
            <a:endParaRPr lang="en-US" sz="713" dirty="0"/>
          </a:p>
        </p:txBody>
      </p:sp>
      <p:sp>
        <p:nvSpPr>
          <p:cNvPr id="12" name="Text 10"/>
          <p:cNvSpPr/>
          <p:nvPr/>
        </p:nvSpPr>
        <p:spPr>
          <a:xfrm>
            <a:off x="2986088" y="3962400"/>
            <a:ext cx="952500" cy="128588"/>
          </a:xfrm>
          <a:prstGeom prst="rect">
            <a:avLst/>
          </a:prstGeom>
          <a:noFill/>
          <a:ln/>
        </p:spPr>
        <p:txBody>
          <a:bodyPr wrap="square" lIns="0" tIns="0" rIns="0" bIns="0" rtlCol="0" anchor="t"/>
          <a:lstStyle/>
          <a:p>
            <a:pPr algn="l" indent="0" marL="0">
              <a:lnSpc>
                <a:spcPts val="955"/>
              </a:lnSpc>
              <a:buNone/>
            </a:pPr>
            <a:r>
              <a:rPr lang="en-US" sz="713" b="1" spc="-4" kern="0" dirty="0">
                <a:solidFill>
                  <a:srgbClr val="000000">
                    <a:alpha val="99000"/>
                  </a:srgbClr>
                </a:solidFill>
                <a:latin typeface="Roboto" pitchFamily="34" charset="0"/>
                <a:ea typeface="Roboto" pitchFamily="34" charset="-122"/>
                <a:cs typeface="Roboto" pitchFamily="34" charset="-120"/>
              </a:rPr>
              <a:t>12 User Sessions</a:t>
            </a:r>
            <a:endParaRPr lang="en-US" sz="713" dirty="0"/>
          </a:p>
        </p:txBody>
      </p:sp>
      <p:sp>
        <p:nvSpPr>
          <p:cNvPr id="13" name="Text 11"/>
          <p:cNvSpPr/>
          <p:nvPr/>
        </p:nvSpPr>
        <p:spPr>
          <a:xfrm>
            <a:off x="4129088" y="3810000"/>
            <a:ext cx="952500" cy="257175"/>
          </a:xfrm>
          <a:prstGeom prst="rect">
            <a:avLst/>
          </a:prstGeom>
          <a:noFill/>
          <a:ln/>
        </p:spPr>
        <p:txBody>
          <a:bodyPr wrap="square" lIns="0" tIns="0" rIns="0" bIns="0" rtlCol="0" anchor="t"/>
          <a:lstStyle/>
          <a:p>
            <a:pPr algn="l" indent="0" marL="0">
              <a:lnSpc>
                <a:spcPts val="955"/>
              </a:lnSpc>
              <a:buNone/>
            </a:pPr>
            <a:r>
              <a:rPr lang="en-US" sz="713" spc="-4" kern="0" dirty="0">
                <a:solidFill>
                  <a:srgbClr val="4B68FF">
                    <a:alpha val="99000"/>
                  </a:srgbClr>
                </a:solidFill>
                <a:latin typeface="Roboto" pitchFamily="34" charset="0"/>
                <a:ea typeface="Roboto" pitchFamily="34" charset="-122"/>
                <a:cs typeface="Roboto" pitchFamily="34" charset="-120"/>
              </a:rPr>
              <a:t>KEY METRIC </a:t>
            </a:r>
            <a:endParaRPr lang="en-US" sz="713" dirty="0"/>
          </a:p>
        </p:txBody>
      </p:sp>
      <p:sp>
        <p:nvSpPr>
          <p:cNvPr id="14" name="Text 12"/>
          <p:cNvSpPr/>
          <p:nvPr/>
        </p:nvSpPr>
        <p:spPr>
          <a:xfrm>
            <a:off x="4129088" y="3962400"/>
            <a:ext cx="952500" cy="128588"/>
          </a:xfrm>
          <a:prstGeom prst="rect">
            <a:avLst/>
          </a:prstGeom>
          <a:noFill/>
          <a:ln/>
        </p:spPr>
        <p:txBody>
          <a:bodyPr wrap="square" lIns="0" tIns="0" rIns="0" bIns="0" rtlCol="0" anchor="t"/>
          <a:lstStyle/>
          <a:p>
            <a:pPr algn="l" indent="0" marL="0">
              <a:lnSpc>
                <a:spcPts val="955"/>
              </a:lnSpc>
              <a:buNone/>
            </a:pPr>
            <a:r>
              <a:rPr lang="en-US" sz="713" b="1" spc="-4" kern="0" dirty="0">
                <a:solidFill>
                  <a:srgbClr val="000000">
                    <a:alpha val="99000"/>
                  </a:srgbClr>
                </a:solidFill>
                <a:latin typeface="Roboto" pitchFamily="34" charset="0"/>
                <a:ea typeface="Roboto" pitchFamily="34" charset="-122"/>
                <a:cs typeface="Roboto" pitchFamily="34" charset="-120"/>
              </a:rPr>
              <a:t>92% Satisfaction</a:t>
            </a:r>
            <a:endParaRPr lang="en-US" sz="713" dirty="0"/>
          </a:p>
        </p:txBody>
      </p:sp>
      <p:sp>
        <p:nvSpPr>
          <p:cNvPr id="15" name="Text 13"/>
          <p:cNvSpPr/>
          <p:nvPr/>
        </p:nvSpPr>
        <p:spPr>
          <a:xfrm>
            <a:off x="5272088" y="3810000"/>
            <a:ext cx="952500" cy="257175"/>
          </a:xfrm>
          <a:prstGeom prst="rect">
            <a:avLst/>
          </a:prstGeom>
          <a:noFill/>
          <a:ln/>
        </p:spPr>
        <p:txBody>
          <a:bodyPr wrap="square" lIns="0" tIns="0" rIns="0" bIns="0" rtlCol="0" anchor="t"/>
          <a:lstStyle/>
          <a:p>
            <a:pPr algn="l" indent="0" marL="0">
              <a:lnSpc>
                <a:spcPts val="955"/>
              </a:lnSpc>
              <a:buNone/>
            </a:pPr>
            <a:r>
              <a:rPr lang="en-US" sz="713" spc="-4" kern="0" dirty="0">
                <a:solidFill>
                  <a:srgbClr val="4B68FF">
                    <a:alpha val="99000"/>
                  </a:srgbClr>
                </a:solidFill>
                <a:latin typeface="Roboto" pitchFamily="34" charset="0"/>
                <a:ea typeface="Roboto" pitchFamily="34" charset="-122"/>
                <a:cs typeface="Roboto" pitchFamily="34" charset="-120"/>
              </a:rPr>
              <a:t>NEXT ACTION </a:t>
            </a:r>
            <a:endParaRPr lang="en-US" sz="713" dirty="0"/>
          </a:p>
        </p:txBody>
      </p:sp>
      <p:sp>
        <p:nvSpPr>
          <p:cNvPr id="16" name="Text 14"/>
          <p:cNvSpPr/>
          <p:nvPr/>
        </p:nvSpPr>
        <p:spPr>
          <a:xfrm>
            <a:off x="5272088" y="3962400"/>
            <a:ext cx="952500" cy="128588"/>
          </a:xfrm>
          <a:prstGeom prst="rect">
            <a:avLst/>
          </a:prstGeom>
          <a:noFill/>
          <a:ln/>
        </p:spPr>
        <p:txBody>
          <a:bodyPr wrap="square" lIns="0" tIns="0" rIns="0" bIns="0" rtlCol="0" anchor="t"/>
          <a:lstStyle/>
          <a:p>
            <a:pPr algn="l" indent="0" marL="0">
              <a:lnSpc>
                <a:spcPts val="955"/>
              </a:lnSpc>
              <a:buNone/>
            </a:pPr>
            <a:r>
              <a:rPr lang="en-US" sz="713" b="1" spc="-4" kern="0" dirty="0">
                <a:solidFill>
                  <a:srgbClr val="000000">
                    <a:alpha val="99000"/>
                  </a:srgbClr>
                </a:solidFill>
                <a:latin typeface="Roboto" pitchFamily="34" charset="0"/>
                <a:ea typeface="Roboto" pitchFamily="34" charset="-122"/>
                <a:cs typeface="Roboto" pitchFamily="34" charset="-120"/>
              </a:rPr>
              <a:t>Iteration v2 Planned</a:t>
            </a:r>
            <a:endParaRPr lang="en-US" sz="713" dirty="0"/>
          </a:p>
        </p:txBody>
      </p:sp>
      <p:pic>
        <p:nvPicPr>
          <p:cNvPr id="17" name="Image 0" descr="preencoded.png">    </p:cNvPr>
          <p:cNvPicPr>
            <a:picLocks noChangeAspect="1"/>
          </p:cNvPicPr>
          <p:nvPr/>
        </p:nvPicPr>
        <p:blipFill>
          <a:blip r:embed="rId1"/>
          <a:srcRect l="0" r="0" t="0" b="0"/>
          <a:stretch/>
        </p:blipFill>
        <p:spPr>
          <a:xfrm>
            <a:off x="714375" y="1119188"/>
            <a:ext cx="825500" cy="171450"/>
          </a:xfrm>
          <a:prstGeom prst="rect">
            <a:avLst/>
          </a:prstGeom>
        </p:spPr>
      </p:pic>
      <p:pic>
        <p:nvPicPr>
          <p:cNvPr id="18" name="Image 1" descr="preencoded.png">    </p:cNvPr>
          <p:cNvPicPr>
            <a:picLocks noChangeAspect="1"/>
          </p:cNvPicPr>
          <p:nvPr/>
        </p:nvPicPr>
        <p:blipFill>
          <a:blip r:embed="rId2"/>
          <a:srcRect l="0" r="0" t="0" b="0"/>
          <a:stretch/>
        </p:blipFill>
        <p:spPr>
          <a:xfrm>
            <a:off x="714375" y="1119188"/>
            <a:ext cx="158750" cy="1714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000000"/>
          </a:solidFill>
          <a:ln/>
        </p:spPr>
      </p:sp>
      <p:sp>
        <p:nvSpPr>
          <p:cNvPr id="3" name="Shape 1"/>
          <p:cNvSpPr/>
          <p:nvPr/>
        </p:nvSpPr>
        <p:spPr>
          <a:xfrm>
            <a:off x="700088" y="1776413"/>
            <a:ext cx="5715000" cy="1404938"/>
          </a:xfrm>
          <a:prstGeom prst="rect">
            <a:avLst/>
          </a:prstGeom>
          <a:noFill/>
          <a:ln/>
        </p:spPr>
      </p:sp>
      <p:sp>
        <p:nvSpPr>
          <p:cNvPr id="4" name="Text 2"/>
          <p:cNvSpPr/>
          <p:nvPr/>
        </p:nvSpPr>
        <p:spPr>
          <a:xfrm>
            <a:off x="700088" y="1776413"/>
            <a:ext cx="5715000" cy="1095375"/>
          </a:xfrm>
          <a:prstGeom prst="rect">
            <a:avLst/>
          </a:prstGeom>
          <a:noFill/>
          <a:ln/>
        </p:spPr>
        <p:txBody>
          <a:bodyPr wrap="square" lIns="0" tIns="0" rIns="0" bIns="0" rtlCol="0" anchor="t"/>
          <a:lstStyle/>
          <a:p>
            <a:pPr algn="l" indent="0" marL="0">
              <a:lnSpc>
                <a:spcPts val="4104"/>
              </a:lnSpc>
              <a:buNone/>
            </a:pPr>
            <a:r>
              <a:rPr lang="en-US" sz="3420" b="1" spc="-68" kern="0" dirty="0">
                <a:solidFill>
                  <a:srgbClr val="FFFFFF">
                    <a:alpha val="99000"/>
                  </a:srgbClr>
                </a:solidFill>
                <a:latin typeface="Roboto" pitchFamily="34" charset="0"/>
                <a:ea typeface="Roboto" pitchFamily="34" charset="-122"/>
                <a:cs typeface="Roboto" pitchFamily="34" charset="-120"/>
              </a:rPr>
              <a:t>Product review</a:t>
            </a:r>
            <a:endParaRPr lang="en-US" sz="3420" dirty="0"/>
          </a:p>
          <a:p>
            <a:pPr algn="l" indent="0" marL="0">
              <a:lnSpc>
                <a:spcPts val="4104"/>
              </a:lnSpc>
              <a:buNone/>
            </a:pPr>
            <a:r>
              <a:rPr lang="en-US" sz="3420" b="1" spc="-68" kern="0" dirty="0">
                <a:solidFill>
                  <a:srgbClr val="FFFFFF">
                    <a:alpha val="99000"/>
                  </a:srgbClr>
                </a:solidFill>
                <a:latin typeface="Roboto" pitchFamily="34" charset="0"/>
                <a:ea typeface="Roboto" pitchFamily="34" charset="-122"/>
                <a:cs typeface="Roboto" pitchFamily="34" charset="-120"/>
              </a:rPr>
              <a:t>Product name</a:t>
            </a:r>
            <a:endParaRPr lang="en-US" sz="3420" dirty="0"/>
          </a:p>
        </p:txBody>
      </p:sp>
      <p:sp>
        <p:nvSpPr>
          <p:cNvPr id="5" name="Text 3"/>
          <p:cNvSpPr/>
          <p:nvPr/>
        </p:nvSpPr>
        <p:spPr>
          <a:xfrm>
            <a:off x="700088" y="2986088"/>
            <a:ext cx="5715000" cy="195263"/>
          </a:xfrm>
          <a:prstGeom prst="rect">
            <a:avLst/>
          </a:prstGeom>
          <a:noFill/>
          <a:ln/>
        </p:spPr>
        <p:txBody>
          <a:bodyPr wrap="square" lIns="0" tIns="0" rIns="0" bIns="0" rtlCol="0" anchor="t"/>
          <a:lstStyle/>
          <a:p>
            <a:pPr algn="l" indent="0" marL="0">
              <a:lnSpc>
                <a:spcPts val="1453"/>
              </a:lnSpc>
              <a:buNone/>
            </a:pPr>
            <a:r>
              <a:rPr lang="en-US" sz="1069" spc="-11" kern="0" dirty="0">
                <a:solidFill>
                  <a:srgbClr val="FFFFFF">
                    <a:alpha val="99000"/>
                  </a:srgbClr>
                </a:solidFill>
                <a:latin typeface="Roboto" pitchFamily="34" charset="0"/>
                <a:ea typeface="Roboto" pitchFamily="34" charset="-122"/>
                <a:cs typeface="Roboto" pitchFamily="34" charset="-120"/>
              </a:rPr>
              <a:t>Add description</a:t>
            </a:r>
            <a:endParaRPr lang="en-US" sz="1069" dirty="0"/>
          </a:p>
        </p:txBody>
      </p:sp>
      <p:sp>
        <p:nvSpPr>
          <p:cNvPr id="6" name="Shape 4"/>
          <p:cNvSpPr/>
          <p:nvPr/>
        </p:nvSpPr>
        <p:spPr>
          <a:xfrm>
            <a:off x="700088" y="3810000"/>
            <a:ext cx="5524500" cy="280988"/>
          </a:xfrm>
          <a:prstGeom prst="rect">
            <a:avLst/>
          </a:prstGeom>
          <a:noFill/>
          <a:ln/>
        </p:spPr>
      </p:sp>
      <p:sp>
        <p:nvSpPr>
          <p:cNvPr id="7" name="Text 5"/>
          <p:cNvSpPr/>
          <p:nvPr/>
        </p:nvSpPr>
        <p:spPr>
          <a:xfrm>
            <a:off x="700088" y="3810000"/>
            <a:ext cx="952500" cy="257175"/>
          </a:xfrm>
          <a:prstGeom prst="rect">
            <a:avLst/>
          </a:prstGeom>
          <a:noFill/>
          <a:ln/>
        </p:spPr>
        <p:txBody>
          <a:bodyPr wrap="square" lIns="0" tIns="0" rIns="0" bIns="0" rtlCol="0" anchor="t"/>
          <a:lstStyle/>
          <a:p>
            <a:pPr algn="l" indent="0" marL="0">
              <a:lnSpc>
                <a:spcPts val="955"/>
              </a:lnSpc>
              <a:buNone/>
            </a:pPr>
            <a:r>
              <a:rPr lang="en-US" sz="713" spc="-4" kern="0" dirty="0">
                <a:solidFill>
                  <a:srgbClr val="4B68FF">
                    <a:alpha val="99000"/>
                  </a:srgbClr>
                </a:solidFill>
                <a:latin typeface="Roboto" pitchFamily="34" charset="0"/>
                <a:ea typeface="Roboto" pitchFamily="34" charset="-122"/>
                <a:cs typeface="Roboto" pitchFamily="34" charset="-120"/>
              </a:rPr>
              <a:t>REVIEW STATUS </a:t>
            </a:r>
            <a:endParaRPr lang="en-US" sz="713" dirty="0"/>
          </a:p>
        </p:txBody>
      </p:sp>
      <p:sp>
        <p:nvSpPr>
          <p:cNvPr id="8" name="Text 6"/>
          <p:cNvSpPr/>
          <p:nvPr/>
        </p:nvSpPr>
        <p:spPr>
          <a:xfrm>
            <a:off x="700088" y="3962400"/>
            <a:ext cx="952500" cy="128588"/>
          </a:xfrm>
          <a:prstGeom prst="rect">
            <a:avLst/>
          </a:prstGeom>
          <a:noFill/>
          <a:ln/>
        </p:spPr>
        <p:txBody>
          <a:bodyPr wrap="square" lIns="0" tIns="0" rIns="0" bIns="0" rtlCol="0" anchor="t"/>
          <a:lstStyle/>
          <a:p>
            <a:pPr algn="l" indent="0" marL="0">
              <a:lnSpc>
                <a:spcPts val="955"/>
              </a:lnSpc>
              <a:buNone/>
            </a:pPr>
            <a:r>
              <a:rPr lang="en-US" sz="713" b="1" spc="-4" kern="0" dirty="0">
                <a:solidFill>
                  <a:srgbClr val="FFFFFF">
                    <a:alpha val="99000"/>
                  </a:srgbClr>
                </a:solidFill>
                <a:latin typeface="Roboto" pitchFamily="34" charset="0"/>
                <a:ea typeface="Roboto" pitchFamily="34" charset="-122"/>
                <a:cs typeface="Roboto" pitchFamily="34" charset="-120"/>
              </a:rPr>
              <a:t>In Progress</a:t>
            </a:r>
            <a:endParaRPr lang="en-US" sz="713" dirty="0"/>
          </a:p>
        </p:txBody>
      </p:sp>
      <p:sp>
        <p:nvSpPr>
          <p:cNvPr id="9" name="Text 7"/>
          <p:cNvSpPr/>
          <p:nvPr/>
        </p:nvSpPr>
        <p:spPr>
          <a:xfrm>
            <a:off x="1843088" y="3810000"/>
            <a:ext cx="952500" cy="257175"/>
          </a:xfrm>
          <a:prstGeom prst="rect">
            <a:avLst/>
          </a:prstGeom>
          <a:noFill/>
          <a:ln/>
        </p:spPr>
        <p:txBody>
          <a:bodyPr wrap="square" lIns="0" tIns="0" rIns="0" bIns="0" rtlCol="0" anchor="t"/>
          <a:lstStyle/>
          <a:p>
            <a:pPr algn="l" indent="0" marL="0">
              <a:lnSpc>
                <a:spcPts val="955"/>
              </a:lnSpc>
              <a:buNone/>
            </a:pPr>
            <a:r>
              <a:rPr lang="en-US" sz="713" spc="-4" kern="0" dirty="0">
                <a:solidFill>
                  <a:srgbClr val="4B68FF">
                    <a:alpha val="99000"/>
                  </a:srgbClr>
                </a:solidFill>
                <a:latin typeface="Roboto" pitchFamily="34" charset="0"/>
                <a:ea typeface="Roboto" pitchFamily="34" charset="-122"/>
                <a:cs typeface="Roboto" pitchFamily="34" charset="-120"/>
              </a:rPr>
              <a:t>PRODUCT STAGE </a:t>
            </a:r>
            <a:endParaRPr lang="en-US" sz="713" dirty="0"/>
          </a:p>
        </p:txBody>
      </p:sp>
      <p:sp>
        <p:nvSpPr>
          <p:cNvPr id="10" name="Text 8"/>
          <p:cNvSpPr/>
          <p:nvPr/>
        </p:nvSpPr>
        <p:spPr>
          <a:xfrm>
            <a:off x="1843088" y="3962400"/>
            <a:ext cx="952500" cy="128588"/>
          </a:xfrm>
          <a:prstGeom prst="rect">
            <a:avLst/>
          </a:prstGeom>
          <a:noFill/>
          <a:ln/>
        </p:spPr>
        <p:txBody>
          <a:bodyPr wrap="square" lIns="0" tIns="0" rIns="0" bIns="0" rtlCol="0" anchor="t"/>
          <a:lstStyle/>
          <a:p>
            <a:pPr algn="l" indent="0" marL="0">
              <a:lnSpc>
                <a:spcPts val="955"/>
              </a:lnSpc>
              <a:buNone/>
            </a:pPr>
            <a:r>
              <a:rPr lang="en-US" sz="713" b="1" spc="-4" kern="0" dirty="0">
                <a:solidFill>
                  <a:srgbClr val="FFFFFF">
                    <a:alpha val="99000"/>
                  </a:srgbClr>
                </a:solidFill>
                <a:latin typeface="Roboto" pitchFamily="34" charset="0"/>
                <a:ea typeface="Roboto" pitchFamily="34" charset="-122"/>
                <a:cs typeface="Roboto" pitchFamily="34" charset="-120"/>
              </a:rPr>
              <a:t>Beta Release</a:t>
            </a:r>
            <a:endParaRPr lang="en-US" sz="713" dirty="0"/>
          </a:p>
        </p:txBody>
      </p:sp>
      <p:sp>
        <p:nvSpPr>
          <p:cNvPr id="11" name="Text 9"/>
          <p:cNvSpPr/>
          <p:nvPr/>
        </p:nvSpPr>
        <p:spPr>
          <a:xfrm>
            <a:off x="2986088" y="3810000"/>
            <a:ext cx="952500" cy="257175"/>
          </a:xfrm>
          <a:prstGeom prst="rect">
            <a:avLst/>
          </a:prstGeom>
          <a:noFill/>
          <a:ln/>
        </p:spPr>
        <p:txBody>
          <a:bodyPr wrap="square" lIns="0" tIns="0" rIns="0" bIns="0" rtlCol="0" anchor="t"/>
          <a:lstStyle/>
          <a:p>
            <a:pPr algn="l" indent="0" marL="0">
              <a:lnSpc>
                <a:spcPts val="955"/>
              </a:lnSpc>
              <a:buNone/>
            </a:pPr>
            <a:r>
              <a:rPr lang="en-US" sz="713" spc="-4" kern="0" dirty="0">
                <a:solidFill>
                  <a:srgbClr val="4B68FF">
                    <a:alpha val="99000"/>
                  </a:srgbClr>
                </a:solidFill>
                <a:latin typeface="Roboto" pitchFamily="34" charset="0"/>
                <a:ea typeface="Roboto" pitchFamily="34" charset="-122"/>
                <a:cs typeface="Roboto" pitchFamily="34" charset="-120"/>
              </a:rPr>
              <a:t>TEST COVERAGE </a:t>
            </a:r>
            <a:endParaRPr lang="en-US" sz="713" dirty="0"/>
          </a:p>
        </p:txBody>
      </p:sp>
      <p:sp>
        <p:nvSpPr>
          <p:cNvPr id="12" name="Text 10"/>
          <p:cNvSpPr/>
          <p:nvPr/>
        </p:nvSpPr>
        <p:spPr>
          <a:xfrm>
            <a:off x="2986088" y="3962400"/>
            <a:ext cx="952500" cy="128588"/>
          </a:xfrm>
          <a:prstGeom prst="rect">
            <a:avLst/>
          </a:prstGeom>
          <a:noFill/>
          <a:ln/>
        </p:spPr>
        <p:txBody>
          <a:bodyPr wrap="square" lIns="0" tIns="0" rIns="0" bIns="0" rtlCol="0" anchor="t"/>
          <a:lstStyle/>
          <a:p>
            <a:pPr algn="l" indent="0" marL="0">
              <a:lnSpc>
                <a:spcPts val="955"/>
              </a:lnSpc>
              <a:buNone/>
            </a:pPr>
            <a:r>
              <a:rPr lang="en-US" sz="713" b="1" spc="-4" kern="0" dirty="0">
                <a:solidFill>
                  <a:srgbClr val="FFFFFF">
                    <a:alpha val="99000"/>
                  </a:srgbClr>
                </a:solidFill>
                <a:latin typeface="Roboto" pitchFamily="34" charset="0"/>
                <a:ea typeface="Roboto" pitchFamily="34" charset="-122"/>
                <a:cs typeface="Roboto" pitchFamily="34" charset="-120"/>
              </a:rPr>
              <a:t>12 User Sessions</a:t>
            </a:r>
            <a:endParaRPr lang="en-US" sz="713" dirty="0"/>
          </a:p>
        </p:txBody>
      </p:sp>
      <p:sp>
        <p:nvSpPr>
          <p:cNvPr id="13" name="Text 11"/>
          <p:cNvSpPr/>
          <p:nvPr/>
        </p:nvSpPr>
        <p:spPr>
          <a:xfrm>
            <a:off x="4129088" y="3810000"/>
            <a:ext cx="952500" cy="257175"/>
          </a:xfrm>
          <a:prstGeom prst="rect">
            <a:avLst/>
          </a:prstGeom>
          <a:noFill/>
          <a:ln/>
        </p:spPr>
        <p:txBody>
          <a:bodyPr wrap="square" lIns="0" tIns="0" rIns="0" bIns="0" rtlCol="0" anchor="t"/>
          <a:lstStyle/>
          <a:p>
            <a:pPr algn="l" indent="0" marL="0">
              <a:lnSpc>
                <a:spcPts val="955"/>
              </a:lnSpc>
              <a:buNone/>
            </a:pPr>
            <a:r>
              <a:rPr lang="en-US" sz="713" spc="-4" kern="0" dirty="0">
                <a:solidFill>
                  <a:srgbClr val="4B68FF">
                    <a:alpha val="99000"/>
                  </a:srgbClr>
                </a:solidFill>
                <a:latin typeface="Roboto" pitchFamily="34" charset="0"/>
                <a:ea typeface="Roboto" pitchFamily="34" charset="-122"/>
                <a:cs typeface="Roboto" pitchFamily="34" charset="-120"/>
              </a:rPr>
              <a:t>KEY METRIC </a:t>
            </a:r>
            <a:endParaRPr lang="en-US" sz="713" dirty="0"/>
          </a:p>
        </p:txBody>
      </p:sp>
      <p:sp>
        <p:nvSpPr>
          <p:cNvPr id="14" name="Text 12"/>
          <p:cNvSpPr/>
          <p:nvPr/>
        </p:nvSpPr>
        <p:spPr>
          <a:xfrm>
            <a:off x="4129088" y="3962400"/>
            <a:ext cx="952500" cy="128588"/>
          </a:xfrm>
          <a:prstGeom prst="rect">
            <a:avLst/>
          </a:prstGeom>
          <a:noFill/>
          <a:ln/>
        </p:spPr>
        <p:txBody>
          <a:bodyPr wrap="square" lIns="0" tIns="0" rIns="0" bIns="0" rtlCol="0" anchor="t"/>
          <a:lstStyle/>
          <a:p>
            <a:pPr algn="l" indent="0" marL="0">
              <a:lnSpc>
                <a:spcPts val="955"/>
              </a:lnSpc>
              <a:buNone/>
            </a:pPr>
            <a:r>
              <a:rPr lang="en-US" sz="713" b="1" spc="-4" kern="0" dirty="0">
                <a:solidFill>
                  <a:srgbClr val="FFFFFF">
                    <a:alpha val="99000"/>
                  </a:srgbClr>
                </a:solidFill>
                <a:latin typeface="Roboto" pitchFamily="34" charset="0"/>
                <a:ea typeface="Roboto" pitchFamily="34" charset="-122"/>
                <a:cs typeface="Roboto" pitchFamily="34" charset="-120"/>
              </a:rPr>
              <a:t>92% Satisfaction</a:t>
            </a:r>
            <a:endParaRPr lang="en-US" sz="713" dirty="0"/>
          </a:p>
        </p:txBody>
      </p:sp>
      <p:sp>
        <p:nvSpPr>
          <p:cNvPr id="15" name="Text 13"/>
          <p:cNvSpPr/>
          <p:nvPr/>
        </p:nvSpPr>
        <p:spPr>
          <a:xfrm>
            <a:off x="5272088" y="3810000"/>
            <a:ext cx="952500" cy="257175"/>
          </a:xfrm>
          <a:prstGeom prst="rect">
            <a:avLst/>
          </a:prstGeom>
          <a:noFill/>
          <a:ln/>
        </p:spPr>
        <p:txBody>
          <a:bodyPr wrap="square" lIns="0" tIns="0" rIns="0" bIns="0" rtlCol="0" anchor="t"/>
          <a:lstStyle/>
          <a:p>
            <a:pPr algn="l" indent="0" marL="0">
              <a:lnSpc>
                <a:spcPts val="955"/>
              </a:lnSpc>
              <a:buNone/>
            </a:pPr>
            <a:r>
              <a:rPr lang="en-US" sz="713" spc="-4" kern="0" dirty="0">
                <a:solidFill>
                  <a:srgbClr val="4B68FF">
                    <a:alpha val="99000"/>
                  </a:srgbClr>
                </a:solidFill>
                <a:latin typeface="Roboto" pitchFamily="34" charset="0"/>
                <a:ea typeface="Roboto" pitchFamily="34" charset="-122"/>
                <a:cs typeface="Roboto" pitchFamily="34" charset="-120"/>
              </a:rPr>
              <a:t>NEXT ACTION </a:t>
            </a:r>
            <a:endParaRPr lang="en-US" sz="713" dirty="0"/>
          </a:p>
        </p:txBody>
      </p:sp>
      <p:sp>
        <p:nvSpPr>
          <p:cNvPr id="16" name="Text 14"/>
          <p:cNvSpPr/>
          <p:nvPr/>
        </p:nvSpPr>
        <p:spPr>
          <a:xfrm>
            <a:off x="5272088" y="3962400"/>
            <a:ext cx="952500" cy="128588"/>
          </a:xfrm>
          <a:prstGeom prst="rect">
            <a:avLst/>
          </a:prstGeom>
          <a:noFill/>
          <a:ln/>
        </p:spPr>
        <p:txBody>
          <a:bodyPr wrap="square" lIns="0" tIns="0" rIns="0" bIns="0" rtlCol="0" anchor="t"/>
          <a:lstStyle/>
          <a:p>
            <a:pPr algn="l" indent="0" marL="0">
              <a:lnSpc>
                <a:spcPts val="955"/>
              </a:lnSpc>
              <a:buNone/>
            </a:pPr>
            <a:r>
              <a:rPr lang="en-US" sz="713" b="1" spc="-4" kern="0" dirty="0">
                <a:solidFill>
                  <a:srgbClr val="FFFFFF">
                    <a:alpha val="99000"/>
                  </a:srgbClr>
                </a:solidFill>
                <a:latin typeface="Roboto" pitchFamily="34" charset="0"/>
                <a:ea typeface="Roboto" pitchFamily="34" charset="-122"/>
                <a:cs typeface="Roboto" pitchFamily="34" charset="-120"/>
              </a:rPr>
              <a:t>Iteration v2 Planned</a:t>
            </a:r>
            <a:endParaRPr lang="en-US" sz="713" dirty="0"/>
          </a:p>
        </p:txBody>
      </p:sp>
      <p:pic>
        <p:nvPicPr>
          <p:cNvPr id="17" name="Image 0" descr="preencoded.png">    </p:cNvPr>
          <p:cNvPicPr>
            <a:picLocks noChangeAspect="1"/>
          </p:cNvPicPr>
          <p:nvPr/>
        </p:nvPicPr>
        <p:blipFill>
          <a:blip r:embed="rId1"/>
          <a:srcRect l="0" r="0" t="0" b="0"/>
          <a:stretch/>
        </p:blipFill>
        <p:spPr>
          <a:xfrm>
            <a:off x="714375" y="1119188"/>
            <a:ext cx="825500" cy="171450"/>
          </a:xfrm>
          <a:prstGeom prst="rect">
            <a:avLst/>
          </a:prstGeom>
        </p:spPr>
      </p:pic>
      <p:pic>
        <p:nvPicPr>
          <p:cNvPr id="18" name="Image 1" descr="preencoded.png">    </p:cNvPr>
          <p:cNvPicPr>
            <a:picLocks noChangeAspect="1"/>
          </p:cNvPicPr>
          <p:nvPr/>
        </p:nvPicPr>
        <p:blipFill>
          <a:blip r:embed="rId2"/>
          <a:srcRect l="0" r="0" t="0" b="0"/>
          <a:stretch/>
        </p:blipFill>
        <p:spPr>
          <a:xfrm>
            <a:off x="714375" y="1119188"/>
            <a:ext cx="158750" cy="171450"/>
          </a:xfrm>
          <a:prstGeom prst="rect">
            <a:avLst/>
          </a:prstGeom>
        </p:spPr>
      </p:pic>
      <p:pic>
        <p:nvPicPr>
          <p:cNvPr id="19" name="Image 2" descr="preencoded.png">    </p:cNvPr>
          <p:cNvPicPr>
            <a:picLocks noChangeAspect="1"/>
          </p:cNvPicPr>
          <p:nvPr/>
        </p:nvPicPr>
        <p:blipFill>
          <a:blip r:embed="rId3"/>
          <a:srcRect l="0" r="0" t="0" b="0"/>
          <a:stretch/>
        </p:blipFill>
        <p:spPr>
          <a:xfrm>
            <a:off x="714375" y="1119188"/>
            <a:ext cx="825500" cy="171450"/>
          </a:xfrm>
          <a:prstGeom prst="rect">
            <a:avLst/>
          </a:prstGeom>
        </p:spPr>
      </p:pic>
      <p:pic>
        <p:nvPicPr>
          <p:cNvPr id="20" name="Image 3" descr="preencoded.png">    </p:cNvPr>
          <p:cNvPicPr>
            <a:picLocks noChangeAspect="1"/>
          </p:cNvPicPr>
          <p:nvPr/>
        </p:nvPicPr>
        <p:blipFill>
          <a:blip r:embed="rId4"/>
          <a:srcRect l="0" r="0" t="0" b="0"/>
          <a:stretch/>
        </p:blipFill>
        <p:spPr>
          <a:xfrm>
            <a:off x="714375" y="1119188"/>
            <a:ext cx="158750" cy="1714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FFFFF"/>
          </a:solidFill>
          <a:ln/>
        </p:spPr>
      </p:sp>
      <p:sp>
        <p:nvSpPr>
          <p:cNvPr id="3" name="Text 1"/>
          <p:cNvSpPr/>
          <p:nvPr/>
        </p:nvSpPr>
        <p:spPr>
          <a:xfrm>
            <a:off x="661988" y="1000125"/>
            <a:ext cx="3786188" cy="1571625"/>
          </a:xfrm>
          <a:prstGeom prst="rect">
            <a:avLst/>
          </a:prstGeom>
          <a:noFill/>
          <a:ln/>
        </p:spPr>
        <p:txBody>
          <a:bodyPr wrap="square" lIns="0" tIns="0" rIns="0" bIns="0" rtlCol="0" anchor="t"/>
          <a:lstStyle/>
          <a:p>
            <a:pPr algn="l" indent="0" marL="0">
              <a:lnSpc>
                <a:spcPts val="5878"/>
              </a:lnSpc>
              <a:buNone/>
            </a:pPr>
            <a:r>
              <a:rPr lang="en-US" sz="5344" b="1" dirty="0">
                <a:solidFill>
                  <a:srgbClr val="000000">
                    <a:alpha val="99000"/>
                  </a:srgbClr>
                </a:solidFill>
                <a:latin typeface="IBM Plex Sans" pitchFamily="34" charset="0"/>
                <a:ea typeface="IBM Plex Sans" pitchFamily="34" charset="-122"/>
                <a:cs typeface="IBM Plex Sans" pitchFamily="34" charset="-120"/>
              </a:rPr>
              <a:t>Today’s</a:t>
            </a:r>
            <a:endParaRPr lang="en-US" sz="5344" dirty="0"/>
          </a:p>
          <a:p>
            <a:pPr algn="l" indent="0" marL="0">
              <a:lnSpc>
                <a:spcPts val="5878"/>
              </a:lnSpc>
              <a:buNone/>
            </a:pPr>
            <a:r>
              <a:rPr lang="en-US" sz="5344" b="1" dirty="0">
                <a:solidFill>
                  <a:srgbClr val="000000">
                    <a:alpha val="99000"/>
                  </a:srgbClr>
                </a:solidFill>
                <a:latin typeface="IBM Plex Sans" pitchFamily="34" charset="0"/>
                <a:ea typeface="IBM Plex Sans" pitchFamily="34" charset="-122"/>
                <a:cs typeface="IBM Plex Sans" pitchFamily="34" charset="-120"/>
              </a:rPr>
              <a:t>Agenda:</a:t>
            </a:r>
            <a:endParaRPr lang="en-US" sz="5344" dirty="0"/>
          </a:p>
        </p:txBody>
      </p:sp>
      <p:sp>
        <p:nvSpPr>
          <p:cNvPr id="4" name="Text 2"/>
          <p:cNvSpPr/>
          <p:nvPr/>
        </p:nvSpPr>
        <p:spPr>
          <a:xfrm>
            <a:off x="4619625" y="1000125"/>
            <a:ext cx="3700463" cy="2857500"/>
          </a:xfrm>
          <a:prstGeom prst="rect">
            <a:avLst/>
          </a:prstGeom>
          <a:noFill/>
          <a:ln/>
        </p:spPr>
        <p:txBody>
          <a:bodyPr wrap="square" lIns="0" tIns="0" rIns="0" bIns="0" rtlCol="0" anchor="t"/>
          <a:lstStyle/>
          <a:p>
            <a:pPr algn="l" marL="342900" indent="-342900">
              <a:lnSpc>
                <a:spcPts val="4289"/>
              </a:lnSpc>
              <a:buSzPct val="100000"/>
              <a:buFont typeface="+mj-lt"/>
              <a:buAutoNum type="arabicPeriod" startAt="1"/>
            </a:pPr>
            <a:r>
              <a:rPr lang="en-US" sz="2494" spc="-55" kern="0" dirty="0">
                <a:solidFill>
                  <a:srgbClr val="000000">
                    <a:alpha val="99000"/>
                  </a:srgbClr>
                </a:solidFill>
                <a:latin typeface="Roboto" pitchFamily="34" charset="0"/>
                <a:ea typeface="Roboto" pitchFamily="34" charset="-122"/>
                <a:cs typeface="Roboto" pitchFamily="34" charset="-120"/>
              </a:rPr>
              <a:t>Project Overview</a:t>
            </a:r>
            <a:endParaRPr lang="en-US" sz="2494" dirty="0"/>
          </a:p>
          <a:p>
            <a:pPr algn="l" marL="342900" indent="-342900">
              <a:lnSpc>
                <a:spcPts val="4289"/>
              </a:lnSpc>
              <a:buSzPct val="100000"/>
              <a:buFont typeface="+mj-lt"/>
              <a:buAutoNum type="arabicPeriod" startAt="1"/>
            </a:pPr>
            <a:r>
              <a:rPr lang="en-US" sz="2494" spc="-55" kern="0" dirty="0">
                <a:solidFill>
                  <a:srgbClr val="000000">
                    <a:alpha val="99000"/>
                  </a:srgbClr>
                </a:solidFill>
                <a:latin typeface="Roboto" pitchFamily="34" charset="0"/>
                <a:ea typeface="Roboto" pitchFamily="34" charset="-122"/>
                <a:cs typeface="Roboto" pitchFamily="34" charset="-120"/>
              </a:rPr>
              <a:t>Discovery</a:t>
            </a:r>
            <a:endParaRPr lang="en-US" sz="2494" dirty="0"/>
          </a:p>
          <a:p>
            <a:pPr algn="l" marL="342900" indent="-342900">
              <a:lnSpc>
                <a:spcPts val="4289"/>
              </a:lnSpc>
              <a:buSzPct val="100000"/>
              <a:buFont typeface="+mj-lt"/>
              <a:buAutoNum type="arabicPeriod" startAt="1"/>
            </a:pPr>
            <a:r>
              <a:rPr lang="en-US" sz="2494" spc="-55" kern="0" dirty="0">
                <a:solidFill>
                  <a:srgbClr val="000000">
                    <a:alpha val="99000"/>
                  </a:srgbClr>
                </a:solidFill>
                <a:latin typeface="Roboto" pitchFamily="34" charset="0"/>
                <a:ea typeface="Roboto" pitchFamily="34" charset="-122"/>
                <a:cs typeface="Roboto" pitchFamily="34" charset="-120"/>
              </a:rPr>
              <a:t>Strategy &amp; Process</a:t>
            </a:r>
            <a:endParaRPr lang="en-US" sz="2494" dirty="0"/>
          </a:p>
          <a:p>
            <a:pPr algn="l" marL="342900" indent="-342900">
              <a:lnSpc>
                <a:spcPts val="4289"/>
              </a:lnSpc>
              <a:buSzPct val="100000"/>
              <a:buFont typeface="+mj-lt"/>
              <a:buAutoNum type="arabicPeriod" startAt="1"/>
            </a:pPr>
            <a:r>
              <a:rPr lang="en-US" sz="2494" spc="-55" kern="0" dirty="0">
                <a:solidFill>
                  <a:srgbClr val="000000">
                    <a:alpha val="99000"/>
                  </a:srgbClr>
                </a:solidFill>
                <a:latin typeface="Roboto" pitchFamily="34" charset="0"/>
                <a:ea typeface="Roboto" pitchFamily="34" charset="-122"/>
                <a:cs typeface="Roboto" pitchFamily="34" charset="-120"/>
              </a:rPr>
              <a:t>Key Deliverables</a:t>
            </a:r>
            <a:endParaRPr lang="en-US" sz="2494" dirty="0"/>
          </a:p>
          <a:p>
            <a:pPr algn="l" marL="342900" indent="-342900">
              <a:lnSpc>
                <a:spcPts val="4289"/>
              </a:lnSpc>
              <a:buSzPct val="100000"/>
              <a:buFont typeface="+mj-lt"/>
              <a:buAutoNum type="arabicPeriod" startAt="1"/>
            </a:pPr>
            <a:r>
              <a:rPr lang="en-US" sz="2494" spc="-55" kern="0" dirty="0">
                <a:solidFill>
                  <a:srgbClr val="000000">
                    <a:alpha val="99000"/>
                  </a:srgbClr>
                </a:solidFill>
                <a:latin typeface="Roboto" pitchFamily="34" charset="0"/>
                <a:ea typeface="Roboto" pitchFamily="34" charset="-122"/>
                <a:cs typeface="Roboto" pitchFamily="34" charset="-120"/>
              </a:rPr>
              <a:t>Next Steps</a:t>
            </a:r>
            <a:endParaRPr lang="en-US" sz="249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000000"/>
          </a:solidFill>
          <a:ln/>
        </p:spPr>
      </p:sp>
      <p:sp>
        <p:nvSpPr>
          <p:cNvPr id="3" name="Text 1"/>
          <p:cNvSpPr/>
          <p:nvPr/>
        </p:nvSpPr>
        <p:spPr>
          <a:xfrm>
            <a:off x="666750" y="1000125"/>
            <a:ext cx="3786188" cy="1571625"/>
          </a:xfrm>
          <a:prstGeom prst="rect">
            <a:avLst/>
          </a:prstGeom>
          <a:noFill/>
          <a:ln/>
        </p:spPr>
        <p:txBody>
          <a:bodyPr wrap="square" lIns="0" tIns="0" rIns="0" bIns="0" rtlCol="0" anchor="t"/>
          <a:lstStyle/>
          <a:p>
            <a:pPr algn="l" indent="0" marL="0">
              <a:lnSpc>
                <a:spcPts val="5878"/>
              </a:lnSpc>
              <a:buNone/>
            </a:pPr>
            <a:r>
              <a:rPr lang="en-US" sz="5344" b="1" dirty="0">
                <a:solidFill>
                  <a:srgbClr val="FFFFFF">
                    <a:alpha val="99000"/>
                  </a:srgbClr>
                </a:solidFill>
                <a:latin typeface="IBM Plex Sans" pitchFamily="34" charset="0"/>
                <a:ea typeface="IBM Plex Sans" pitchFamily="34" charset="-122"/>
                <a:cs typeface="IBM Plex Sans" pitchFamily="34" charset="-120"/>
              </a:rPr>
              <a:t>Today’s</a:t>
            </a:r>
            <a:endParaRPr lang="en-US" sz="5344" dirty="0"/>
          </a:p>
          <a:p>
            <a:pPr algn="l" indent="0" marL="0">
              <a:lnSpc>
                <a:spcPts val="5878"/>
              </a:lnSpc>
              <a:buNone/>
            </a:pPr>
            <a:r>
              <a:rPr lang="en-US" sz="5344" b="1" dirty="0">
                <a:solidFill>
                  <a:srgbClr val="FFFFFF">
                    <a:alpha val="99000"/>
                  </a:srgbClr>
                </a:solidFill>
                <a:latin typeface="IBM Plex Sans" pitchFamily="34" charset="0"/>
                <a:ea typeface="IBM Plex Sans" pitchFamily="34" charset="-122"/>
                <a:cs typeface="IBM Plex Sans" pitchFamily="34" charset="-120"/>
              </a:rPr>
              <a:t>Agenda:</a:t>
            </a:r>
            <a:endParaRPr lang="en-US" sz="5344" dirty="0"/>
          </a:p>
        </p:txBody>
      </p:sp>
      <p:sp>
        <p:nvSpPr>
          <p:cNvPr id="4" name="Text 2"/>
          <p:cNvSpPr/>
          <p:nvPr/>
        </p:nvSpPr>
        <p:spPr>
          <a:xfrm>
            <a:off x="4619625" y="1000125"/>
            <a:ext cx="3700463" cy="2857500"/>
          </a:xfrm>
          <a:prstGeom prst="rect">
            <a:avLst/>
          </a:prstGeom>
          <a:noFill/>
          <a:ln/>
        </p:spPr>
        <p:txBody>
          <a:bodyPr wrap="square" lIns="0" tIns="0" rIns="0" bIns="0" rtlCol="0" anchor="t"/>
          <a:lstStyle/>
          <a:p>
            <a:pPr algn="l" marL="342900" indent="-342900">
              <a:lnSpc>
                <a:spcPts val="4289"/>
              </a:lnSpc>
              <a:buSzPct val="100000"/>
              <a:buFont typeface="+mj-lt"/>
              <a:buAutoNum type="arabicPeriod" startAt="1"/>
            </a:pPr>
            <a:r>
              <a:rPr lang="en-US" sz="2494" spc="-55" kern="0" dirty="0">
                <a:solidFill>
                  <a:srgbClr val="FFFFFF">
                    <a:alpha val="99000"/>
                  </a:srgbClr>
                </a:solidFill>
                <a:latin typeface="Roboto" pitchFamily="34" charset="0"/>
                <a:ea typeface="Roboto" pitchFamily="34" charset="-122"/>
                <a:cs typeface="Roboto" pitchFamily="34" charset="-120"/>
              </a:rPr>
              <a:t>Project Overview</a:t>
            </a:r>
            <a:endParaRPr lang="en-US" sz="2494" dirty="0"/>
          </a:p>
          <a:p>
            <a:pPr algn="l" marL="342900" indent="-342900">
              <a:lnSpc>
                <a:spcPts val="4289"/>
              </a:lnSpc>
              <a:buSzPct val="100000"/>
              <a:buFont typeface="+mj-lt"/>
              <a:buAutoNum type="arabicPeriod" startAt="1"/>
            </a:pPr>
            <a:r>
              <a:rPr lang="en-US" sz="2494" spc="-55" kern="0" dirty="0">
                <a:solidFill>
                  <a:srgbClr val="FFFFFF">
                    <a:alpha val="99000"/>
                  </a:srgbClr>
                </a:solidFill>
                <a:latin typeface="Roboto" pitchFamily="34" charset="0"/>
                <a:ea typeface="Roboto" pitchFamily="34" charset="-122"/>
                <a:cs typeface="Roboto" pitchFamily="34" charset="-120"/>
              </a:rPr>
              <a:t>Discovery</a:t>
            </a:r>
            <a:endParaRPr lang="en-US" sz="2494" dirty="0"/>
          </a:p>
          <a:p>
            <a:pPr algn="l" marL="342900" indent="-342900">
              <a:lnSpc>
                <a:spcPts val="4289"/>
              </a:lnSpc>
              <a:buSzPct val="100000"/>
              <a:buFont typeface="+mj-lt"/>
              <a:buAutoNum type="arabicPeriod" startAt="1"/>
            </a:pPr>
            <a:r>
              <a:rPr lang="en-US" sz="2494" spc="-55" kern="0" dirty="0">
                <a:solidFill>
                  <a:srgbClr val="FFFFFF">
                    <a:alpha val="99000"/>
                  </a:srgbClr>
                </a:solidFill>
                <a:latin typeface="Roboto" pitchFamily="34" charset="0"/>
                <a:ea typeface="Roboto" pitchFamily="34" charset="-122"/>
                <a:cs typeface="Roboto" pitchFamily="34" charset="-120"/>
              </a:rPr>
              <a:t>Strategy &amp; Process</a:t>
            </a:r>
            <a:endParaRPr lang="en-US" sz="2494" dirty="0"/>
          </a:p>
          <a:p>
            <a:pPr algn="l" marL="342900" indent="-342900">
              <a:lnSpc>
                <a:spcPts val="4289"/>
              </a:lnSpc>
              <a:buSzPct val="100000"/>
              <a:buFont typeface="+mj-lt"/>
              <a:buAutoNum type="arabicPeriod" startAt="1"/>
            </a:pPr>
            <a:r>
              <a:rPr lang="en-US" sz="2494" spc="-55" kern="0" dirty="0">
                <a:solidFill>
                  <a:srgbClr val="FFFFFF">
                    <a:alpha val="99000"/>
                  </a:srgbClr>
                </a:solidFill>
                <a:latin typeface="Roboto" pitchFamily="34" charset="0"/>
                <a:ea typeface="Roboto" pitchFamily="34" charset="-122"/>
                <a:cs typeface="Roboto" pitchFamily="34" charset="-120"/>
              </a:rPr>
              <a:t>Key Deliverables</a:t>
            </a:r>
            <a:endParaRPr lang="en-US" sz="2494" dirty="0"/>
          </a:p>
          <a:p>
            <a:pPr algn="l" marL="342900" indent="-342900">
              <a:lnSpc>
                <a:spcPts val="4289"/>
              </a:lnSpc>
              <a:buSzPct val="100000"/>
              <a:buFont typeface="+mj-lt"/>
              <a:buAutoNum type="arabicPeriod" startAt="1"/>
            </a:pPr>
            <a:r>
              <a:rPr lang="en-US" sz="2494" spc="-55" kern="0" dirty="0">
                <a:solidFill>
                  <a:srgbClr val="FFFFFF">
                    <a:alpha val="99000"/>
                  </a:srgbClr>
                </a:solidFill>
                <a:latin typeface="Roboto" pitchFamily="34" charset="0"/>
                <a:ea typeface="Roboto" pitchFamily="34" charset="-122"/>
                <a:cs typeface="Roboto" pitchFamily="34" charset="-120"/>
              </a:rPr>
              <a:t>Next Steps</a:t>
            </a:r>
            <a:endParaRPr lang="en-US" sz="249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FFFFF"/>
          </a:solidFill>
          <a:ln/>
        </p:spPr>
      </p:sp>
      <p:sp>
        <p:nvSpPr>
          <p:cNvPr id="3" name="Text 1"/>
          <p:cNvSpPr/>
          <p:nvPr/>
        </p:nvSpPr>
        <p:spPr>
          <a:xfrm>
            <a:off x="3957638" y="1385888"/>
            <a:ext cx="4886325" cy="3667125"/>
          </a:xfrm>
          <a:prstGeom prst="rect">
            <a:avLst/>
          </a:prstGeom>
          <a:noFill/>
          <a:ln/>
        </p:spPr>
        <p:txBody>
          <a:bodyPr wrap="square" lIns="0" tIns="0" rIns="0" bIns="0" rtlCol="0" anchor="t"/>
          <a:lstStyle/>
          <a:p>
            <a:pPr algn="r" indent="0" marL="0">
              <a:lnSpc>
                <a:spcPts val="27431"/>
              </a:lnSpc>
              <a:buNone/>
            </a:pPr>
            <a:r>
              <a:rPr lang="en-US" sz="24938" spc="-1247" kern="0" dirty="0">
                <a:solidFill>
                  <a:srgbClr val="000000"/>
                </a:solidFill>
                <a:latin typeface="IBM Plex Sans" pitchFamily="34" charset="0"/>
                <a:ea typeface="IBM Plex Sans" pitchFamily="34" charset="-122"/>
                <a:cs typeface="IBM Plex Sans" pitchFamily="34" charset="-120"/>
              </a:rPr>
              <a:t>01</a:t>
            </a:r>
            <a:endParaRPr lang="en-US" sz="24938" dirty="0"/>
          </a:p>
        </p:txBody>
      </p:sp>
      <p:sp>
        <p:nvSpPr>
          <p:cNvPr id="4" name="Text 2"/>
          <p:cNvSpPr/>
          <p:nvPr/>
        </p:nvSpPr>
        <p:spPr>
          <a:xfrm>
            <a:off x="647700" y="1047750"/>
            <a:ext cx="3786188" cy="1571625"/>
          </a:xfrm>
          <a:prstGeom prst="rect">
            <a:avLst/>
          </a:prstGeom>
          <a:noFill/>
          <a:ln/>
        </p:spPr>
        <p:txBody>
          <a:bodyPr wrap="square" lIns="0" tIns="0" rIns="0" bIns="0" rtlCol="0" anchor="t"/>
          <a:lstStyle/>
          <a:p>
            <a:pPr algn="l" indent="0" marL="0">
              <a:lnSpc>
                <a:spcPts val="5878"/>
              </a:lnSpc>
              <a:buNone/>
            </a:pPr>
            <a:r>
              <a:rPr lang="en-US" sz="5344" b="1" dirty="0">
                <a:solidFill>
                  <a:srgbClr val="000000">
                    <a:alpha val="99000"/>
                  </a:srgbClr>
                </a:solidFill>
                <a:latin typeface="IBM Plex Sans" pitchFamily="34" charset="0"/>
                <a:ea typeface="IBM Plex Sans" pitchFamily="34" charset="-122"/>
                <a:cs typeface="IBM Plex Sans" pitchFamily="34" charset="-120"/>
              </a:rPr>
              <a:t>Project</a:t>
            </a:r>
            <a:endParaRPr lang="en-US" sz="5344" dirty="0"/>
          </a:p>
          <a:p>
            <a:pPr algn="l" indent="0" marL="0">
              <a:lnSpc>
                <a:spcPts val="5878"/>
              </a:lnSpc>
              <a:buNone/>
            </a:pPr>
            <a:r>
              <a:rPr lang="en-US" sz="5344" b="1" dirty="0">
                <a:solidFill>
                  <a:srgbClr val="000000">
                    <a:alpha val="99000"/>
                  </a:srgbClr>
                </a:solidFill>
                <a:latin typeface="IBM Plex Sans" pitchFamily="34" charset="0"/>
                <a:ea typeface="IBM Plex Sans" pitchFamily="34" charset="-122"/>
                <a:cs typeface="IBM Plex Sans" pitchFamily="34" charset="-120"/>
              </a:rPr>
              <a:t>Overview</a:t>
            </a:r>
            <a:endParaRPr lang="en-US" sz="534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000000"/>
          </a:solidFill>
          <a:ln/>
        </p:spPr>
      </p:sp>
      <p:sp>
        <p:nvSpPr>
          <p:cNvPr id="3" name="Text 1"/>
          <p:cNvSpPr/>
          <p:nvPr/>
        </p:nvSpPr>
        <p:spPr>
          <a:xfrm>
            <a:off x="3957638" y="1385888"/>
            <a:ext cx="4886325" cy="3667125"/>
          </a:xfrm>
          <a:prstGeom prst="rect">
            <a:avLst/>
          </a:prstGeom>
          <a:noFill/>
          <a:ln/>
        </p:spPr>
        <p:txBody>
          <a:bodyPr wrap="square" lIns="0" tIns="0" rIns="0" bIns="0" rtlCol="0" anchor="t"/>
          <a:lstStyle/>
          <a:p>
            <a:pPr algn="r" indent="0" marL="0">
              <a:lnSpc>
                <a:spcPts val="27431"/>
              </a:lnSpc>
              <a:buNone/>
            </a:pPr>
            <a:r>
              <a:rPr lang="en-US" sz="24938" spc="-1247" kern="0" dirty="0">
                <a:solidFill>
                  <a:srgbClr val="000000"/>
                </a:solidFill>
                <a:latin typeface="IBM Plex Sans" pitchFamily="34" charset="0"/>
                <a:ea typeface="IBM Plex Sans" pitchFamily="34" charset="-122"/>
                <a:cs typeface="IBM Plex Sans" pitchFamily="34" charset="-120"/>
              </a:rPr>
              <a:t>01</a:t>
            </a:r>
            <a:endParaRPr lang="en-US" sz="24938" dirty="0"/>
          </a:p>
        </p:txBody>
      </p:sp>
      <p:sp>
        <p:nvSpPr>
          <p:cNvPr id="4" name="Text 2"/>
          <p:cNvSpPr/>
          <p:nvPr/>
        </p:nvSpPr>
        <p:spPr>
          <a:xfrm>
            <a:off x="623888" y="1047750"/>
            <a:ext cx="3786188" cy="1571625"/>
          </a:xfrm>
          <a:prstGeom prst="rect">
            <a:avLst/>
          </a:prstGeom>
          <a:noFill/>
          <a:ln/>
        </p:spPr>
        <p:txBody>
          <a:bodyPr wrap="square" lIns="0" tIns="0" rIns="0" bIns="0" rtlCol="0" anchor="t"/>
          <a:lstStyle/>
          <a:p>
            <a:pPr algn="l" indent="0" marL="0">
              <a:lnSpc>
                <a:spcPts val="5878"/>
              </a:lnSpc>
              <a:buNone/>
            </a:pPr>
            <a:r>
              <a:rPr lang="en-US" sz="5344" b="1" dirty="0">
                <a:solidFill>
                  <a:srgbClr val="FFFFFF">
                    <a:alpha val="99000"/>
                  </a:srgbClr>
                </a:solidFill>
                <a:latin typeface="IBM Plex Sans" pitchFamily="34" charset="0"/>
                <a:ea typeface="IBM Plex Sans" pitchFamily="34" charset="-122"/>
                <a:cs typeface="IBM Plex Sans" pitchFamily="34" charset="-120"/>
              </a:rPr>
              <a:t>Project</a:t>
            </a:r>
            <a:endParaRPr lang="en-US" sz="5344" dirty="0"/>
          </a:p>
          <a:p>
            <a:pPr algn="l" indent="0" marL="0">
              <a:lnSpc>
                <a:spcPts val="5878"/>
              </a:lnSpc>
              <a:buNone/>
            </a:pPr>
            <a:r>
              <a:rPr lang="en-US" sz="5344" b="1" dirty="0">
                <a:solidFill>
                  <a:srgbClr val="FFFFFF">
                    <a:alpha val="99000"/>
                  </a:srgbClr>
                </a:solidFill>
                <a:latin typeface="IBM Plex Sans" pitchFamily="34" charset="0"/>
                <a:ea typeface="IBM Plex Sans" pitchFamily="34" charset="-122"/>
                <a:cs typeface="IBM Plex Sans" pitchFamily="34" charset="-120"/>
              </a:rPr>
              <a:t>Overview</a:t>
            </a:r>
            <a:endParaRPr lang="en-US" sz="534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FFFFF"/>
          </a:solidFill>
          <a:ln/>
        </p:spPr>
      </p:sp>
      <p:sp>
        <p:nvSpPr>
          <p:cNvPr id="3" name="Shape 1"/>
          <p:cNvSpPr/>
          <p:nvPr/>
        </p:nvSpPr>
        <p:spPr>
          <a:xfrm>
            <a:off x="652463" y="2205038"/>
            <a:ext cx="5715000" cy="547688"/>
          </a:xfrm>
          <a:prstGeom prst="rect">
            <a:avLst/>
          </a:prstGeom>
          <a:noFill/>
          <a:ln/>
        </p:spPr>
      </p:sp>
      <p:sp>
        <p:nvSpPr>
          <p:cNvPr id="4" name="Text 2"/>
          <p:cNvSpPr/>
          <p:nvPr/>
        </p:nvSpPr>
        <p:spPr>
          <a:xfrm>
            <a:off x="652463" y="2205038"/>
            <a:ext cx="5715000" cy="547688"/>
          </a:xfrm>
          <a:prstGeom prst="rect">
            <a:avLst/>
          </a:prstGeom>
          <a:noFill/>
          <a:ln/>
        </p:spPr>
        <p:txBody>
          <a:bodyPr wrap="square" lIns="0" tIns="0" rIns="0" bIns="0" rtlCol="0" anchor="t"/>
          <a:lstStyle/>
          <a:p>
            <a:pPr algn="l" indent="0" marL="0">
              <a:lnSpc>
                <a:spcPts val="4104"/>
              </a:lnSpc>
              <a:buNone/>
            </a:pPr>
            <a:r>
              <a:rPr lang="en-US" sz="3420" b="1" spc="-68" kern="0" dirty="0">
                <a:solidFill>
                  <a:srgbClr val="000000"/>
                </a:solidFill>
                <a:latin typeface="Roboto" pitchFamily="34" charset="0"/>
                <a:ea typeface="Roboto" pitchFamily="34" charset="-122"/>
                <a:cs typeface="Roboto" pitchFamily="34" charset="-120"/>
              </a:rPr>
              <a:t>Principles </a:t>
            </a:r>
            <a:endParaRPr lang="en-US" sz="3420" dirty="0"/>
          </a:p>
        </p:txBody>
      </p:sp>
      <p:sp>
        <p:nvSpPr>
          <p:cNvPr id="5" name="Shape 3"/>
          <p:cNvSpPr/>
          <p:nvPr/>
        </p:nvSpPr>
        <p:spPr>
          <a:xfrm>
            <a:off x="4529138" y="766763"/>
            <a:ext cx="3228975" cy="3157538"/>
          </a:xfrm>
          <a:prstGeom prst="rect">
            <a:avLst/>
          </a:prstGeom>
          <a:noFill/>
          <a:ln/>
        </p:spPr>
      </p:sp>
      <p:sp>
        <p:nvSpPr>
          <p:cNvPr id="6" name="Shape 4"/>
          <p:cNvSpPr/>
          <p:nvPr/>
        </p:nvSpPr>
        <p:spPr>
          <a:xfrm>
            <a:off x="4529138" y="766763"/>
            <a:ext cx="3228975" cy="952500"/>
          </a:xfrm>
          <a:prstGeom prst="rect">
            <a:avLst/>
          </a:prstGeom>
          <a:noFill/>
          <a:ln/>
        </p:spPr>
      </p:sp>
      <p:sp>
        <p:nvSpPr>
          <p:cNvPr id="7" name="Shape 5"/>
          <p:cNvSpPr/>
          <p:nvPr/>
        </p:nvSpPr>
        <p:spPr>
          <a:xfrm>
            <a:off x="4529138" y="766763"/>
            <a:ext cx="190500" cy="190500"/>
          </a:xfrm>
          <a:prstGeom prst="rect">
            <a:avLst/>
          </a:prstGeom>
          <a:noFill/>
          <a:ln/>
        </p:spPr>
      </p:sp>
      <p:sp>
        <p:nvSpPr>
          <p:cNvPr id="8" name="Shape 6"/>
          <p:cNvSpPr/>
          <p:nvPr/>
        </p:nvSpPr>
        <p:spPr>
          <a:xfrm>
            <a:off x="4529138" y="862013"/>
            <a:ext cx="95250" cy="95250"/>
          </a:xfrm>
          <a:prstGeom prst="roundRect">
            <a:avLst/>
          </a:prstGeom>
          <a:solidFill>
            <a:srgbClr val="000000"/>
          </a:solidFill>
          <a:ln/>
        </p:spPr>
      </p:sp>
      <p:sp>
        <p:nvSpPr>
          <p:cNvPr id="9" name="Shape 7"/>
          <p:cNvSpPr/>
          <p:nvPr/>
        </p:nvSpPr>
        <p:spPr>
          <a:xfrm>
            <a:off x="4986338" y="766763"/>
            <a:ext cx="2762250" cy="952500"/>
          </a:xfrm>
          <a:prstGeom prst="rect">
            <a:avLst/>
          </a:prstGeom>
          <a:noFill/>
          <a:ln/>
        </p:spPr>
      </p:sp>
      <p:sp>
        <p:nvSpPr>
          <p:cNvPr id="10" name="Text 8"/>
          <p:cNvSpPr/>
          <p:nvPr/>
        </p:nvSpPr>
        <p:spPr>
          <a:xfrm>
            <a:off x="4986338" y="766763"/>
            <a:ext cx="2762250"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Insight 1</a:t>
            </a:r>
            <a:endParaRPr lang="en-US" sz="1425" dirty="0"/>
          </a:p>
        </p:txBody>
      </p:sp>
      <p:sp>
        <p:nvSpPr>
          <p:cNvPr id="11" name="Text 9"/>
          <p:cNvSpPr/>
          <p:nvPr/>
        </p:nvSpPr>
        <p:spPr>
          <a:xfrm>
            <a:off x="4986338" y="1090613"/>
            <a:ext cx="2762250" cy="628650"/>
          </a:xfrm>
          <a:prstGeom prst="rect">
            <a:avLst/>
          </a:prstGeom>
          <a:noFill/>
          <a:ln/>
        </p:spPr>
        <p:txBody>
          <a:bodyPr wrap="square" lIns="0" tIns="0" rIns="0" bIns="0" rtlCol="0" anchor="t"/>
          <a:lstStyle/>
          <a:p>
            <a:pPr algn="l" indent="0" marL="0">
              <a:lnSpc>
                <a:spcPts val="1176"/>
              </a:lnSpc>
              <a:buNone/>
            </a:pPr>
            <a:r>
              <a:rPr lang="en-US" sz="784" spc="-17" kern="0" dirty="0">
                <a:solidFill>
                  <a:srgbClr val="000000">
                    <a:alpha val="99000"/>
                  </a:srgbClr>
                </a:solidFill>
                <a:latin typeface="Roboto" pitchFamily="34" charset="0"/>
                <a:ea typeface="Roboto" pitchFamily="34" charset="-122"/>
                <a:cs typeface="Roboto" pitchFamily="34" charset="-120"/>
              </a:rPr>
              <a:t>You can use this slide for any bunch of things, like design principles, product decisions, user needs, and more. This space is for a quick description of each of the things on the slide. Help people understand what each is about.</a:t>
            </a:r>
            <a:endParaRPr lang="en-US" sz="784" dirty="0"/>
          </a:p>
        </p:txBody>
      </p:sp>
      <p:sp>
        <p:nvSpPr>
          <p:cNvPr id="12" name="Shape 10"/>
          <p:cNvSpPr/>
          <p:nvPr/>
        </p:nvSpPr>
        <p:spPr>
          <a:xfrm>
            <a:off x="4529138" y="1947863"/>
            <a:ext cx="3228975" cy="952500"/>
          </a:xfrm>
          <a:prstGeom prst="rect">
            <a:avLst/>
          </a:prstGeom>
          <a:noFill/>
          <a:ln/>
        </p:spPr>
      </p:sp>
      <p:sp>
        <p:nvSpPr>
          <p:cNvPr id="13" name="Shape 11"/>
          <p:cNvSpPr/>
          <p:nvPr/>
        </p:nvSpPr>
        <p:spPr>
          <a:xfrm>
            <a:off x="4529138" y="1947863"/>
            <a:ext cx="190500" cy="190500"/>
          </a:xfrm>
          <a:prstGeom prst="rect">
            <a:avLst/>
          </a:prstGeom>
          <a:noFill/>
          <a:ln/>
        </p:spPr>
      </p:sp>
      <p:sp>
        <p:nvSpPr>
          <p:cNvPr id="14" name="Shape 12"/>
          <p:cNvSpPr/>
          <p:nvPr/>
        </p:nvSpPr>
        <p:spPr>
          <a:xfrm>
            <a:off x="4529138" y="2043113"/>
            <a:ext cx="95250" cy="95250"/>
          </a:xfrm>
          <a:prstGeom prst="roundRect">
            <a:avLst/>
          </a:prstGeom>
          <a:solidFill>
            <a:srgbClr val="000000"/>
          </a:solidFill>
          <a:ln/>
        </p:spPr>
      </p:sp>
      <p:sp>
        <p:nvSpPr>
          <p:cNvPr id="15" name="Shape 13"/>
          <p:cNvSpPr/>
          <p:nvPr/>
        </p:nvSpPr>
        <p:spPr>
          <a:xfrm>
            <a:off x="4986338" y="1947863"/>
            <a:ext cx="2743200" cy="952500"/>
          </a:xfrm>
          <a:prstGeom prst="rect">
            <a:avLst/>
          </a:prstGeom>
          <a:noFill/>
          <a:ln/>
        </p:spPr>
      </p:sp>
      <p:sp>
        <p:nvSpPr>
          <p:cNvPr id="16" name="Text 14"/>
          <p:cNvSpPr/>
          <p:nvPr/>
        </p:nvSpPr>
        <p:spPr>
          <a:xfrm>
            <a:off x="4986338" y="1947863"/>
            <a:ext cx="2743200"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Insight 2</a:t>
            </a:r>
            <a:endParaRPr lang="en-US" sz="1425" dirty="0"/>
          </a:p>
        </p:txBody>
      </p:sp>
      <p:sp>
        <p:nvSpPr>
          <p:cNvPr id="17" name="Text 15"/>
          <p:cNvSpPr/>
          <p:nvPr/>
        </p:nvSpPr>
        <p:spPr>
          <a:xfrm>
            <a:off x="4986338" y="2271713"/>
            <a:ext cx="2743200" cy="628650"/>
          </a:xfrm>
          <a:prstGeom prst="rect">
            <a:avLst/>
          </a:prstGeom>
          <a:noFill/>
          <a:ln/>
        </p:spPr>
        <p:txBody>
          <a:bodyPr wrap="square" lIns="0" tIns="0" rIns="0" bIns="0" rtlCol="0" anchor="t"/>
          <a:lstStyle/>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Try to keep each one short—focused on the most essential information—so it’s easy to scan and remember. The more text you include, the trickier the slide is to scan. So don’t hesitate to edit, chop, and slash.</a:t>
            </a:r>
            <a:endParaRPr lang="en-US" sz="784" dirty="0"/>
          </a:p>
        </p:txBody>
      </p:sp>
      <p:sp>
        <p:nvSpPr>
          <p:cNvPr id="18" name="Shape 16"/>
          <p:cNvSpPr/>
          <p:nvPr/>
        </p:nvSpPr>
        <p:spPr>
          <a:xfrm>
            <a:off x="4529138" y="3128963"/>
            <a:ext cx="3228975" cy="795338"/>
          </a:xfrm>
          <a:prstGeom prst="rect">
            <a:avLst/>
          </a:prstGeom>
          <a:noFill/>
          <a:ln/>
        </p:spPr>
      </p:sp>
      <p:sp>
        <p:nvSpPr>
          <p:cNvPr id="19" name="Shape 17"/>
          <p:cNvSpPr/>
          <p:nvPr/>
        </p:nvSpPr>
        <p:spPr>
          <a:xfrm>
            <a:off x="4529138" y="3128963"/>
            <a:ext cx="190500" cy="190500"/>
          </a:xfrm>
          <a:prstGeom prst="rect">
            <a:avLst/>
          </a:prstGeom>
          <a:noFill/>
          <a:ln/>
        </p:spPr>
      </p:sp>
      <p:sp>
        <p:nvSpPr>
          <p:cNvPr id="20" name="Shape 18"/>
          <p:cNvSpPr/>
          <p:nvPr/>
        </p:nvSpPr>
        <p:spPr>
          <a:xfrm>
            <a:off x="4529138" y="3224213"/>
            <a:ext cx="95250" cy="95250"/>
          </a:xfrm>
          <a:prstGeom prst="roundRect">
            <a:avLst/>
          </a:prstGeom>
          <a:solidFill>
            <a:srgbClr val="000000"/>
          </a:solidFill>
          <a:ln/>
        </p:spPr>
      </p:sp>
      <p:sp>
        <p:nvSpPr>
          <p:cNvPr id="21" name="Shape 19"/>
          <p:cNvSpPr/>
          <p:nvPr/>
        </p:nvSpPr>
        <p:spPr>
          <a:xfrm>
            <a:off x="4986338" y="3128963"/>
            <a:ext cx="2771775" cy="795338"/>
          </a:xfrm>
          <a:prstGeom prst="rect">
            <a:avLst/>
          </a:prstGeom>
          <a:noFill/>
          <a:ln/>
        </p:spPr>
      </p:sp>
      <p:sp>
        <p:nvSpPr>
          <p:cNvPr id="22" name="Text 20"/>
          <p:cNvSpPr/>
          <p:nvPr/>
        </p:nvSpPr>
        <p:spPr>
          <a:xfrm>
            <a:off x="4986338" y="3128963"/>
            <a:ext cx="2771775"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Insight 3</a:t>
            </a:r>
            <a:endParaRPr lang="en-US" sz="1425" dirty="0"/>
          </a:p>
        </p:txBody>
      </p:sp>
      <p:sp>
        <p:nvSpPr>
          <p:cNvPr id="23" name="Text 21"/>
          <p:cNvSpPr/>
          <p:nvPr/>
        </p:nvSpPr>
        <p:spPr>
          <a:xfrm>
            <a:off x="4986338" y="3452813"/>
            <a:ext cx="2771775" cy="471488"/>
          </a:xfrm>
          <a:prstGeom prst="rect">
            <a:avLst/>
          </a:prstGeom>
          <a:noFill/>
          <a:ln/>
        </p:spPr>
        <p:txBody>
          <a:bodyPr wrap="square" lIns="0" tIns="0" rIns="0" bIns="0" rtlCol="0" anchor="t"/>
          <a:lstStyle/>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There’s no need to fill up the whole block of text.</a:t>
            </a:r>
            <a:endParaRPr lang="en-US" sz="784" dirty="0"/>
          </a:p>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Less can be more, after all.</a:t>
            </a:r>
            <a:endParaRPr lang="en-US" sz="78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000000"/>
          </a:solidFill>
          <a:ln/>
        </p:spPr>
      </p:sp>
      <p:sp>
        <p:nvSpPr>
          <p:cNvPr id="3" name="Shape 1"/>
          <p:cNvSpPr/>
          <p:nvPr/>
        </p:nvSpPr>
        <p:spPr>
          <a:xfrm>
            <a:off x="652463" y="2205038"/>
            <a:ext cx="5715000" cy="547688"/>
          </a:xfrm>
          <a:prstGeom prst="rect">
            <a:avLst/>
          </a:prstGeom>
          <a:noFill/>
          <a:ln/>
        </p:spPr>
      </p:sp>
      <p:sp>
        <p:nvSpPr>
          <p:cNvPr id="4" name="Text 2"/>
          <p:cNvSpPr/>
          <p:nvPr/>
        </p:nvSpPr>
        <p:spPr>
          <a:xfrm>
            <a:off x="652463" y="2205038"/>
            <a:ext cx="5715000" cy="547688"/>
          </a:xfrm>
          <a:prstGeom prst="rect">
            <a:avLst/>
          </a:prstGeom>
          <a:noFill/>
          <a:ln/>
        </p:spPr>
        <p:txBody>
          <a:bodyPr wrap="square" lIns="0" tIns="0" rIns="0" bIns="0" rtlCol="0" anchor="t"/>
          <a:lstStyle/>
          <a:p>
            <a:pPr algn="l" indent="0" marL="0">
              <a:lnSpc>
                <a:spcPts val="4104"/>
              </a:lnSpc>
              <a:buNone/>
            </a:pPr>
            <a:r>
              <a:rPr lang="en-US" sz="3420" b="1" spc="-68" kern="0" dirty="0">
                <a:solidFill>
                  <a:srgbClr val="000000"/>
                </a:solidFill>
                <a:latin typeface="Roboto" pitchFamily="34" charset="0"/>
                <a:ea typeface="Roboto" pitchFamily="34" charset="-122"/>
                <a:cs typeface="Roboto" pitchFamily="34" charset="-120"/>
              </a:rPr>
              <a:t>Principles </a:t>
            </a:r>
            <a:endParaRPr lang="en-US" sz="3420" dirty="0"/>
          </a:p>
        </p:txBody>
      </p:sp>
      <p:sp>
        <p:nvSpPr>
          <p:cNvPr id="5" name="Shape 3"/>
          <p:cNvSpPr/>
          <p:nvPr/>
        </p:nvSpPr>
        <p:spPr>
          <a:xfrm>
            <a:off x="4529138" y="766763"/>
            <a:ext cx="3228975" cy="3157538"/>
          </a:xfrm>
          <a:prstGeom prst="rect">
            <a:avLst/>
          </a:prstGeom>
          <a:noFill/>
          <a:ln/>
        </p:spPr>
      </p:sp>
      <p:sp>
        <p:nvSpPr>
          <p:cNvPr id="6" name="Shape 4"/>
          <p:cNvSpPr/>
          <p:nvPr/>
        </p:nvSpPr>
        <p:spPr>
          <a:xfrm>
            <a:off x="4529138" y="766763"/>
            <a:ext cx="3228975" cy="952500"/>
          </a:xfrm>
          <a:prstGeom prst="rect">
            <a:avLst/>
          </a:prstGeom>
          <a:noFill/>
          <a:ln/>
        </p:spPr>
      </p:sp>
      <p:sp>
        <p:nvSpPr>
          <p:cNvPr id="7" name="Shape 5"/>
          <p:cNvSpPr/>
          <p:nvPr/>
        </p:nvSpPr>
        <p:spPr>
          <a:xfrm>
            <a:off x="4529138" y="766763"/>
            <a:ext cx="190500" cy="190500"/>
          </a:xfrm>
          <a:prstGeom prst="rect">
            <a:avLst/>
          </a:prstGeom>
          <a:noFill/>
          <a:ln/>
        </p:spPr>
      </p:sp>
      <p:sp>
        <p:nvSpPr>
          <p:cNvPr id="8" name="Shape 6"/>
          <p:cNvSpPr/>
          <p:nvPr/>
        </p:nvSpPr>
        <p:spPr>
          <a:xfrm>
            <a:off x="4529138" y="862013"/>
            <a:ext cx="95250" cy="95250"/>
          </a:xfrm>
          <a:prstGeom prst="roundRect">
            <a:avLst/>
          </a:prstGeom>
          <a:solidFill>
            <a:srgbClr val="FFFFFF"/>
          </a:solidFill>
          <a:ln/>
        </p:spPr>
      </p:sp>
      <p:sp>
        <p:nvSpPr>
          <p:cNvPr id="9" name="Shape 7"/>
          <p:cNvSpPr/>
          <p:nvPr/>
        </p:nvSpPr>
        <p:spPr>
          <a:xfrm>
            <a:off x="4986338" y="766763"/>
            <a:ext cx="2762250" cy="952500"/>
          </a:xfrm>
          <a:prstGeom prst="rect">
            <a:avLst/>
          </a:prstGeom>
          <a:noFill/>
          <a:ln/>
        </p:spPr>
      </p:sp>
      <p:sp>
        <p:nvSpPr>
          <p:cNvPr id="10" name="Text 8"/>
          <p:cNvSpPr/>
          <p:nvPr/>
        </p:nvSpPr>
        <p:spPr>
          <a:xfrm>
            <a:off x="4986338" y="766763"/>
            <a:ext cx="2762250"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Insight 1</a:t>
            </a:r>
            <a:endParaRPr lang="en-US" sz="1425" dirty="0"/>
          </a:p>
        </p:txBody>
      </p:sp>
      <p:sp>
        <p:nvSpPr>
          <p:cNvPr id="11" name="Text 9"/>
          <p:cNvSpPr/>
          <p:nvPr/>
        </p:nvSpPr>
        <p:spPr>
          <a:xfrm>
            <a:off x="4986338" y="1090613"/>
            <a:ext cx="2762250" cy="628650"/>
          </a:xfrm>
          <a:prstGeom prst="rect">
            <a:avLst/>
          </a:prstGeom>
          <a:noFill/>
          <a:ln/>
        </p:spPr>
        <p:txBody>
          <a:bodyPr wrap="square" lIns="0" tIns="0" rIns="0" bIns="0" rtlCol="0" anchor="t"/>
          <a:lstStyle/>
          <a:p>
            <a:pPr algn="l" indent="0" marL="0">
              <a:lnSpc>
                <a:spcPts val="1176"/>
              </a:lnSpc>
              <a:buNone/>
            </a:pPr>
            <a:r>
              <a:rPr lang="en-US" sz="784" spc="-17" kern="0" dirty="0">
                <a:solidFill>
                  <a:srgbClr val="FFFFFF">
                    <a:alpha val="99000"/>
                  </a:srgbClr>
                </a:solidFill>
                <a:latin typeface="Roboto" pitchFamily="34" charset="0"/>
                <a:ea typeface="Roboto" pitchFamily="34" charset="-122"/>
                <a:cs typeface="Roboto" pitchFamily="34" charset="-120"/>
              </a:rPr>
              <a:t>You can use this slide for any bunch of things, like design principles, product decisions, user needs, and more. This space is for a quick description of each of the things on the slide. Help people understand what each is about.</a:t>
            </a:r>
            <a:endParaRPr lang="en-US" sz="784" dirty="0"/>
          </a:p>
        </p:txBody>
      </p:sp>
      <p:sp>
        <p:nvSpPr>
          <p:cNvPr id="12" name="Shape 10"/>
          <p:cNvSpPr/>
          <p:nvPr/>
        </p:nvSpPr>
        <p:spPr>
          <a:xfrm>
            <a:off x="4529138" y="1947863"/>
            <a:ext cx="3228975" cy="952500"/>
          </a:xfrm>
          <a:prstGeom prst="rect">
            <a:avLst/>
          </a:prstGeom>
          <a:noFill/>
          <a:ln/>
        </p:spPr>
      </p:sp>
      <p:sp>
        <p:nvSpPr>
          <p:cNvPr id="13" name="Shape 11"/>
          <p:cNvSpPr/>
          <p:nvPr/>
        </p:nvSpPr>
        <p:spPr>
          <a:xfrm>
            <a:off x="4529138" y="1947863"/>
            <a:ext cx="190500" cy="190500"/>
          </a:xfrm>
          <a:prstGeom prst="rect">
            <a:avLst/>
          </a:prstGeom>
          <a:noFill/>
          <a:ln/>
        </p:spPr>
      </p:sp>
      <p:sp>
        <p:nvSpPr>
          <p:cNvPr id="14" name="Shape 12"/>
          <p:cNvSpPr/>
          <p:nvPr/>
        </p:nvSpPr>
        <p:spPr>
          <a:xfrm>
            <a:off x="4529138" y="2043113"/>
            <a:ext cx="95250" cy="95250"/>
          </a:xfrm>
          <a:prstGeom prst="roundRect">
            <a:avLst/>
          </a:prstGeom>
          <a:solidFill>
            <a:srgbClr val="FFFFFF"/>
          </a:solidFill>
          <a:ln/>
        </p:spPr>
      </p:sp>
      <p:sp>
        <p:nvSpPr>
          <p:cNvPr id="15" name="Shape 13"/>
          <p:cNvSpPr/>
          <p:nvPr/>
        </p:nvSpPr>
        <p:spPr>
          <a:xfrm>
            <a:off x="4986338" y="1947863"/>
            <a:ext cx="2743200" cy="952500"/>
          </a:xfrm>
          <a:prstGeom prst="rect">
            <a:avLst/>
          </a:prstGeom>
          <a:noFill/>
          <a:ln/>
        </p:spPr>
      </p:sp>
      <p:sp>
        <p:nvSpPr>
          <p:cNvPr id="16" name="Text 14"/>
          <p:cNvSpPr/>
          <p:nvPr/>
        </p:nvSpPr>
        <p:spPr>
          <a:xfrm>
            <a:off x="4986338" y="1947863"/>
            <a:ext cx="2743200"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Insight 2</a:t>
            </a:r>
            <a:endParaRPr lang="en-US" sz="1425" dirty="0"/>
          </a:p>
        </p:txBody>
      </p:sp>
      <p:sp>
        <p:nvSpPr>
          <p:cNvPr id="17" name="Text 15"/>
          <p:cNvSpPr/>
          <p:nvPr/>
        </p:nvSpPr>
        <p:spPr>
          <a:xfrm>
            <a:off x="4986338" y="2271713"/>
            <a:ext cx="2743200" cy="628650"/>
          </a:xfrm>
          <a:prstGeom prst="rect">
            <a:avLst/>
          </a:prstGeom>
          <a:noFill/>
          <a:ln/>
        </p:spPr>
        <p:txBody>
          <a:bodyPr wrap="square" lIns="0" tIns="0" rIns="0" bIns="0" rtlCol="0" anchor="t"/>
          <a:lstStyle/>
          <a:p>
            <a:pPr algn="l" indent="0" marL="0">
              <a:lnSpc>
                <a:spcPts val="1176"/>
              </a:lnSpc>
              <a:buNone/>
            </a:pPr>
            <a:r>
              <a:rPr lang="en-US" sz="784" spc="-17" kern="0" dirty="0">
                <a:solidFill>
                  <a:srgbClr val="FFFFFF">
                    <a:alpha val="99000"/>
                  </a:srgbClr>
                </a:solidFill>
                <a:latin typeface="Plus Jakarta Sans" pitchFamily="34" charset="0"/>
                <a:ea typeface="Plus Jakarta Sans" pitchFamily="34" charset="-122"/>
                <a:cs typeface="Plus Jakarta Sans" pitchFamily="34" charset="-120"/>
              </a:rPr>
              <a:t>Try to keep each one short—focused on the most essential information—so it’s easy to scan and remember. The more text you include, the trickier the slide is to scan. So don’t hesitate to edit, chop, and slash.</a:t>
            </a:r>
            <a:endParaRPr lang="en-US" sz="784" dirty="0"/>
          </a:p>
        </p:txBody>
      </p:sp>
      <p:sp>
        <p:nvSpPr>
          <p:cNvPr id="18" name="Shape 16"/>
          <p:cNvSpPr/>
          <p:nvPr/>
        </p:nvSpPr>
        <p:spPr>
          <a:xfrm>
            <a:off x="4529138" y="3128963"/>
            <a:ext cx="3228975" cy="795338"/>
          </a:xfrm>
          <a:prstGeom prst="rect">
            <a:avLst/>
          </a:prstGeom>
          <a:noFill/>
          <a:ln/>
        </p:spPr>
      </p:sp>
      <p:sp>
        <p:nvSpPr>
          <p:cNvPr id="19" name="Shape 17"/>
          <p:cNvSpPr/>
          <p:nvPr/>
        </p:nvSpPr>
        <p:spPr>
          <a:xfrm>
            <a:off x="4529138" y="3128963"/>
            <a:ext cx="190500" cy="190500"/>
          </a:xfrm>
          <a:prstGeom prst="rect">
            <a:avLst/>
          </a:prstGeom>
          <a:noFill/>
          <a:ln/>
        </p:spPr>
      </p:sp>
      <p:sp>
        <p:nvSpPr>
          <p:cNvPr id="20" name="Shape 18"/>
          <p:cNvSpPr/>
          <p:nvPr/>
        </p:nvSpPr>
        <p:spPr>
          <a:xfrm>
            <a:off x="4529138" y="3224213"/>
            <a:ext cx="95250" cy="95250"/>
          </a:xfrm>
          <a:prstGeom prst="roundRect">
            <a:avLst/>
          </a:prstGeom>
          <a:solidFill>
            <a:srgbClr val="FFFFFF"/>
          </a:solidFill>
          <a:ln/>
        </p:spPr>
      </p:sp>
      <p:sp>
        <p:nvSpPr>
          <p:cNvPr id="21" name="Shape 19"/>
          <p:cNvSpPr/>
          <p:nvPr/>
        </p:nvSpPr>
        <p:spPr>
          <a:xfrm>
            <a:off x="4986338" y="3128963"/>
            <a:ext cx="2771775" cy="795338"/>
          </a:xfrm>
          <a:prstGeom prst="rect">
            <a:avLst/>
          </a:prstGeom>
          <a:noFill/>
          <a:ln/>
        </p:spPr>
      </p:sp>
      <p:sp>
        <p:nvSpPr>
          <p:cNvPr id="22" name="Text 20"/>
          <p:cNvSpPr/>
          <p:nvPr/>
        </p:nvSpPr>
        <p:spPr>
          <a:xfrm>
            <a:off x="4986338" y="3128963"/>
            <a:ext cx="2771775"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Insight 3</a:t>
            </a:r>
            <a:endParaRPr lang="en-US" sz="1425" dirty="0"/>
          </a:p>
        </p:txBody>
      </p:sp>
      <p:sp>
        <p:nvSpPr>
          <p:cNvPr id="23" name="Text 21"/>
          <p:cNvSpPr/>
          <p:nvPr/>
        </p:nvSpPr>
        <p:spPr>
          <a:xfrm>
            <a:off x="4986338" y="3452813"/>
            <a:ext cx="2771775" cy="471488"/>
          </a:xfrm>
          <a:prstGeom prst="rect">
            <a:avLst/>
          </a:prstGeom>
          <a:noFill/>
          <a:ln/>
        </p:spPr>
        <p:txBody>
          <a:bodyPr wrap="square" lIns="0" tIns="0" rIns="0" bIns="0" rtlCol="0" anchor="t"/>
          <a:lstStyle/>
          <a:p>
            <a:pPr algn="l" indent="0" marL="0">
              <a:lnSpc>
                <a:spcPts val="1176"/>
              </a:lnSpc>
              <a:buNone/>
            </a:pPr>
            <a:r>
              <a:rPr lang="en-US" sz="784" spc="-17" kern="0" dirty="0">
                <a:solidFill>
                  <a:srgbClr val="FFFFFF">
                    <a:alpha val="99000"/>
                  </a:srgbClr>
                </a:solidFill>
                <a:latin typeface="Plus Jakarta Sans" pitchFamily="34" charset="0"/>
                <a:ea typeface="Plus Jakarta Sans" pitchFamily="34" charset="-122"/>
                <a:cs typeface="Plus Jakarta Sans" pitchFamily="34" charset="-120"/>
              </a:rPr>
              <a:t>There’s no need to fill up the whole block of text.</a:t>
            </a:r>
            <a:endParaRPr lang="en-US" sz="784" dirty="0"/>
          </a:p>
          <a:p>
            <a:pPr algn="l" indent="0" marL="0">
              <a:lnSpc>
                <a:spcPts val="1176"/>
              </a:lnSpc>
              <a:buNone/>
            </a:pPr>
            <a:r>
              <a:rPr lang="en-US" sz="784" spc="-17" kern="0" dirty="0">
                <a:solidFill>
                  <a:srgbClr val="FFFFFF">
                    <a:alpha val="99000"/>
                  </a:srgbClr>
                </a:solidFill>
                <a:latin typeface="Plus Jakarta Sans" pitchFamily="34" charset="0"/>
                <a:ea typeface="Plus Jakarta Sans" pitchFamily="34" charset="-122"/>
                <a:cs typeface="Plus Jakarta Sans" pitchFamily="34" charset="-120"/>
              </a:rPr>
              <a:t>Less can be more, after all.</a:t>
            </a:r>
            <a:endParaRPr lang="en-US" sz="78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FFFFF"/>
          </a:solidFill>
          <a:ln/>
        </p:spPr>
      </p:sp>
      <p:sp>
        <p:nvSpPr>
          <p:cNvPr id="3" name="Shape 1"/>
          <p:cNvSpPr/>
          <p:nvPr/>
        </p:nvSpPr>
        <p:spPr>
          <a:xfrm>
            <a:off x="652463" y="2205038"/>
            <a:ext cx="5715000" cy="547688"/>
          </a:xfrm>
          <a:prstGeom prst="rect">
            <a:avLst/>
          </a:prstGeom>
          <a:noFill/>
          <a:ln/>
        </p:spPr>
      </p:sp>
      <p:sp>
        <p:nvSpPr>
          <p:cNvPr id="4" name="Text 2"/>
          <p:cNvSpPr/>
          <p:nvPr/>
        </p:nvSpPr>
        <p:spPr>
          <a:xfrm>
            <a:off x="652463" y="2205038"/>
            <a:ext cx="5715000" cy="547688"/>
          </a:xfrm>
          <a:prstGeom prst="rect">
            <a:avLst/>
          </a:prstGeom>
          <a:noFill/>
          <a:ln/>
        </p:spPr>
        <p:txBody>
          <a:bodyPr wrap="square" lIns="0" tIns="0" rIns="0" bIns="0" rtlCol="0" anchor="t"/>
          <a:lstStyle/>
          <a:p>
            <a:pPr algn="l" indent="0" marL="0">
              <a:lnSpc>
                <a:spcPts val="4104"/>
              </a:lnSpc>
              <a:buNone/>
            </a:pPr>
            <a:r>
              <a:rPr lang="en-US" sz="3420" b="1" spc="-68" kern="0" dirty="0">
                <a:solidFill>
                  <a:srgbClr val="000000"/>
                </a:solidFill>
                <a:latin typeface="Roboto" pitchFamily="34" charset="0"/>
                <a:ea typeface="Roboto" pitchFamily="34" charset="-122"/>
                <a:cs typeface="Roboto" pitchFamily="34" charset="-120"/>
              </a:rPr>
              <a:t>Project golas</a:t>
            </a:r>
            <a:endParaRPr lang="en-US" sz="3420" dirty="0"/>
          </a:p>
        </p:txBody>
      </p:sp>
      <p:sp>
        <p:nvSpPr>
          <p:cNvPr id="5" name="Shape 3"/>
          <p:cNvSpPr/>
          <p:nvPr/>
        </p:nvSpPr>
        <p:spPr>
          <a:xfrm>
            <a:off x="4529138" y="766763"/>
            <a:ext cx="3228975" cy="3157538"/>
          </a:xfrm>
          <a:prstGeom prst="rect">
            <a:avLst/>
          </a:prstGeom>
          <a:noFill/>
          <a:ln/>
        </p:spPr>
      </p:sp>
      <p:sp>
        <p:nvSpPr>
          <p:cNvPr id="6" name="Shape 4"/>
          <p:cNvSpPr/>
          <p:nvPr/>
        </p:nvSpPr>
        <p:spPr>
          <a:xfrm>
            <a:off x="4529138" y="766763"/>
            <a:ext cx="3228975" cy="952500"/>
          </a:xfrm>
          <a:prstGeom prst="rect">
            <a:avLst/>
          </a:prstGeom>
          <a:noFill/>
          <a:ln/>
        </p:spPr>
      </p:sp>
      <p:sp>
        <p:nvSpPr>
          <p:cNvPr id="7" name="Shape 5"/>
          <p:cNvSpPr/>
          <p:nvPr/>
        </p:nvSpPr>
        <p:spPr>
          <a:xfrm>
            <a:off x="4529138" y="766763"/>
            <a:ext cx="190500" cy="190500"/>
          </a:xfrm>
          <a:prstGeom prst="rect">
            <a:avLst/>
          </a:prstGeom>
          <a:noFill/>
          <a:ln/>
        </p:spPr>
      </p:sp>
      <p:sp>
        <p:nvSpPr>
          <p:cNvPr id="8" name="Shape 6"/>
          <p:cNvSpPr/>
          <p:nvPr/>
        </p:nvSpPr>
        <p:spPr>
          <a:xfrm>
            <a:off x="4529138" y="862013"/>
            <a:ext cx="95250" cy="95250"/>
          </a:xfrm>
          <a:prstGeom prst="roundRect">
            <a:avLst/>
          </a:prstGeom>
          <a:solidFill>
            <a:srgbClr val="000000"/>
          </a:solidFill>
          <a:ln/>
        </p:spPr>
      </p:sp>
      <p:sp>
        <p:nvSpPr>
          <p:cNvPr id="9" name="Shape 7"/>
          <p:cNvSpPr/>
          <p:nvPr/>
        </p:nvSpPr>
        <p:spPr>
          <a:xfrm>
            <a:off x="4986338" y="766763"/>
            <a:ext cx="2762250" cy="952500"/>
          </a:xfrm>
          <a:prstGeom prst="rect">
            <a:avLst/>
          </a:prstGeom>
          <a:noFill/>
          <a:ln/>
        </p:spPr>
      </p:sp>
      <p:sp>
        <p:nvSpPr>
          <p:cNvPr id="10" name="Text 8"/>
          <p:cNvSpPr/>
          <p:nvPr/>
        </p:nvSpPr>
        <p:spPr>
          <a:xfrm>
            <a:off x="4986338" y="766763"/>
            <a:ext cx="2762250"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Goal 1</a:t>
            </a:r>
            <a:endParaRPr lang="en-US" sz="1425" dirty="0"/>
          </a:p>
        </p:txBody>
      </p:sp>
      <p:sp>
        <p:nvSpPr>
          <p:cNvPr id="11" name="Text 9"/>
          <p:cNvSpPr/>
          <p:nvPr/>
        </p:nvSpPr>
        <p:spPr>
          <a:xfrm>
            <a:off x="4986338" y="1090613"/>
            <a:ext cx="2762250" cy="628650"/>
          </a:xfrm>
          <a:prstGeom prst="rect">
            <a:avLst/>
          </a:prstGeom>
          <a:noFill/>
          <a:ln/>
        </p:spPr>
        <p:txBody>
          <a:bodyPr wrap="square" lIns="0" tIns="0" rIns="0" bIns="0" rtlCol="0" anchor="t"/>
          <a:lstStyle/>
          <a:p>
            <a:pPr algn="l" indent="0" marL="0">
              <a:lnSpc>
                <a:spcPts val="1176"/>
              </a:lnSpc>
              <a:buNone/>
            </a:pPr>
            <a:r>
              <a:rPr lang="en-US" sz="784" spc="-17" kern="0" dirty="0">
                <a:solidFill>
                  <a:srgbClr val="000000">
                    <a:alpha val="99000"/>
                  </a:srgbClr>
                </a:solidFill>
                <a:latin typeface="Roboto" pitchFamily="34" charset="0"/>
                <a:ea typeface="Roboto" pitchFamily="34" charset="-122"/>
                <a:cs typeface="Roboto" pitchFamily="34" charset="-120"/>
              </a:rPr>
              <a:t>You can use this slide for any bunch of things, like design principles, product decisions, user needs, and more. This space is for a quick description of each of the things on the slide. Help people understand what each is about.</a:t>
            </a:r>
            <a:endParaRPr lang="en-US" sz="784" dirty="0"/>
          </a:p>
        </p:txBody>
      </p:sp>
      <p:sp>
        <p:nvSpPr>
          <p:cNvPr id="12" name="Shape 10"/>
          <p:cNvSpPr/>
          <p:nvPr/>
        </p:nvSpPr>
        <p:spPr>
          <a:xfrm>
            <a:off x="4529138" y="1947863"/>
            <a:ext cx="3228975" cy="952500"/>
          </a:xfrm>
          <a:prstGeom prst="rect">
            <a:avLst/>
          </a:prstGeom>
          <a:noFill/>
          <a:ln/>
        </p:spPr>
      </p:sp>
      <p:sp>
        <p:nvSpPr>
          <p:cNvPr id="13" name="Shape 11"/>
          <p:cNvSpPr/>
          <p:nvPr/>
        </p:nvSpPr>
        <p:spPr>
          <a:xfrm>
            <a:off x="4529138" y="1947863"/>
            <a:ext cx="190500" cy="190500"/>
          </a:xfrm>
          <a:prstGeom prst="rect">
            <a:avLst/>
          </a:prstGeom>
          <a:noFill/>
          <a:ln/>
        </p:spPr>
      </p:sp>
      <p:sp>
        <p:nvSpPr>
          <p:cNvPr id="14" name="Shape 12"/>
          <p:cNvSpPr/>
          <p:nvPr/>
        </p:nvSpPr>
        <p:spPr>
          <a:xfrm>
            <a:off x="4529138" y="2043113"/>
            <a:ext cx="95250" cy="95250"/>
          </a:xfrm>
          <a:prstGeom prst="roundRect">
            <a:avLst/>
          </a:prstGeom>
          <a:solidFill>
            <a:srgbClr val="000000"/>
          </a:solidFill>
          <a:ln/>
        </p:spPr>
      </p:sp>
      <p:sp>
        <p:nvSpPr>
          <p:cNvPr id="15" name="Shape 13"/>
          <p:cNvSpPr/>
          <p:nvPr/>
        </p:nvSpPr>
        <p:spPr>
          <a:xfrm>
            <a:off x="4986338" y="1947863"/>
            <a:ext cx="2743200" cy="952500"/>
          </a:xfrm>
          <a:prstGeom prst="rect">
            <a:avLst/>
          </a:prstGeom>
          <a:noFill/>
          <a:ln/>
        </p:spPr>
      </p:sp>
      <p:sp>
        <p:nvSpPr>
          <p:cNvPr id="16" name="Text 14"/>
          <p:cNvSpPr/>
          <p:nvPr/>
        </p:nvSpPr>
        <p:spPr>
          <a:xfrm>
            <a:off x="4986338" y="1947863"/>
            <a:ext cx="2743200"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Goal 2</a:t>
            </a:r>
            <a:endParaRPr lang="en-US" sz="1425" dirty="0"/>
          </a:p>
        </p:txBody>
      </p:sp>
      <p:sp>
        <p:nvSpPr>
          <p:cNvPr id="17" name="Text 15"/>
          <p:cNvSpPr/>
          <p:nvPr/>
        </p:nvSpPr>
        <p:spPr>
          <a:xfrm>
            <a:off x="4986338" y="2271713"/>
            <a:ext cx="2743200" cy="628650"/>
          </a:xfrm>
          <a:prstGeom prst="rect">
            <a:avLst/>
          </a:prstGeom>
          <a:noFill/>
          <a:ln/>
        </p:spPr>
        <p:txBody>
          <a:bodyPr wrap="square" lIns="0" tIns="0" rIns="0" bIns="0" rtlCol="0" anchor="t"/>
          <a:lstStyle/>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Try to keep each one short—focused on the most essential information—so it’s easy to scan and remember. The more text you include, the trickier the slide is to scan. So don’t hesitate to edit, chop, and slash.</a:t>
            </a:r>
            <a:endParaRPr lang="en-US" sz="784" dirty="0"/>
          </a:p>
        </p:txBody>
      </p:sp>
      <p:sp>
        <p:nvSpPr>
          <p:cNvPr id="18" name="Shape 16"/>
          <p:cNvSpPr/>
          <p:nvPr/>
        </p:nvSpPr>
        <p:spPr>
          <a:xfrm>
            <a:off x="4529138" y="3128963"/>
            <a:ext cx="3228975" cy="795338"/>
          </a:xfrm>
          <a:prstGeom prst="rect">
            <a:avLst/>
          </a:prstGeom>
          <a:noFill/>
          <a:ln/>
        </p:spPr>
      </p:sp>
      <p:sp>
        <p:nvSpPr>
          <p:cNvPr id="19" name="Shape 17"/>
          <p:cNvSpPr/>
          <p:nvPr/>
        </p:nvSpPr>
        <p:spPr>
          <a:xfrm>
            <a:off x="4529138" y="3128963"/>
            <a:ext cx="190500" cy="190500"/>
          </a:xfrm>
          <a:prstGeom prst="rect">
            <a:avLst/>
          </a:prstGeom>
          <a:noFill/>
          <a:ln/>
        </p:spPr>
      </p:sp>
      <p:sp>
        <p:nvSpPr>
          <p:cNvPr id="20" name="Shape 18"/>
          <p:cNvSpPr/>
          <p:nvPr/>
        </p:nvSpPr>
        <p:spPr>
          <a:xfrm>
            <a:off x="4529138" y="3224213"/>
            <a:ext cx="95250" cy="95250"/>
          </a:xfrm>
          <a:prstGeom prst="roundRect">
            <a:avLst/>
          </a:prstGeom>
          <a:solidFill>
            <a:srgbClr val="000000"/>
          </a:solidFill>
          <a:ln/>
        </p:spPr>
      </p:sp>
      <p:sp>
        <p:nvSpPr>
          <p:cNvPr id="21" name="Shape 19"/>
          <p:cNvSpPr/>
          <p:nvPr/>
        </p:nvSpPr>
        <p:spPr>
          <a:xfrm>
            <a:off x="4986338" y="3128963"/>
            <a:ext cx="2771775" cy="795338"/>
          </a:xfrm>
          <a:prstGeom prst="rect">
            <a:avLst/>
          </a:prstGeom>
          <a:noFill/>
          <a:ln/>
        </p:spPr>
      </p:sp>
      <p:sp>
        <p:nvSpPr>
          <p:cNvPr id="22" name="Text 20"/>
          <p:cNvSpPr/>
          <p:nvPr/>
        </p:nvSpPr>
        <p:spPr>
          <a:xfrm>
            <a:off x="4986338" y="3128963"/>
            <a:ext cx="2771775"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Goal 3</a:t>
            </a:r>
            <a:endParaRPr lang="en-US" sz="1425" dirty="0"/>
          </a:p>
        </p:txBody>
      </p:sp>
      <p:sp>
        <p:nvSpPr>
          <p:cNvPr id="23" name="Text 21"/>
          <p:cNvSpPr/>
          <p:nvPr/>
        </p:nvSpPr>
        <p:spPr>
          <a:xfrm>
            <a:off x="4986338" y="3452813"/>
            <a:ext cx="2771775" cy="471488"/>
          </a:xfrm>
          <a:prstGeom prst="rect">
            <a:avLst/>
          </a:prstGeom>
          <a:noFill/>
          <a:ln/>
        </p:spPr>
        <p:txBody>
          <a:bodyPr wrap="square" lIns="0" tIns="0" rIns="0" bIns="0" rtlCol="0" anchor="t"/>
          <a:lstStyle/>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There’s no need to fill up the whole block of text.</a:t>
            </a:r>
            <a:endParaRPr lang="en-US" sz="784" dirty="0"/>
          </a:p>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Less can be more, after all.</a:t>
            </a:r>
            <a:endParaRPr lang="en-US" sz="78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000000"/>
          </a:solidFill>
          <a:ln/>
        </p:spPr>
      </p:sp>
      <p:sp>
        <p:nvSpPr>
          <p:cNvPr id="3" name="Shape 1"/>
          <p:cNvSpPr/>
          <p:nvPr/>
        </p:nvSpPr>
        <p:spPr>
          <a:xfrm>
            <a:off x="652463" y="2205038"/>
            <a:ext cx="5715000" cy="547688"/>
          </a:xfrm>
          <a:prstGeom prst="rect">
            <a:avLst/>
          </a:prstGeom>
          <a:noFill/>
          <a:ln/>
        </p:spPr>
      </p:sp>
      <p:sp>
        <p:nvSpPr>
          <p:cNvPr id="4" name="Text 2"/>
          <p:cNvSpPr/>
          <p:nvPr/>
        </p:nvSpPr>
        <p:spPr>
          <a:xfrm>
            <a:off x="652463" y="2205038"/>
            <a:ext cx="5715000" cy="547688"/>
          </a:xfrm>
          <a:prstGeom prst="rect">
            <a:avLst/>
          </a:prstGeom>
          <a:noFill/>
          <a:ln/>
        </p:spPr>
        <p:txBody>
          <a:bodyPr wrap="square" lIns="0" tIns="0" rIns="0" bIns="0" rtlCol="0" anchor="t"/>
          <a:lstStyle/>
          <a:p>
            <a:pPr algn="l" indent="0" marL="0">
              <a:lnSpc>
                <a:spcPts val="4104"/>
              </a:lnSpc>
              <a:buNone/>
            </a:pPr>
            <a:r>
              <a:rPr lang="en-US" sz="3420" b="1" spc="-68" kern="0" dirty="0">
                <a:solidFill>
                  <a:srgbClr val="000000"/>
                </a:solidFill>
                <a:latin typeface="Roboto" pitchFamily="34" charset="0"/>
                <a:ea typeface="Roboto" pitchFamily="34" charset="-122"/>
                <a:cs typeface="Roboto" pitchFamily="34" charset="-120"/>
              </a:rPr>
              <a:t>Project golas</a:t>
            </a:r>
            <a:endParaRPr lang="en-US" sz="3420" dirty="0"/>
          </a:p>
        </p:txBody>
      </p:sp>
      <p:sp>
        <p:nvSpPr>
          <p:cNvPr id="5" name="Shape 3"/>
          <p:cNvSpPr/>
          <p:nvPr/>
        </p:nvSpPr>
        <p:spPr>
          <a:xfrm>
            <a:off x="4529138" y="766763"/>
            <a:ext cx="3228975" cy="3157538"/>
          </a:xfrm>
          <a:prstGeom prst="rect">
            <a:avLst/>
          </a:prstGeom>
          <a:noFill/>
          <a:ln/>
        </p:spPr>
      </p:sp>
      <p:sp>
        <p:nvSpPr>
          <p:cNvPr id="6" name="Shape 4"/>
          <p:cNvSpPr/>
          <p:nvPr/>
        </p:nvSpPr>
        <p:spPr>
          <a:xfrm>
            <a:off x="4529138" y="766763"/>
            <a:ext cx="3228975" cy="952500"/>
          </a:xfrm>
          <a:prstGeom prst="rect">
            <a:avLst/>
          </a:prstGeom>
          <a:noFill/>
          <a:ln/>
        </p:spPr>
      </p:sp>
      <p:sp>
        <p:nvSpPr>
          <p:cNvPr id="7" name="Shape 5"/>
          <p:cNvSpPr/>
          <p:nvPr/>
        </p:nvSpPr>
        <p:spPr>
          <a:xfrm>
            <a:off x="4529138" y="766763"/>
            <a:ext cx="190500" cy="190500"/>
          </a:xfrm>
          <a:prstGeom prst="rect">
            <a:avLst/>
          </a:prstGeom>
          <a:noFill/>
          <a:ln/>
        </p:spPr>
      </p:sp>
      <p:sp>
        <p:nvSpPr>
          <p:cNvPr id="8" name="Shape 6"/>
          <p:cNvSpPr/>
          <p:nvPr/>
        </p:nvSpPr>
        <p:spPr>
          <a:xfrm>
            <a:off x="4529138" y="862013"/>
            <a:ext cx="95250" cy="95250"/>
          </a:xfrm>
          <a:prstGeom prst="roundRect">
            <a:avLst/>
          </a:prstGeom>
          <a:solidFill>
            <a:srgbClr val="FFFFFF"/>
          </a:solidFill>
          <a:ln/>
        </p:spPr>
      </p:sp>
      <p:sp>
        <p:nvSpPr>
          <p:cNvPr id="9" name="Shape 7"/>
          <p:cNvSpPr/>
          <p:nvPr/>
        </p:nvSpPr>
        <p:spPr>
          <a:xfrm>
            <a:off x="4986338" y="766763"/>
            <a:ext cx="2762250" cy="952500"/>
          </a:xfrm>
          <a:prstGeom prst="rect">
            <a:avLst/>
          </a:prstGeom>
          <a:noFill/>
          <a:ln/>
        </p:spPr>
      </p:sp>
      <p:sp>
        <p:nvSpPr>
          <p:cNvPr id="10" name="Text 8"/>
          <p:cNvSpPr/>
          <p:nvPr/>
        </p:nvSpPr>
        <p:spPr>
          <a:xfrm>
            <a:off x="4986338" y="766763"/>
            <a:ext cx="2762250"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Goal 1</a:t>
            </a:r>
            <a:endParaRPr lang="en-US" sz="1425" dirty="0"/>
          </a:p>
        </p:txBody>
      </p:sp>
      <p:sp>
        <p:nvSpPr>
          <p:cNvPr id="11" name="Text 9"/>
          <p:cNvSpPr/>
          <p:nvPr/>
        </p:nvSpPr>
        <p:spPr>
          <a:xfrm>
            <a:off x="4986338" y="1090613"/>
            <a:ext cx="2762250" cy="628650"/>
          </a:xfrm>
          <a:prstGeom prst="rect">
            <a:avLst/>
          </a:prstGeom>
          <a:noFill/>
          <a:ln/>
        </p:spPr>
        <p:txBody>
          <a:bodyPr wrap="square" lIns="0" tIns="0" rIns="0" bIns="0" rtlCol="0" anchor="t"/>
          <a:lstStyle/>
          <a:p>
            <a:pPr algn="l" indent="0" marL="0">
              <a:lnSpc>
                <a:spcPts val="1176"/>
              </a:lnSpc>
              <a:buNone/>
            </a:pPr>
            <a:r>
              <a:rPr lang="en-US" sz="784" spc="-17" kern="0" dirty="0">
                <a:solidFill>
                  <a:srgbClr val="FFFFFF">
                    <a:alpha val="99000"/>
                  </a:srgbClr>
                </a:solidFill>
                <a:latin typeface="Roboto" pitchFamily="34" charset="0"/>
                <a:ea typeface="Roboto" pitchFamily="34" charset="-122"/>
                <a:cs typeface="Roboto" pitchFamily="34" charset="-120"/>
              </a:rPr>
              <a:t>You can use this slide for any bunch of things, like design principles, product decisions, user needs, and more. This space is for a quick description of each of the things on the slide. Help people understand what each is about.</a:t>
            </a:r>
            <a:endParaRPr lang="en-US" sz="784" dirty="0"/>
          </a:p>
        </p:txBody>
      </p:sp>
      <p:sp>
        <p:nvSpPr>
          <p:cNvPr id="12" name="Shape 10"/>
          <p:cNvSpPr/>
          <p:nvPr/>
        </p:nvSpPr>
        <p:spPr>
          <a:xfrm>
            <a:off x="4529138" y="1947863"/>
            <a:ext cx="3228975" cy="952500"/>
          </a:xfrm>
          <a:prstGeom prst="rect">
            <a:avLst/>
          </a:prstGeom>
          <a:noFill/>
          <a:ln/>
        </p:spPr>
      </p:sp>
      <p:sp>
        <p:nvSpPr>
          <p:cNvPr id="13" name="Shape 11"/>
          <p:cNvSpPr/>
          <p:nvPr/>
        </p:nvSpPr>
        <p:spPr>
          <a:xfrm>
            <a:off x="4529138" y="1947863"/>
            <a:ext cx="190500" cy="190500"/>
          </a:xfrm>
          <a:prstGeom prst="rect">
            <a:avLst/>
          </a:prstGeom>
          <a:noFill/>
          <a:ln/>
        </p:spPr>
      </p:sp>
      <p:sp>
        <p:nvSpPr>
          <p:cNvPr id="14" name="Shape 12"/>
          <p:cNvSpPr/>
          <p:nvPr/>
        </p:nvSpPr>
        <p:spPr>
          <a:xfrm>
            <a:off x="4529138" y="2043113"/>
            <a:ext cx="95250" cy="95250"/>
          </a:xfrm>
          <a:prstGeom prst="roundRect">
            <a:avLst/>
          </a:prstGeom>
          <a:solidFill>
            <a:srgbClr val="FFFFFF"/>
          </a:solidFill>
          <a:ln/>
        </p:spPr>
      </p:sp>
      <p:sp>
        <p:nvSpPr>
          <p:cNvPr id="15" name="Shape 13"/>
          <p:cNvSpPr/>
          <p:nvPr/>
        </p:nvSpPr>
        <p:spPr>
          <a:xfrm>
            <a:off x="4986338" y="1947863"/>
            <a:ext cx="2743200" cy="952500"/>
          </a:xfrm>
          <a:prstGeom prst="rect">
            <a:avLst/>
          </a:prstGeom>
          <a:noFill/>
          <a:ln/>
        </p:spPr>
      </p:sp>
      <p:sp>
        <p:nvSpPr>
          <p:cNvPr id="16" name="Text 14"/>
          <p:cNvSpPr/>
          <p:nvPr/>
        </p:nvSpPr>
        <p:spPr>
          <a:xfrm>
            <a:off x="4986338" y="1947863"/>
            <a:ext cx="2743200"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Goal 2</a:t>
            </a:r>
            <a:endParaRPr lang="en-US" sz="1425" dirty="0"/>
          </a:p>
        </p:txBody>
      </p:sp>
      <p:sp>
        <p:nvSpPr>
          <p:cNvPr id="17" name="Text 15"/>
          <p:cNvSpPr/>
          <p:nvPr/>
        </p:nvSpPr>
        <p:spPr>
          <a:xfrm>
            <a:off x="4986338" y="2271713"/>
            <a:ext cx="2743200" cy="628650"/>
          </a:xfrm>
          <a:prstGeom prst="rect">
            <a:avLst/>
          </a:prstGeom>
          <a:noFill/>
          <a:ln/>
        </p:spPr>
        <p:txBody>
          <a:bodyPr wrap="square" lIns="0" tIns="0" rIns="0" bIns="0" rtlCol="0" anchor="t"/>
          <a:lstStyle/>
          <a:p>
            <a:pPr algn="l" indent="0" marL="0">
              <a:lnSpc>
                <a:spcPts val="1176"/>
              </a:lnSpc>
              <a:buNone/>
            </a:pPr>
            <a:r>
              <a:rPr lang="en-US" sz="784" spc="-17" kern="0" dirty="0">
                <a:solidFill>
                  <a:srgbClr val="FFFFFF">
                    <a:alpha val="99000"/>
                  </a:srgbClr>
                </a:solidFill>
                <a:latin typeface="Plus Jakarta Sans" pitchFamily="34" charset="0"/>
                <a:ea typeface="Plus Jakarta Sans" pitchFamily="34" charset="-122"/>
                <a:cs typeface="Plus Jakarta Sans" pitchFamily="34" charset="-120"/>
              </a:rPr>
              <a:t>Try to keep each one short—focused on the most essential information—so it’s easy to scan and remember. The more text you include, the trickier the slide is to scan. So don’t hesitate to edit, chop, and slash.</a:t>
            </a:r>
            <a:endParaRPr lang="en-US" sz="784" dirty="0"/>
          </a:p>
        </p:txBody>
      </p:sp>
      <p:sp>
        <p:nvSpPr>
          <p:cNvPr id="18" name="Shape 16"/>
          <p:cNvSpPr/>
          <p:nvPr/>
        </p:nvSpPr>
        <p:spPr>
          <a:xfrm>
            <a:off x="4529138" y="3128963"/>
            <a:ext cx="3228975" cy="795338"/>
          </a:xfrm>
          <a:prstGeom prst="rect">
            <a:avLst/>
          </a:prstGeom>
          <a:noFill/>
          <a:ln/>
        </p:spPr>
      </p:sp>
      <p:sp>
        <p:nvSpPr>
          <p:cNvPr id="19" name="Shape 17"/>
          <p:cNvSpPr/>
          <p:nvPr/>
        </p:nvSpPr>
        <p:spPr>
          <a:xfrm>
            <a:off x="4529138" y="3128963"/>
            <a:ext cx="190500" cy="190500"/>
          </a:xfrm>
          <a:prstGeom prst="rect">
            <a:avLst/>
          </a:prstGeom>
          <a:noFill/>
          <a:ln/>
        </p:spPr>
      </p:sp>
      <p:sp>
        <p:nvSpPr>
          <p:cNvPr id="20" name="Shape 18"/>
          <p:cNvSpPr/>
          <p:nvPr/>
        </p:nvSpPr>
        <p:spPr>
          <a:xfrm>
            <a:off x="4529138" y="3224213"/>
            <a:ext cx="95250" cy="95250"/>
          </a:xfrm>
          <a:prstGeom prst="roundRect">
            <a:avLst/>
          </a:prstGeom>
          <a:solidFill>
            <a:srgbClr val="FFFFFF"/>
          </a:solidFill>
          <a:ln/>
        </p:spPr>
      </p:sp>
      <p:sp>
        <p:nvSpPr>
          <p:cNvPr id="21" name="Shape 19"/>
          <p:cNvSpPr/>
          <p:nvPr/>
        </p:nvSpPr>
        <p:spPr>
          <a:xfrm>
            <a:off x="4986338" y="3128963"/>
            <a:ext cx="2771775" cy="795338"/>
          </a:xfrm>
          <a:prstGeom prst="rect">
            <a:avLst/>
          </a:prstGeom>
          <a:noFill/>
          <a:ln/>
        </p:spPr>
      </p:sp>
      <p:sp>
        <p:nvSpPr>
          <p:cNvPr id="22" name="Text 20"/>
          <p:cNvSpPr/>
          <p:nvPr/>
        </p:nvSpPr>
        <p:spPr>
          <a:xfrm>
            <a:off x="4986338" y="3128963"/>
            <a:ext cx="2771775"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Goal 3</a:t>
            </a:r>
            <a:endParaRPr lang="en-US" sz="1425" dirty="0"/>
          </a:p>
        </p:txBody>
      </p:sp>
      <p:sp>
        <p:nvSpPr>
          <p:cNvPr id="23" name="Text 21"/>
          <p:cNvSpPr/>
          <p:nvPr/>
        </p:nvSpPr>
        <p:spPr>
          <a:xfrm>
            <a:off x="4986338" y="3452813"/>
            <a:ext cx="2771775" cy="471488"/>
          </a:xfrm>
          <a:prstGeom prst="rect">
            <a:avLst/>
          </a:prstGeom>
          <a:noFill/>
          <a:ln/>
        </p:spPr>
        <p:txBody>
          <a:bodyPr wrap="square" lIns="0" tIns="0" rIns="0" bIns="0" rtlCol="0" anchor="t"/>
          <a:lstStyle/>
          <a:p>
            <a:pPr algn="l" indent="0" marL="0">
              <a:lnSpc>
                <a:spcPts val="1176"/>
              </a:lnSpc>
              <a:buNone/>
            </a:pPr>
            <a:r>
              <a:rPr lang="en-US" sz="784" spc="-17" kern="0" dirty="0">
                <a:solidFill>
                  <a:srgbClr val="FFFFFF">
                    <a:alpha val="99000"/>
                  </a:srgbClr>
                </a:solidFill>
                <a:latin typeface="Plus Jakarta Sans" pitchFamily="34" charset="0"/>
                <a:ea typeface="Plus Jakarta Sans" pitchFamily="34" charset="-122"/>
                <a:cs typeface="Plus Jakarta Sans" pitchFamily="34" charset="-120"/>
              </a:rPr>
              <a:t>There’s no need to fill up the whole block of text.</a:t>
            </a:r>
            <a:endParaRPr lang="en-US" sz="784" dirty="0"/>
          </a:p>
          <a:p>
            <a:pPr algn="l" indent="0" marL="0">
              <a:lnSpc>
                <a:spcPts val="1176"/>
              </a:lnSpc>
              <a:buNone/>
            </a:pPr>
            <a:r>
              <a:rPr lang="en-US" sz="784" spc="-17" kern="0" dirty="0">
                <a:solidFill>
                  <a:srgbClr val="FFFFFF">
                    <a:alpha val="99000"/>
                  </a:srgbClr>
                </a:solidFill>
                <a:latin typeface="Plus Jakarta Sans" pitchFamily="34" charset="0"/>
                <a:ea typeface="Plus Jakarta Sans" pitchFamily="34" charset="-122"/>
                <a:cs typeface="Plus Jakarta Sans" pitchFamily="34" charset="-120"/>
              </a:rPr>
              <a:t>Less can be more, after all.</a:t>
            </a:r>
            <a:endParaRPr lang="en-US" sz="784"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FFFFF"/>
          </a:solidFill>
          <a:ln/>
        </p:spPr>
      </p:sp>
      <p:sp>
        <p:nvSpPr>
          <p:cNvPr id="3" name="Text 1"/>
          <p:cNvSpPr/>
          <p:nvPr/>
        </p:nvSpPr>
        <p:spPr>
          <a:xfrm>
            <a:off x="3957638" y="1385888"/>
            <a:ext cx="4886325" cy="3667125"/>
          </a:xfrm>
          <a:prstGeom prst="rect">
            <a:avLst/>
          </a:prstGeom>
          <a:noFill/>
          <a:ln/>
        </p:spPr>
        <p:txBody>
          <a:bodyPr wrap="square" lIns="0" tIns="0" rIns="0" bIns="0" rtlCol="0" anchor="t"/>
          <a:lstStyle/>
          <a:p>
            <a:pPr algn="r" indent="0" marL="0">
              <a:lnSpc>
                <a:spcPts val="27431"/>
              </a:lnSpc>
              <a:buNone/>
            </a:pPr>
            <a:r>
              <a:rPr lang="en-US" sz="24938" spc="-1247" kern="0" dirty="0">
                <a:solidFill>
                  <a:srgbClr val="000000"/>
                </a:solidFill>
                <a:latin typeface="IBM Plex Sans" pitchFamily="34" charset="0"/>
                <a:ea typeface="IBM Plex Sans" pitchFamily="34" charset="-122"/>
                <a:cs typeface="IBM Plex Sans" pitchFamily="34" charset="-120"/>
              </a:rPr>
              <a:t>02</a:t>
            </a:r>
            <a:endParaRPr lang="en-US" sz="24938" dirty="0"/>
          </a:p>
        </p:txBody>
      </p:sp>
      <p:sp>
        <p:nvSpPr>
          <p:cNvPr id="4" name="Text 2"/>
          <p:cNvSpPr/>
          <p:nvPr/>
        </p:nvSpPr>
        <p:spPr>
          <a:xfrm>
            <a:off x="647700" y="1047750"/>
            <a:ext cx="3786188" cy="785813"/>
          </a:xfrm>
          <a:prstGeom prst="rect">
            <a:avLst/>
          </a:prstGeom>
          <a:noFill/>
          <a:ln/>
        </p:spPr>
        <p:txBody>
          <a:bodyPr wrap="square" lIns="0" tIns="0" rIns="0" bIns="0" rtlCol="0" anchor="t"/>
          <a:lstStyle/>
          <a:p>
            <a:pPr algn="l" indent="0" marL="0">
              <a:lnSpc>
                <a:spcPts val="5878"/>
              </a:lnSpc>
              <a:buNone/>
            </a:pPr>
            <a:r>
              <a:rPr lang="en-US" sz="5344" b="1" dirty="0">
                <a:solidFill>
                  <a:srgbClr val="000000">
                    <a:alpha val="99000"/>
                  </a:srgbClr>
                </a:solidFill>
                <a:latin typeface="IBM Plex Sans" pitchFamily="34" charset="0"/>
                <a:ea typeface="IBM Plex Sans" pitchFamily="34" charset="-122"/>
                <a:cs typeface="IBM Plex Sans" pitchFamily="34" charset="-120"/>
              </a:rPr>
              <a:t>Discovery</a:t>
            </a:r>
            <a:endParaRPr lang="en-US" sz="5344"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000000"/>
          </a:solidFill>
          <a:ln/>
        </p:spPr>
      </p:sp>
      <p:sp>
        <p:nvSpPr>
          <p:cNvPr id="3" name="Text 1"/>
          <p:cNvSpPr/>
          <p:nvPr/>
        </p:nvSpPr>
        <p:spPr>
          <a:xfrm>
            <a:off x="3957638" y="1385888"/>
            <a:ext cx="4886325" cy="3667125"/>
          </a:xfrm>
          <a:prstGeom prst="rect">
            <a:avLst/>
          </a:prstGeom>
          <a:noFill/>
          <a:ln/>
        </p:spPr>
        <p:txBody>
          <a:bodyPr wrap="square" lIns="0" tIns="0" rIns="0" bIns="0" rtlCol="0" anchor="t"/>
          <a:lstStyle/>
          <a:p>
            <a:pPr algn="r" indent="0" marL="0">
              <a:lnSpc>
                <a:spcPts val="27431"/>
              </a:lnSpc>
              <a:buNone/>
            </a:pPr>
            <a:r>
              <a:rPr lang="en-US" sz="24938" spc="-1247" kern="0" dirty="0">
                <a:solidFill>
                  <a:srgbClr val="000000"/>
                </a:solidFill>
                <a:latin typeface="IBM Plex Sans" pitchFamily="34" charset="0"/>
                <a:ea typeface="IBM Plex Sans" pitchFamily="34" charset="-122"/>
                <a:cs typeface="IBM Plex Sans" pitchFamily="34" charset="-120"/>
              </a:rPr>
              <a:t>02</a:t>
            </a:r>
            <a:endParaRPr lang="en-US" sz="24938" dirty="0"/>
          </a:p>
        </p:txBody>
      </p:sp>
      <p:sp>
        <p:nvSpPr>
          <p:cNvPr id="4" name="Text 2"/>
          <p:cNvSpPr/>
          <p:nvPr/>
        </p:nvSpPr>
        <p:spPr>
          <a:xfrm>
            <a:off x="623888" y="1047750"/>
            <a:ext cx="3786188" cy="785813"/>
          </a:xfrm>
          <a:prstGeom prst="rect">
            <a:avLst/>
          </a:prstGeom>
          <a:noFill/>
          <a:ln/>
        </p:spPr>
        <p:txBody>
          <a:bodyPr wrap="square" lIns="0" tIns="0" rIns="0" bIns="0" rtlCol="0" anchor="t"/>
          <a:lstStyle/>
          <a:p>
            <a:pPr algn="l" indent="0" marL="0">
              <a:lnSpc>
                <a:spcPts val="5878"/>
              </a:lnSpc>
              <a:buNone/>
            </a:pPr>
            <a:r>
              <a:rPr lang="en-US" sz="5344" b="1" dirty="0">
                <a:solidFill>
                  <a:srgbClr val="FFFFFF">
                    <a:alpha val="99000"/>
                  </a:srgbClr>
                </a:solidFill>
                <a:latin typeface="IBM Plex Sans" pitchFamily="34" charset="0"/>
                <a:ea typeface="IBM Plex Sans" pitchFamily="34" charset="-122"/>
                <a:cs typeface="IBM Plex Sans" pitchFamily="34" charset="-120"/>
              </a:rPr>
              <a:t>Discovery</a:t>
            </a:r>
            <a:endParaRPr lang="en-US" sz="5344"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FFFFF"/>
          </a:solidFill>
          <a:ln w="4524">
            <a:solidFill>
              <a:srgbClr val="FFFFFF"/>
            </a:solidFill>
            <a:prstDash val="solid"/>
          </a:ln>
        </p:spPr>
      </p:sp>
      <p:sp>
        <p:nvSpPr>
          <p:cNvPr id="3" name="Text 1"/>
          <p:cNvSpPr/>
          <p:nvPr/>
        </p:nvSpPr>
        <p:spPr>
          <a:xfrm>
            <a:off x="376238" y="595313"/>
            <a:ext cx="4148137"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Roboto" pitchFamily="34" charset="0"/>
                <a:ea typeface="Roboto" pitchFamily="34" charset="-122"/>
                <a:cs typeface="Roboto" pitchFamily="34" charset="-120"/>
              </a:rPr>
              <a:t>These are our top competitors:</a:t>
            </a:r>
            <a:endParaRPr lang="en-US" sz="2494" dirty="0"/>
          </a:p>
        </p:txBody>
      </p:sp>
      <p:sp>
        <p:nvSpPr>
          <p:cNvPr id="4" name="Shape 2"/>
          <p:cNvSpPr/>
          <p:nvPr/>
        </p:nvSpPr>
        <p:spPr>
          <a:xfrm>
            <a:off x="742950" y="2028825"/>
            <a:ext cx="881063" cy="1090613"/>
          </a:xfrm>
          <a:prstGeom prst="rect">
            <a:avLst/>
          </a:prstGeom>
          <a:noFill/>
          <a:ln/>
        </p:spPr>
      </p:sp>
      <p:pic>
        <p:nvPicPr>
          <p:cNvPr id="5" name="Image 0" descr="preencoded.png">    </p:cNvPr>
          <p:cNvPicPr>
            <a:picLocks noChangeAspect="1"/>
          </p:cNvPicPr>
          <p:nvPr/>
        </p:nvPicPr>
        <p:blipFill>
          <a:blip r:embed="rId1"/>
          <a:srcRect l="0" r="0" t="0" b="0"/>
          <a:stretch/>
        </p:blipFill>
        <p:spPr>
          <a:xfrm>
            <a:off x="742950" y="2028825"/>
            <a:ext cx="881063" cy="881063"/>
          </a:xfrm>
          <a:prstGeom prst="rect">
            <a:avLst/>
          </a:prstGeom>
        </p:spPr>
      </p:pic>
      <p:sp>
        <p:nvSpPr>
          <p:cNvPr id="6" name="Text 3"/>
          <p:cNvSpPr/>
          <p:nvPr/>
        </p:nvSpPr>
        <p:spPr>
          <a:xfrm>
            <a:off x="742950" y="3005138"/>
            <a:ext cx="881063" cy="1143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COMPANY</a:t>
            </a:r>
            <a:endParaRPr lang="en-US" sz="784" dirty="0"/>
          </a:p>
        </p:txBody>
      </p:sp>
      <p:sp>
        <p:nvSpPr>
          <p:cNvPr id="7" name="Shape 4"/>
          <p:cNvSpPr/>
          <p:nvPr/>
        </p:nvSpPr>
        <p:spPr>
          <a:xfrm>
            <a:off x="2438400" y="2028825"/>
            <a:ext cx="881063" cy="1090613"/>
          </a:xfrm>
          <a:prstGeom prst="rect">
            <a:avLst/>
          </a:prstGeom>
          <a:noFill/>
          <a:ln/>
        </p:spPr>
      </p:sp>
      <p:pic>
        <p:nvPicPr>
          <p:cNvPr id="8" name="Image 1" descr="preencoded.png">    </p:cNvPr>
          <p:cNvPicPr>
            <a:picLocks noChangeAspect="1"/>
          </p:cNvPicPr>
          <p:nvPr/>
        </p:nvPicPr>
        <p:blipFill>
          <a:blip r:embed="rId2"/>
          <a:srcRect l="0" r="0" t="0" b="0"/>
          <a:stretch/>
        </p:blipFill>
        <p:spPr>
          <a:xfrm>
            <a:off x="2438400" y="2028825"/>
            <a:ext cx="881063" cy="881063"/>
          </a:xfrm>
          <a:prstGeom prst="rect">
            <a:avLst/>
          </a:prstGeom>
        </p:spPr>
      </p:pic>
      <p:sp>
        <p:nvSpPr>
          <p:cNvPr id="9" name="Text 5"/>
          <p:cNvSpPr/>
          <p:nvPr/>
        </p:nvSpPr>
        <p:spPr>
          <a:xfrm>
            <a:off x="2438400" y="3005138"/>
            <a:ext cx="881063" cy="1143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COMPANY</a:t>
            </a:r>
            <a:endParaRPr lang="en-US" sz="784" dirty="0"/>
          </a:p>
        </p:txBody>
      </p:sp>
      <p:sp>
        <p:nvSpPr>
          <p:cNvPr id="10" name="Shape 6"/>
          <p:cNvSpPr/>
          <p:nvPr/>
        </p:nvSpPr>
        <p:spPr>
          <a:xfrm>
            <a:off x="4129088" y="2028825"/>
            <a:ext cx="881063" cy="1090613"/>
          </a:xfrm>
          <a:prstGeom prst="rect">
            <a:avLst/>
          </a:prstGeom>
          <a:noFill/>
          <a:ln/>
        </p:spPr>
      </p:sp>
      <p:pic>
        <p:nvPicPr>
          <p:cNvPr id="11" name="Image 2" descr="preencoded.png">    </p:cNvPr>
          <p:cNvPicPr>
            <a:picLocks noChangeAspect="1"/>
          </p:cNvPicPr>
          <p:nvPr/>
        </p:nvPicPr>
        <p:blipFill>
          <a:blip r:embed="rId3"/>
          <a:srcRect l="0" r="0" t="0" b="0"/>
          <a:stretch/>
        </p:blipFill>
        <p:spPr>
          <a:xfrm>
            <a:off x="4129088" y="2028825"/>
            <a:ext cx="881063" cy="881063"/>
          </a:xfrm>
          <a:prstGeom prst="rect">
            <a:avLst/>
          </a:prstGeom>
        </p:spPr>
      </p:pic>
      <p:sp>
        <p:nvSpPr>
          <p:cNvPr id="12" name="Text 7"/>
          <p:cNvSpPr/>
          <p:nvPr/>
        </p:nvSpPr>
        <p:spPr>
          <a:xfrm>
            <a:off x="4129088" y="3005138"/>
            <a:ext cx="881063" cy="1143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COMPANY</a:t>
            </a:r>
            <a:endParaRPr lang="en-US" sz="784" dirty="0"/>
          </a:p>
        </p:txBody>
      </p:sp>
      <p:sp>
        <p:nvSpPr>
          <p:cNvPr id="13" name="Shape 8"/>
          <p:cNvSpPr/>
          <p:nvPr/>
        </p:nvSpPr>
        <p:spPr>
          <a:xfrm>
            <a:off x="5824538" y="2028825"/>
            <a:ext cx="881063" cy="1090613"/>
          </a:xfrm>
          <a:prstGeom prst="rect">
            <a:avLst/>
          </a:prstGeom>
          <a:noFill/>
          <a:ln/>
        </p:spPr>
      </p:sp>
      <p:pic>
        <p:nvPicPr>
          <p:cNvPr id="14" name="Image 3" descr="preencoded.png">    </p:cNvPr>
          <p:cNvPicPr>
            <a:picLocks noChangeAspect="1"/>
          </p:cNvPicPr>
          <p:nvPr/>
        </p:nvPicPr>
        <p:blipFill>
          <a:blip r:embed="rId4"/>
          <a:srcRect l="0" r="0" t="0" b="0"/>
          <a:stretch/>
        </p:blipFill>
        <p:spPr>
          <a:xfrm>
            <a:off x="5824538" y="2028825"/>
            <a:ext cx="881063" cy="881063"/>
          </a:xfrm>
          <a:prstGeom prst="rect">
            <a:avLst/>
          </a:prstGeom>
        </p:spPr>
      </p:pic>
      <p:sp>
        <p:nvSpPr>
          <p:cNvPr id="15" name="Text 9"/>
          <p:cNvSpPr/>
          <p:nvPr/>
        </p:nvSpPr>
        <p:spPr>
          <a:xfrm>
            <a:off x="5824538" y="3005138"/>
            <a:ext cx="881063" cy="1143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COMPANY</a:t>
            </a:r>
            <a:endParaRPr lang="en-US" sz="784" dirty="0"/>
          </a:p>
        </p:txBody>
      </p:sp>
      <p:sp>
        <p:nvSpPr>
          <p:cNvPr id="16" name="Shape 10"/>
          <p:cNvSpPr/>
          <p:nvPr/>
        </p:nvSpPr>
        <p:spPr>
          <a:xfrm>
            <a:off x="7519988" y="2028825"/>
            <a:ext cx="881063" cy="1090613"/>
          </a:xfrm>
          <a:prstGeom prst="rect">
            <a:avLst/>
          </a:prstGeom>
          <a:noFill/>
          <a:ln/>
        </p:spPr>
      </p:sp>
      <p:pic>
        <p:nvPicPr>
          <p:cNvPr id="17" name="Image 4" descr="preencoded.png">    </p:cNvPr>
          <p:cNvPicPr>
            <a:picLocks noChangeAspect="1"/>
          </p:cNvPicPr>
          <p:nvPr/>
        </p:nvPicPr>
        <p:blipFill>
          <a:blip r:embed="rId5"/>
          <a:srcRect l="0" r="0" t="0" b="0"/>
          <a:stretch/>
        </p:blipFill>
        <p:spPr>
          <a:xfrm>
            <a:off x="7519988" y="2028825"/>
            <a:ext cx="881063" cy="881063"/>
          </a:xfrm>
          <a:prstGeom prst="rect">
            <a:avLst/>
          </a:prstGeom>
        </p:spPr>
      </p:pic>
      <p:sp>
        <p:nvSpPr>
          <p:cNvPr id="18" name="Text 11"/>
          <p:cNvSpPr/>
          <p:nvPr/>
        </p:nvSpPr>
        <p:spPr>
          <a:xfrm>
            <a:off x="7519988" y="3005138"/>
            <a:ext cx="881063" cy="1143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COMPANY</a:t>
            </a:r>
            <a:endParaRPr lang="en-US" sz="784"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000000"/>
          </a:solidFill>
          <a:ln w="4524">
            <a:solidFill>
              <a:srgbClr val="000000"/>
            </a:solidFill>
            <a:prstDash val="solid"/>
          </a:ln>
        </p:spPr>
      </p:sp>
      <p:sp>
        <p:nvSpPr>
          <p:cNvPr id="3" name="Text 1"/>
          <p:cNvSpPr/>
          <p:nvPr/>
        </p:nvSpPr>
        <p:spPr>
          <a:xfrm>
            <a:off x="376238" y="595313"/>
            <a:ext cx="4148137"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FFFFFF">
                    <a:alpha val="99000"/>
                  </a:srgbClr>
                </a:solidFill>
                <a:latin typeface="Roboto" pitchFamily="34" charset="0"/>
                <a:ea typeface="Roboto" pitchFamily="34" charset="-122"/>
                <a:cs typeface="Roboto" pitchFamily="34" charset="-120"/>
              </a:rPr>
              <a:t>These are our top competitors:</a:t>
            </a:r>
            <a:endParaRPr lang="en-US" sz="2494" dirty="0"/>
          </a:p>
        </p:txBody>
      </p:sp>
      <p:sp>
        <p:nvSpPr>
          <p:cNvPr id="4" name="Shape 2"/>
          <p:cNvSpPr/>
          <p:nvPr/>
        </p:nvSpPr>
        <p:spPr>
          <a:xfrm>
            <a:off x="742950" y="2028825"/>
            <a:ext cx="881063" cy="1090613"/>
          </a:xfrm>
          <a:prstGeom prst="rect">
            <a:avLst/>
          </a:prstGeom>
          <a:noFill/>
          <a:ln/>
        </p:spPr>
      </p:sp>
      <p:pic>
        <p:nvPicPr>
          <p:cNvPr id="5" name="Image 0" descr="preencoded.png">    </p:cNvPr>
          <p:cNvPicPr>
            <a:picLocks noChangeAspect="1"/>
          </p:cNvPicPr>
          <p:nvPr/>
        </p:nvPicPr>
        <p:blipFill>
          <a:blip r:embed="rId1"/>
          <a:srcRect l="0" r="0" t="0" b="0"/>
          <a:stretch/>
        </p:blipFill>
        <p:spPr>
          <a:xfrm>
            <a:off x="742950" y="2028825"/>
            <a:ext cx="881063" cy="881063"/>
          </a:xfrm>
          <a:prstGeom prst="rect">
            <a:avLst/>
          </a:prstGeom>
        </p:spPr>
      </p:pic>
      <p:sp>
        <p:nvSpPr>
          <p:cNvPr id="6" name="Text 3"/>
          <p:cNvSpPr/>
          <p:nvPr/>
        </p:nvSpPr>
        <p:spPr>
          <a:xfrm>
            <a:off x="742950" y="3005138"/>
            <a:ext cx="881063" cy="1143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FFFFFF">
                    <a:alpha val="99000"/>
                  </a:srgbClr>
                </a:solidFill>
                <a:latin typeface="Plus Jakarta Sans" pitchFamily="34" charset="0"/>
                <a:ea typeface="Plus Jakarta Sans" pitchFamily="34" charset="-122"/>
                <a:cs typeface="Plus Jakarta Sans" pitchFamily="34" charset="-120"/>
              </a:rPr>
              <a:t>COMPANY</a:t>
            </a:r>
            <a:endParaRPr lang="en-US" sz="784" dirty="0"/>
          </a:p>
        </p:txBody>
      </p:sp>
      <p:sp>
        <p:nvSpPr>
          <p:cNvPr id="7" name="Shape 4"/>
          <p:cNvSpPr/>
          <p:nvPr/>
        </p:nvSpPr>
        <p:spPr>
          <a:xfrm>
            <a:off x="2438400" y="2028825"/>
            <a:ext cx="881063" cy="1090613"/>
          </a:xfrm>
          <a:prstGeom prst="rect">
            <a:avLst/>
          </a:prstGeom>
          <a:noFill/>
          <a:ln/>
        </p:spPr>
      </p:sp>
      <p:pic>
        <p:nvPicPr>
          <p:cNvPr id="8" name="Image 1" descr="preencoded.png">    </p:cNvPr>
          <p:cNvPicPr>
            <a:picLocks noChangeAspect="1"/>
          </p:cNvPicPr>
          <p:nvPr/>
        </p:nvPicPr>
        <p:blipFill>
          <a:blip r:embed="rId2"/>
          <a:srcRect l="0" r="0" t="0" b="0"/>
          <a:stretch/>
        </p:blipFill>
        <p:spPr>
          <a:xfrm>
            <a:off x="2438400" y="2028825"/>
            <a:ext cx="881063" cy="881063"/>
          </a:xfrm>
          <a:prstGeom prst="rect">
            <a:avLst/>
          </a:prstGeom>
        </p:spPr>
      </p:pic>
      <p:sp>
        <p:nvSpPr>
          <p:cNvPr id="9" name="Text 5"/>
          <p:cNvSpPr/>
          <p:nvPr/>
        </p:nvSpPr>
        <p:spPr>
          <a:xfrm>
            <a:off x="2438400" y="3005138"/>
            <a:ext cx="881063" cy="1143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FFFFFF">
                    <a:alpha val="99000"/>
                  </a:srgbClr>
                </a:solidFill>
                <a:latin typeface="Plus Jakarta Sans" pitchFamily="34" charset="0"/>
                <a:ea typeface="Plus Jakarta Sans" pitchFamily="34" charset="-122"/>
                <a:cs typeface="Plus Jakarta Sans" pitchFamily="34" charset="-120"/>
              </a:rPr>
              <a:t>COMPANY</a:t>
            </a:r>
            <a:endParaRPr lang="en-US" sz="784" dirty="0"/>
          </a:p>
        </p:txBody>
      </p:sp>
      <p:sp>
        <p:nvSpPr>
          <p:cNvPr id="10" name="Shape 6"/>
          <p:cNvSpPr/>
          <p:nvPr/>
        </p:nvSpPr>
        <p:spPr>
          <a:xfrm>
            <a:off x="4129088" y="2028825"/>
            <a:ext cx="881063" cy="1090613"/>
          </a:xfrm>
          <a:prstGeom prst="rect">
            <a:avLst/>
          </a:prstGeom>
          <a:noFill/>
          <a:ln/>
        </p:spPr>
      </p:sp>
      <p:pic>
        <p:nvPicPr>
          <p:cNvPr id="11" name="Image 2" descr="preencoded.png">    </p:cNvPr>
          <p:cNvPicPr>
            <a:picLocks noChangeAspect="1"/>
          </p:cNvPicPr>
          <p:nvPr/>
        </p:nvPicPr>
        <p:blipFill>
          <a:blip r:embed="rId3"/>
          <a:srcRect l="0" r="0" t="0" b="0"/>
          <a:stretch/>
        </p:blipFill>
        <p:spPr>
          <a:xfrm>
            <a:off x="4129088" y="2028825"/>
            <a:ext cx="881063" cy="881063"/>
          </a:xfrm>
          <a:prstGeom prst="rect">
            <a:avLst/>
          </a:prstGeom>
        </p:spPr>
      </p:pic>
      <p:sp>
        <p:nvSpPr>
          <p:cNvPr id="12" name="Text 7"/>
          <p:cNvSpPr/>
          <p:nvPr/>
        </p:nvSpPr>
        <p:spPr>
          <a:xfrm>
            <a:off x="4129088" y="3005138"/>
            <a:ext cx="881063" cy="1143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FFFFFF">
                    <a:alpha val="99000"/>
                  </a:srgbClr>
                </a:solidFill>
                <a:latin typeface="Plus Jakarta Sans" pitchFamily="34" charset="0"/>
                <a:ea typeface="Plus Jakarta Sans" pitchFamily="34" charset="-122"/>
                <a:cs typeface="Plus Jakarta Sans" pitchFamily="34" charset="-120"/>
              </a:rPr>
              <a:t>COMPANY</a:t>
            </a:r>
            <a:endParaRPr lang="en-US" sz="784" dirty="0"/>
          </a:p>
        </p:txBody>
      </p:sp>
      <p:sp>
        <p:nvSpPr>
          <p:cNvPr id="13" name="Shape 8"/>
          <p:cNvSpPr/>
          <p:nvPr/>
        </p:nvSpPr>
        <p:spPr>
          <a:xfrm>
            <a:off x="5824538" y="2028825"/>
            <a:ext cx="881063" cy="1090613"/>
          </a:xfrm>
          <a:prstGeom prst="rect">
            <a:avLst/>
          </a:prstGeom>
          <a:noFill/>
          <a:ln/>
        </p:spPr>
      </p:sp>
      <p:pic>
        <p:nvPicPr>
          <p:cNvPr id="14" name="Image 3" descr="preencoded.png">    </p:cNvPr>
          <p:cNvPicPr>
            <a:picLocks noChangeAspect="1"/>
          </p:cNvPicPr>
          <p:nvPr/>
        </p:nvPicPr>
        <p:blipFill>
          <a:blip r:embed="rId4"/>
          <a:srcRect l="0" r="0" t="0" b="0"/>
          <a:stretch/>
        </p:blipFill>
        <p:spPr>
          <a:xfrm>
            <a:off x="5824538" y="2028825"/>
            <a:ext cx="881063" cy="881063"/>
          </a:xfrm>
          <a:prstGeom prst="rect">
            <a:avLst/>
          </a:prstGeom>
        </p:spPr>
      </p:pic>
      <p:sp>
        <p:nvSpPr>
          <p:cNvPr id="15" name="Text 9"/>
          <p:cNvSpPr/>
          <p:nvPr/>
        </p:nvSpPr>
        <p:spPr>
          <a:xfrm>
            <a:off x="5824538" y="3005138"/>
            <a:ext cx="881063" cy="1143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FFFFFF">
                    <a:alpha val="99000"/>
                  </a:srgbClr>
                </a:solidFill>
                <a:latin typeface="Plus Jakarta Sans" pitchFamily="34" charset="0"/>
                <a:ea typeface="Plus Jakarta Sans" pitchFamily="34" charset="-122"/>
                <a:cs typeface="Plus Jakarta Sans" pitchFamily="34" charset="-120"/>
              </a:rPr>
              <a:t>COMPANY</a:t>
            </a:r>
            <a:endParaRPr lang="en-US" sz="784" dirty="0"/>
          </a:p>
        </p:txBody>
      </p:sp>
      <p:sp>
        <p:nvSpPr>
          <p:cNvPr id="16" name="Shape 10"/>
          <p:cNvSpPr/>
          <p:nvPr/>
        </p:nvSpPr>
        <p:spPr>
          <a:xfrm>
            <a:off x="7519988" y="2028825"/>
            <a:ext cx="881063" cy="1090613"/>
          </a:xfrm>
          <a:prstGeom prst="rect">
            <a:avLst/>
          </a:prstGeom>
          <a:noFill/>
          <a:ln/>
        </p:spPr>
      </p:sp>
      <p:pic>
        <p:nvPicPr>
          <p:cNvPr id="17" name="Image 4" descr="preencoded.png">    </p:cNvPr>
          <p:cNvPicPr>
            <a:picLocks noChangeAspect="1"/>
          </p:cNvPicPr>
          <p:nvPr/>
        </p:nvPicPr>
        <p:blipFill>
          <a:blip r:embed="rId5"/>
          <a:srcRect l="0" r="0" t="0" b="0"/>
          <a:stretch/>
        </p:blipFill>
        <p:spPr>
          <a:xfrm>
            <a:off x="7519988" y="2028825"/>
            <a:ext cx="881063" cy="881063"/>
          </a:xfrm>
          <a:prstGeom prst="rect">
            <a:avLst/>
          </a:prstGeom>
        </p:spPr>
      </p:pic>
      <p:sp>
        <p:nvSpPr>
          <p:cNvPr id="18" name="Text 11"/>
          <p:cNvSpPr/>
          <p:nvPr/>
        </p:nvSpPr>
        <p:spPr>
          <a:xfrm>
            <a:off x="7519988" y="3005138"/>
            <a:ext cx="881063" cy="1143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FFFFFF">
                    <a:alpha val="99000"/>
                  </a:srgbClr>
                </a:solidFill>
                <a:latin typeface="Plus Jakarta Sans" pitchFamily="34" charset="0"/>
                <a:ea typeface="Plus Jakarta Sans" pitchFamily="34" charset="-122"/>
                <a:cs typeface="Plus Jakarta Sans" pitchFamily="34" charset="-120"/>
              </a:rPr>
              <a:t>COMPANY</a:t>
            </a:r>
            <a:endParaRPr lang="en-US" sz="784"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FFFFF"/>
          </a:solidFill>
          <a:ln w="4524">
            <a:solidFill>
              <a:srgbClr val="FFFFFF"/>
            </a:solidFill>
            <a:prstDash val="solid"/>
          </a:ln>
        </p:spPr>
      </p:sp>
      <p:pic>
        <p:nvPicPr>
          <p:cNvPr id="3" name="Image 0" descr="preencoded.png">    </p:cNvPr>
          <p:cNvPicPr>
            <a:picLocks noChangeAspect="1"/>
          </p:cNvPicPr>
          <p:nvPr/>
        </p:nvPicPr>
        <p:blipFill>
          <a:blip r:embed="rId1"/>
          <a:srcRect l="0" r="0" t="0" b="49"/>
          <a:stretch/>
        </p:blipFill>
        <p:spPr>
          <a:xfrm>
            <a:off x="90487" y="240508"/>
            <a:ext cx="8960644" cy="4812504"/>
          </a:xfrm>
          <a:prstGeom prst="rect">
            <a:avLst/>
          </a:prstGeom>
        </p:spPr>
      </p:pic>
      <p:pic>
        <p:nvPicPr>
          <p:cNvPr id="4" name="Image 1" descr="preencoded.png">    </p:cNvPr>
          <p:cNvPicPr>
            <a:picLocks noChangeAspect="1"/>
          </p:cNvPicPr>
          <p:nvPr/>
        </p:nvPicPr>
        <p:blipFill>
          <a:blip r:embed="rId2"/>
          <a:srcRect l="0" r="0" t="0" b="0"/>
          <a:stretch/>
        </p:blipFill>
        <p:spPr>
          <a:xfrm>
            <a:off x="1423988" y="904875"/>
            <a:ext cx="881063" cy="881063"/>
          </a:xfrm>
          <a:prstGeom prst="rect">
            <a:avLst/>
          </a:prstGeom>
        </p:spPr>
      </p:pic>
      <p:pic>
        <p:nvPicPr>
          <p:cNvPr id="5" name="Image 2" descr="preencoded.png">    </p:cNvPr>
          <p:cNvPicPr>
            <a:picLocks noChangeAspect="1"/>
          </p:cNvPicPr>
          <p:nvPr/>
        </p:nvPicPr>
        <p:blipFill>
          <a:blip r:embed="rId3"/>
          <a:srcRect l="0" r="0" t="0" b="0"/>
          <a:stretch/>
        </p:blipFill>
        <p:spPr>
          <a:xfrm>
            <a:off x="2252663" y="3443288"/>
            <a:ext cx="881063" cy="881063"/>
          </a:xfrm>
          <a:prstGeom prst="rect">
            <a:avLst/>
          </a:prstGeom>
        </p:spPr>
      </p:pic>
      <p:pic>
        <p:nvPicPr>
          <p:cNvPr id="6" name="Image 3" descr="preencoded.png">    </p:cNvPr>
          <p:cNvPicPr>
            <a:picLocks noChangeAspect="1"/>
          </p:cNvPicPr>
          <p:nvPr/>
        </p:nvPicPr>
        <p:blipFill>
          <a:blip r:embed="rId4"/>
          <a:srcRect l="0" r="0" t="0" b="0"/>
          <a:stretch/>
        </p:blipFill>
        <p:spPr>
          <a:xfrm>
            <a:off x="6500813" y="3443288"/>
            <a:ext cx="881063" cy="881063"/>
          </a:xfrm>
          <a:prstGeom prst="rect">
            <a:avLst/>
          </a:prstGeom>
        </p:spPr>
      </p:pic>
      <p:pic>
        <p:nvPicPr>
          <p:cNvPr id="7" name="Image 4" descr="preencoded.png">    </p:cNvPr>
          <p:cNvPicPr>
            <a:picLocks noChangeAspect="1"/>
          </p:cNvPicPr>
          <p:nvPr/>
        </p:nvPicPr>
        <p:blipFill>
          <a:blip r:embed="rId5"/>
          <a:srcRect l="0" r="0" t="0" b="0"/>
          <a:stretch/>
        </p:blipFill>
        <p:spPr>
          <a:xfrm>
            <a:off x="6672263" y="685800"/>
            <a:ext cx="881063" cy="881063"/>
          </a:xfrm>
          <a:prstGeom prst="rect">
            <a:avLst/>
          </a:prstGeom>
        </p:spPr>
      </p:pic>
      <p:sp>
        <p:nvSpPr>
          <p:cNvPr id="8" name="Text 1"/>
          <p:cNvSpPr/>
          <p:nvPr/>
        </p:nvSpPr>
        <p:spPr>
          <a:xfrm>
            <a:off x="3124200" y="2024062"/>
            <a:ext cx="2914650" cy="1100138"/>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Roboto" pitchFamily="34" charset="0"/>
                <a:ea typeface="Roboto" pitchFamily="34" charset="-122"/>
                <a:cs typeface="Roboto" pitchFamily="34" charset="-120"/>
              </a:rPr>
              <a:t>Here’s where the feature sits in our matrix.</a:t>
            </a:r>
            <a:endParaRPr lang="en-US" sz="2494" dirty="0"/>
          </a:p>
        </p:txBody>
      </p:sp>
      <p:sp>
        <p:nvSpPr>
          <p:cNvPr id="9" name="Text 2"/>
          <p:cNvSpPr/>
          <p:nvPr/>
        </p:nvSpPr>
        <p:spPr>
          <a:xfrm>
            <a:off x="3771900" y="314325"/>
            <a:ext cx="685800"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HIGH VALUE</a:t>
            </a:r>
            <a:endParaRPr lang="en-US" sz="784" dirty="0"/>
          </a:p>
        </p:txBody>
      </p:sp>
      <p:sp>
        <p:nvSpPr>
          <p:cNvPr id="10" name="Text 3"/>
          <p:cNvSpPr/>
          <p:nvPr/>
        </p:nvSpPr>
        <p:spPr>
          <a:xfrm>
            <a:off x="4662488" y="4862513"/>
            <a:ext cx="661988"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LOW VALUE</a:t>
            </a:r>
            <a:endParaRPr lang="en-US" sz="784" dirty="0"/>
          </a:p>
        </p:txBody>
      </p:sp>
      <p:sp>
        <p:nvSpPr>
          <p:cNvPr id="11" name="Text 4"/>
          <p:cNvSpPr/>
          <p:nvPr/>
        </p:nvSpPr>
        <p:spPr>
          <a:xfrm>
            <a:off x="166688" y="2647950"/>
            <a:ext cx="762000"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HIGH EFFORT</a:t>
            </a:r>
            <a:endParaRPr lang="en-US" sz="784" dirty="0"/>
          </a:p>
        </p:txBody>
      </p:sp>
      <p:sp>
        <p:nvSpPr>
          <p:cNvPr id="12" name="Text 5"/>
          <p:cNvSpPr/>
          <p:nvPr/>
        </p:nvSpPr>
        <p:spPr>
          <a:xfrm>
            <a:off x="8243888" y="2647950"/>
            <a:ext cx="733425"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LOW EFFORT</a:t>
            </a:r>
            <a:endParaRPr lang="en-US" sz="784"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000000"/>
          </a:solidFill>
          <a:ln w="4524">
            <a:solidFill>
              <a:srgbClr val="000000"/>
            </a:solidFill>
            <a:prstDash val="solid"/>
          </a:ln>
        </p:spPr>
      </p:sp>
      <p:pic>
        <p:nvPicPr>
          <p:cNvPr id="3" name="Image 0" descr="preencoded.png">    </p:cNvPr>
          <p:cNvPicPr>
            <a:picLocks noChangeAspect="1"/>
          </p:cNvPicPr>
          <p:nvPr/>
        </p:nvPicPr>
        <p:blipFill>
          <a:blip r:embed="rId1"/>
          <a:srcRect l="0" r="0" t="0" b="49"/>
          <a:stretch/>
        </p:blipFill>
        <p:spPr>
          <a:xfrm>
            <a:off x="90487" y="240508"/>
            <a:ext cx="8960644" cy="4812504"/>
          </a:xfrm>
          <a:prstGeom prst="rect">
            <a:avLst/>
          </a:prstGeom>
        </p:spPr>
      </p:pic>
      <p:pic>
        <p:nvPicPr>
          <p:cNvPr id="4" name="Image 1" descr="preencoded.png">    </p:cNvPr>
          <p:cNvPicPr>
            <a:picLocks noChangeAspect="1"/>
          </p:cNvPicPr>
          <p:nvPr/>
        </p:nvPicPr>
        <p:blipFill>
          <a:blip r:embed="rId2"/>
          <a:srcRect l="0" r="0" t="0" b="0"/>
          <a:stretch/>
        </p:blipFill>
        <p:spPr>
          <a:xfrm>
            <a:off x="1423988" y="904875"/>
            <a:ext cx="881063" cy="881063"/>
          </a:xfrm>
          <a:prstGeom prst="rect">
            <a:avLst/>
          </a:prstGeom>
        </p:spPr>
      </p:pic>
      <p:pic>
        <p:nvPicPr>
          <p:cNvPr id="5" name="Image 2" descr="preencoded.png">    </p:cNvPr>
          <p:cNvPicPr>
            <a:picLocks noChangeAspect="1"/>
          </p:cNvPicPr>
          <p:nvPr/>
        </p:nvPicPr>
        <p:blipFill>
          <a:blip r:embed="rId3"/>
          <a:srcRect l="0" r="0" t="0" b="0"/>
          <a:stretch/>
        </p:blipFill>
        <p:spPr>
          <a:xfrm>
            <a:off x="2252663" y="3443288"/>
            <a:ext cx="881063" cy="881063"/>
          </a:xfrm>
          <a:prstGeom prst="rect">
            <a:avLst/>
          </a:prstGeom>
        </p:spPr>
      </p:pic>
      <p:pic>
        <p:nvPicPr>
          <p:cNvPr id="6" name="Image 3" descr="preencoded.png">    </p:cNvPr>
          <p:cNvPicPr>
            <a:picLocks noChangeAspect="1"/>
          </p:cNvPicPr>
          <p:nvPr/>
        </p:nvPicPr>
        <p:blipFill>
          <a:blip r:embed="rId4"/>
          <a:srcRect l="0" r="0" t="0" b="0"/>
          <a:stretch/>
        </p:blipFill>
        <p:spPr>
          <a:xfrm>
            <a:off x="6500813" y="3443288"/>
            <a:ext cx="881063" cy="881063"/>
          </a:xfrm>
          <a:prstGeom prst="rect">
            <a:avLst/>
          </a:prstGeom>
        </p:spPr>
      </p:pic>
      <p:pic>
        <p:nvPicPr>
          <p:cNvPr id="7" name="Image 4" descr="preencoded.png">    </p:cNvPr>
          <p:cNvPicPr>
            <a:picLocks noChangeAspect="1"/>
          </p:cNvPicPr>
          <p:nvPr/>
        </p:nvPicPr>
        <p:blipFill>
          <a:blip r:embed="rId5"/>
          <a:srcRect l="0" r="0" t="0" b="0"/>
          <a:stretch/>
        </p:blipFill>
        <p:spPr>
          <a:xfrm>
            <a:off x="6672263" y="685800"/>
            <a:ext cx="881063" cy="881063"/>
          </a:xfrm>
          <a:prstGeom prst="rect">
            <a:avLst/>
          </a:prstGeom>
        </p:spPr>
      </p:pic>
      <p:sp>
        <p:nvSpPr>
          <p:cNvPr id="8" name="Text 1"/>
          <p:cNvSpPr/>
          <p:nvPr/>
        </p:nvSpPr>
        <p:spPr>
          <a:xfrm>
            <a:off x="3124200" y="2024062"/>
            <a:ext cx="2914650" cy="1100138"/>
          </a:xfrm>
          <a:prstGeom prst="rect">
            <a:avLst/>
          </a:prstGeom>
          <a:noFill/>
          <a:ln/>
        </p:spPr>
        <p:txBody>
          <a:bodyPr wrap="square" lIns="0" tIns="0" rIns="0" bIns="0" rtlCol="0" anchor="t"/>
          <a:lstStyle/>
          <a:p>
            <a:pPr algn="ctr" indent="0" marL="0">
              <a:lnSpc>
                <a:spcPts val="2743"/>
              </a:lnSpc>
              <a:buNone/>
            </a:pPr>
            <a:r>
              <a:rPr lang="en-US" sz="2494" spc="-55" kern="0" dirty="0">
                <a:solidFill>
                  <a:srgbClr val="FFFFFF">
                    <a:alpha val="99000"/>
                  </a:srgbClr>
                </a:solidFill>
                <a:latin typeface="Roboto" pitchFamily="34" charset="0"/>
                <a:ea typeface="Roboto" pitchFamily="34" charset="-122"/>
                <a:cs typeface="Roboto" pitchFamily="34" charset="-120"/>
              </a:rPr>
              <a:t>Here’s where the feature sits in our matrix.</a:t>
            </a:r>
            <a:endParaRPr lang="en-US" sz="2494" dirty="0"/>
          </a:p>
        </p:txBody>
      </p:sp>
      <p:sp>
        <p:nvSpPr>
          <p:cNvPr id="9" name="Text 2"/>
          <p:cNvSpPr/>
          <p:nvPr/>
        </p:nvSpPr>
        <p:spPr>
          <a:xfrm>
            <a:off x="3757613" y="314325"/>
            <a:ext cx="685800"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FFFFFF">
                    <a:alpha val="99000"/>
                  </a:srgbClr>
                </a:solidFill>
                <a:latin typeface="Plus Jakarta Sans" pitchFamily="34" charset="0"/>
                <a:ea typeface="Plus Jakarta Sans" pitchFamily="34" charset="-122"/>
                <a:cs typeface="Plus Jakarta Sans" pitchFamily="34" charset="-120"/>
              </a:rPr>
              <a:t>HIGH VALUE</a:t>
            </a:r>
            <a:endParaRPr lang="en-US" sz="784" dirty="0"/>
          </a:p>
        </p:txBody>
      </p:sp>
      <p:sp>
        <p:nvSpPr>
          <p:cNvPr id="10" name="Text 3"/>
          <p:cNvSpPr/>
          <p:nvPr/>
        </p:nvSpPr>
        <p:spPr>
          <a:xfrm>
            <a:off x="4691063" y="4862513"/>
            <a:ext cx="661988"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FFFFFF">
                    <a:alpha val="99000"/>
                  </a:srgbClr>
                </a:solidFill>
                <a:latin typeface="Plus Jakarta Sans" pitchFamily="34" charset="0"/>
                <a:ea typeface="Plus Jakarta Sans" pitchFamily="34" charset="-122"/>
                <a:cs typeface="Plus Jakarta Sans" pitchFamily="34" charset="-120"/>
              </a:rPr>
              <a:t>LOW VALUE</a:t>
            </a:r>
            <a:endParaRPr lang="en-US" sz="784" dirty="0"/>
          </a:p>
        </p:txBody>
      </p:sp>
      <p:sp>
        <p:nvSpPr>
          <p:cNvPr id="11" name="Text 4"/>
          <p:cNvSpPr/>
          <p:nvPr/>
        </p:nvSpPr>
        <p:spPr>
          <a:xfrm>
            <a:off x="166688" y="2647950"/>
            <a:ext cx="762000" cy="114300"/>
          </a:xfrm>
          <a:prstGeom prst="rect">
            <a:avLst/>
          </a:prstGeom>
          <a:noFill/>
          <a:ln/>
        </p:spPr>
        <p:txBody>
          <a:bodyPr wrap="square" lIns="0" tIns="0" rIns="0" bIns="0" rtlCol="0" anchor="t"/>
          <a:lstStyle/>
          <a:p>
            <a:pPr algn="l" indent="0" marL="0">
              <a:lnSpc>
                <a:spcPts val="862"/>
              </a:lnSpc>
              <a:buNone/>
            </a:pPr>
            <a:r>
              <a:rPr lang="en-US" sz="784" b="1" spc="55" kern="0" dirty="0">
                <a:solidFill>
                  <a:srgbClr val="FFFFFF">
                    <a:alpha val="99000"/>
                  </a:srgbClr>
                </a:solidFill>
                <a:latin typeface="Plus Jakarta Sans" pitchFamily="34" charset="0"/>
                <a:ea typeface="Plus Jakarta Sans" pitchFamily="34" charset="-122"/>
                <a:cs typeface="Plus Jakarta Sans" pitchFamily="34" charset="-120"/>
              </a:rPr>
              <a:t>HIGH EFFORT</a:t>
            </a:r>
            <a:endParaRPr lang="en-US" sz="784" dirty="0"/>
          </a:p>
        </p:txBody>
      </p:sp>
      <p:sp>
        <p:nvSpPr>
          <p:cNvPr id="12" name="Text 5"/>
          <p:cNvSpPr/>
          <p:nvPr/>
        </p:nvSpPr>
        <p:spPr>
          <a:xfrm>
            <a:off x="8243888" y="2647950"/>
            <a:ext cx="733425" cy="114300"/>
          </a:xfrm>
          <a:prstGeom prst="rect">
            <a:avLst/>
          </a:prstGeom>
          <a:noFill/>
          <a:ln/>
        </p:spPr>
        <p:txBody>
          <a:bodyPr wrap="square" lIns="0" tIns="0" rIns="0" bIns="0" rtlCol="0" anchor="t"/>
          <a:lstStyle/>
          <a:p>
            <a:pPr algn="r" indent="0" marL="0">
              <a:lnSpc>
                <a:spcPts val="862"/>
              </a:lnSpc>
              <a:buNone/>
            </a:pPr>
            <a:r>
              <a:rPr lang="en-US" sz="784" b="1" spc="55" kern="0" dirty="0">
                <a:solidFill>
                  <a:srgbClr val="FFFFFF">
                    <a:alpha val="99000"/>
                  </a:srgbClr>
                </a:solidFill>
                <a:latin typeface="Plus Jakarta Sans" pitchFamily="34" charset="0"/>
                <a:ea typeface="Plus Jakarta Sans" pitchFamily="34" charset="-122"/>
                <a:cs typeface="Plus Jakarta Sans" pitchFamily="34" charset="-120"/>
              </a:rPr>
              <a:t>LOW EFFORT</a:t>
            </a:r>
            <a:endParaRPr lang="en-US" sz="784"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FFFFFF"/>
          </a:solidFill>
          <a:ln/>
        </p:spPr>
      </p:sp>
      <p:sp>
        <p:nvSpPr>
          <p:cNvPr id="4" name="Text 1"/>
          <p:cNvSpPr/>
          <p:nvPr/>
        </p:nvSpPr>
        <p:spPr>
          <a:xfrm>
            <a:off x="3957638" y="1385888"/>
            <a:ext cx="4886325" cy="3667125"/>
          </a:xfrm>
          <a:prstGeom prst="rect">
            <a:avLst/>
          </a:prstGeom>
          <a:noFill/>
          <a:ln/>
        </p:spPr>
        <p:txBody>
          <a:bodyPr wrap="square" lIns="0" tIns="0" rIns="0" bIns="0" rtlCol="0" anchor="t"/>
          <a:lstStyle/>
          <a:p>
            <a:pPr algn="r" indent="0" marL="0">
              <a:lnSpc>
                <a:spcPts val="27431"/>
              </a:lnSpc>
              <a:buNone/>
            </a:pPr>
            <a:r>
              <a:rPr lang="en-US" sz="24938" spc="-1247" kern="0" dirty="0">
                <a:solidFill>
                  <a:srgbClr val="000000"/>
                </a:solidFill>
                <a:latin typeface="IBM Plex Sans" pitchFamily="34" charset="0"/>
                <a:ea typeface="IBM Plex Sans" pitchFamily="34" charset="-122"/>
                <a:cs typeface="IBM Plex Sans" pitchFamily="34" charset="-120"/>
              </a:rPr>
              <a:t>03</a:t>
            </a:r>
            <a:endParaRPr lang="en-US" sz="24938" dirty="0"/>
          </a:p>
        </p:txBody>
      </p:sp>
      <p:sp>
        <p:nvSpPr>
          <p:cNvPr id="5" name="Text 2"/>
          <p:cNvSpPr/>
          <p:nvPr/>
        </p:nvSpPr>
        <p:spPr>
          <a:xfrm>
            <a:off x="647700" y="1047750"/>
            <a:ext cx="3786188" cy="1571625"/>
          </a:xfrm>
          <a:prstGeom prst="rect">
            <a:avLst/>
          </a:prstGeom>
          <a:noFill/>
          <a:ln/>
        </p:spPr>
        <p:txBody>
          <a:bodyPr wrap="square" lIns="0" tIns="0" rIns="0" bIns="0" rtlCol="0" anchor="t"/>
          <a:lstStyle/>
          <a:p>
            <a:pPr algn="l" indent="0" marL="0">
              <a:lnSpc>
                <a:spcPts val="5878"/>
              </a:lnSpc>
              <a:buNone/>
            </a:pPr>
            <a:r>
              <a:rPr lang="en-US" sz="5344" b="1" dirty="0">
                <a:solidFill>
                  <a:srgbClr val="000000">
                    <a:alpha val="99000"/>
                  </a:srgbClr>
                </a:solidFill>
                <a:latin typeface="IBM Plex Sans" pitchFamily="34" charset="0"/>
                <a:ea typeface="IBM Plex Sans" pitchFamily="34" charset="-122"/>
                <a:cs typeface="IBM Plex Sans" pitchFamily="34" charset="-120"/>
              </a:rPr>
              <a:t>Strategy </a:t>
            </a:r>
            <a:endParaRPr lang="en-US" sz="5344" dirty="0"/>
          </a:p>
          <a:p>
            <a:pPr algn="l" indent="0" marL="0">
              <a:lnSpc>
                <a:spcPts val="5878"/>
              </a:lnSpc>
              <a:buNone/>
            </a:pPr>
            <a:r>
              <a:rPr lang="en-US" sz="5344" b="1" dirty="0">
                <a:solidFill>
                  <a:srgbClr val="000000">
                    <a:alpha val="99000"/>
                  </a:srgbClr>
                </a:solidFill>
                <a:latin typeface="IBM Plex Sans" pitchFamily="34" charset="0"/>
                <a:ea typeface="IBM Plex Sans" pitchFamily="34" charset="-122"/>
                <a:cs typeface="IBM Plex Sans" pitchFamily="34" charset="-120"/>
              </a:rPr>
              <a:t>&amp;Process</a:t>
            </a:r>
            <a:endParaRPr lang="en-US" sz="5344"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000000"/>
          </a:solidFill>
          <a:ln/>
        </p:spPr>
      </p:sp>
      <p:sp>
        <p:nvSpPr>
          <p:cNvPr id="3" name="Text 1"/>
          <p:cNvSpPr/>
          <p:nvPr/>
        </p:nvSpPr>
        <p:spPr>
          <a:xfrm>
            <a:off x="3957638" y="1385888"/>
            <a:ext cx="4886325" cy="3667125"/>
          </a:xfrm>
          <a:prstGeom prst="rect">
            <a:avLst/>
          </a:prstGeom>
          <a:noFill/>
          <a:ln/>
        </p:spPr>
        <p:txBody>
          <a:bodyPr wrap="square" lIns="0" tIns="0" rIns="0" bIns="0" rtlCol="0" anchor="t"/>
          <a:lstStyle/>
          <a:p>
            <a:pPr algn="r" indent="0" marL="0">
              <a:lnSpc>
                <a:spcPts val="27431"/>
              </a:lnSpc>
              <a:buNone/>
            </a:pPr>
            <a:r>
              <a:rPr lang="en-US" sz="24938" spc="-1247" kern="0" dirty="0">
                <a:solidFill>
                  <a:srgbClr val="000000"/>
                </a:solidFill>
                <a:latin typeface="IBM Plex Sans" pitchFamily="34" charset="0"/>
                <a:ea typeface="IBM Plex Sans" pitchFamily="34" charset="-122"/>
                <a:cs typeface="IBM Plex Sans" pitchFamily="34" charset="-120"/>
              </a:rPr>
              <a:t>03</a:t>
            </a:r>
            <a:endParaRPr lang="en-US" sz="24938" dirty="0"/>
          </a:p>
        </p:txBody>
      </p:sp>
      <p:sp>
        <p:nvSpPr>
          <p:cNvPr id="4" name="Text 2"/>
          <p:cNvSpPr/>
          <p:nvPr/>
        </p:nvSpPr>
        <p:spPr>
          <a:xfrm>
            <a:off x="623888" y="1047750"/>
            <a:ext cx="3786188" cy="1571625"/>
          </a:xfrm>
          <a:prstGeom prst="rect">
            <a:avLst/>
          </a:prstGeom>
          <a:noFill/>
          <a:ln/>
        </p:spPr>
        <p:txBody>
          <a:bodyPr wrap="square" lIns="0" tIns="0" rIns="0" bIns="0" rtlCol="0" anchor="t"/>
          <a:lstStyle/>
          <a:p>
            <a:pPr algn="l" indent="0" marL="0">
              <a:lnSpc>
                <a:spcPts val="5878"/>
              </a:lnSpc>
              <a:buNone/>
            </a:pPr>
            <a:r>
              <a:rPr lang="en-US" sz="5344" b="1" dirty="0">
                <a:solidFill>
                  <a:srgbClr val="FFFFFF">
                    <a:alpha val="99000"/>
                  </a:srgbClr>
                </a:solidFill>
                <a:latin typeface="IBM Plex Sans" pitchFamily="34" charset="0"/>
                <a:ea typeface="IBM Plex Sans" pitchFamily="34" charset="-122"/>
                <a:cs typeface="IBM Plex Sans" pitchFamily="34" charset="-120"/>
              </a:rPr>
              <a:t>Strategy </a:t>
            </a:r>
            <a:endParaRPr lang="en-US" sz="5344" dirty="0"/>
          </a:p>
          <a:p>
            <a:pPr algn="l" indent="0" marL="0">
              <a:lnSpc>
                <a:spcPts val="5878"/>
              </a:lnSpc>
              <a:buNone/>
            </a:pPr>
            <a:r>
              <a:rPr lang="en-US" sz="5344" b="1" dirty="0">
                <a:solidFill>
                  <a:srgbClr val="FFFFFF">
                    <a:alpha val="99000"/>
                  </a:srgbClr>
                </a:solidFill>
                <a:latin typeface="IBM Plex Sans" pitchFamily="34" charset="0"/>
                <a:ea typeface="IBM Plex Sans" pitchFamily="34" charset="-122"/>
                <a:cs typeface="IBM Plex Sans" pitchFamily="34" charset="-120"/>
              </a:rPr>
              <a:t>&amp;Process</a:t>
            </a:r>
            <a:endParaRPr lang="en-US" sz="5344"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488" y="233362"/>
            <a:ext cx="8963025" cy="4814888"/>
          </a:xfrm>
          <a:prstGeom prst="roundRect">
            <a:avLst>
              <a:gd name="adj" fmla="val 2849"/>
            </a:avLst>
          </a:prstGeom>
          <a:solidFill>
            <a:srgbClr val="FFFFFF"/>
          </a:solidFill>
          <a:ln/>
        </p:spPr>
      </p:sp>
      <p:sp>
        <p:nvSpPr>
          <p:cNvPr id="3" name="Shape 1"/>
          <p:cNvSpPr/>
          <p:nvPr/>
        </p:nvSpPr>
        <p:spPr>
          <a:xfrm>
            <a:off x="638175" y="1938337"/>
            <a:ext cx="2486025" cy="1619250"/>
          </a:xfrm>
          <a:prstGeom prst="rect">
            <a:avLst/>
          </a:prstGeom>
          <a:noFill/>
          <a:ln/>
        </p:spPr>
      </p:sp>
      <p:sp>
        <p:nvSpPr>
          <p:cNvPr id="4" name="Text 2"/>
          <p:cNvSpPr/>
          <p:nvPr/>
        </p:nvSpPr>
        <p:spPr>
          <a:xfrm>
            <a:off x="638175" y="1938337"/>
            <a:ext cx="2486025"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Roboto" pitchFamily="34" charset="0"/>
                <a:ea typeface="Roboto" pitchFamily="34" charset="-122"/>
                <a:cs typeface="Roboto" pitchFamily="34" charset="-120"/>
              </a:rPr>
              <a:t>Highlight some </a:t>
            </a:r>
            <a:pPr algn="l" indent="0" marL="0">
              <a:lnSpc>
                <a:spcPts val="2743"/>
              </a:lnSpc>
              <a:buNone/>
            </a:pPr>
            <a:r>
              <a:rPr lang="en-US" sz="2494" spc="-55" kern="0" dirty="0">
                <a:solidFill>
                  <a:srgbClr val="000000">
                    <a:alpha val="99000"/>
                  </a:srgbClr>
                </a:solidFill>
                <a:latin typeface="Roboto" pitchFamily="34" charset="0"/>
                <a:ea typeface="Roboto" pitchFamily="34" charset="-122"/>
                <a:cs typeface="Roboto" pitchFamily="34" charset="-120"/>
              </a:rPr>
              <a:t>key metrics</a:t>
            </a:r>
            <a:endParaRPr lang="en-US" sz="2494" dirty="0"/>
          </a:p>
        </p:txBody>
      </p:sp>
      <p:sp>
        <p:nvSpPr>
          <p:cNvPr id="5" name="Text 3"/>
          <p:cNvSpPr/>
          <p:nvPr/>
        </p:nvSpPr>
        <p:spPr>
          <a:xfrm>
            <a:off x="638175" y="2786063"/>
            <a:ext cx="2486025" cy="771525"/>
          </a:xfrm>
          <a:prstGeom prst="rect">
            <a:avLst/>
          </a:prstGeom>
          <a:noFill/>
          <a:ln/>
        </p:spPr>
        <p:txBody>
          <a:bodyPr wrap="square" lIns="0" tIns="0" rIns="0" bIns="0" rtlCol="0" anchor="t"/>
          <a:lstStyle/>
          <a:p>
            <a:pPr algn="l" indent="0" marL="0">
              <a:lnSpc>
                <a:spcPts val="1924"/>
              </a:lnSpc>
              <a:buNone/>
            </a:pPr>
            <a:r>
              <a:rPr lang="en-US" sz="1283" spc="-28" kern="0" dirty="0">
                <a:solidFill>
                  <a:srgbClr val="000000">
                    <a:alpha val="99000"/>
                  </a:srgbClr>
                </a:solidFill>
                <a:latin typeface="Roboto" pitchFamily="34" charset="0"/>
                <a:ea typeface="Roboto" pitchFamily="34" charset="-122"/>
                <a:cs typeface="Roboto" pitchFamily="34" charset="-120"/>
              </a:rPr>
              <a:t>Explain why these numbers are important, and what role they play in the success of your product.</a:t>
            </a:r>
            <a:endParaRPr lang="en-US" sz="1283" dirty="0"/>
          </a:p>
        </p:txBody>
      </p:sp>
      <p:sp>
        <p:nvSpPr>
          <p:cNvPr id="6" name="Shape 4"/>
          <p:cNvSpPr/>
          <p:nvPr/>
        </p:nvSpPr>
        <p:spPr>
          <a:xfrm>
            <a:off x="4067175" y="1000125"/>
            <a:ext cx="2119313" cy="1119188"/>
          </a:xfrm>
          <a:prstGeom prst="rect">
            <a:avLst/>
          </a:prstGeom>
          <a:noFill/>
          <a:ln/>
        </p:spPr>
      </p:sp>
      <p:sp>
        <p:nvSpPr>
          <p:cNvPr id="7" name="Text 5"/>
          <p:cNvSpPr/>
          <p:nvPr/>
        </p:nvSpPr>
        <p:spPr>
          <a:xfrm>
            <a:off x="4067175" y="1000125"/>
            <a:ext cx="2119313" cy="785813"/>
          </a:xfrm>
          <a:prstGeom prst="rect">
            <a:avLst/>
          </a:prstGeom>
          <a:noFill/>
          <a:ln/>
        </p:spPr>
        <p:txBody>
          <a:bodyPr wrap="square" lIns="0" tIns="0" rIns="0" bIns="0" rtlCol="0" anchor="t"/>
          <a:lstStyle/>
          <a:p>
            <a:pPr algn="ctr" indent="0" marL="0">
              <a:lnSpc>
                <a:spcPts val="5878"/>
              </a:lnSpc>
              <a:buNone/>
            </a:pPr>
            <a:r>
              <a:rPr lang="en-US" sz="5344" dirty="0">
                <a:solidFill>
                  <a:srgbClr val="000000">
                    <a:alpha val="99000"/>
                  </a:srgbClr>
                </a:solidFill>
                <a:latin typeface="Roboto" pitchFamily="34" charset="0"/>
                <a:ea typeface="Roboto" pitchFamily="34" charset="-122"/>
                <a:cs typeface="Roboto" pitchFamily="34" charset="-120"/>
              </a:rPr>
              <a:t>$XX</a:t>
            </a:r>
            <a:endParaRPr lang="en-US" sz="5344" dirty="0"/>
          </a:p>
        </p:txBody>
      </p:sp>
      <p:sp>
        <p:nvSpPr>
          <p:cNvPr id="8" name="Text 6"/>
          <p:cNvSpPr/>
          <p:nvPr/>
        </p:nvSpPr>
        <p:spPr>
          <a:xfrm>
            <a:off x="4067175" y="1833563"/>
            <a:ext cx="2119313" cy="285750"/>
          </a:xfrm>
          <a:prstGeom prst="rect">
            <a:avLst/>
          </a:prstGeom>
          <a:noFill/>
          <a:ln/>
        </p:spPr>
        <p:txBody>
          <a:bodyPr wrap="square" lIns="0" tIns="0" rIns="0" bIns="0" rtlCol="0" anchor="t"/>
          <a:lstStyle/>
          <a:p>
            <a:pPr algn="ctr"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METRIC 1</a:t>
            </a:r>
            <a:endParaRPr lang="en-US" sz="1425" dirty="0"/>
          </a:p>
        </p:txBody>
      </p:sp>
      <p:sp>
        <p:nvSpPr>
          <p:cNvPr id="9" name="Shape 7"/>
          <p:cNvSpPr/>
          <p:nvPr/>
        </p:nvSpPr>
        <p:spPr>
          <a:xfrm>
            <a:off x="4067175" y="2838450"/>
            <a:ext cx="2181225" cy="1119188"/>
          </a:xfrm>
          <a:prstGeom prst="rect">
            <a:avLst/>
          </a:prstGeom>
          <a:noFill/>
          <a:ln/>
        </p:spPr>
      </p:sp>
      <p:sp>
        <p:nvSpPr>
          <p:cNvPr id="10" name="Text 8"/>
          <p:cNvSpPr/>
          <p:nvPr/>
        </p:nvSpPr>
        <p:spPr>
          <a:xfrm>
            <a:off x="4067175" y="2838450"/>
            <a:ext cx="2181225" cy="785813"/>
          </a:xfrm>
          <a:prstGeom prst="rect">
            <a:avLst/>
          </a:prstGeom>
          <a:noFill/>
          <a:ln/>
        </p:spPr>
        <p:txBody>
          <a:bodyPr wrap="square" lIns="0" tIns="0" rIns="0" bIns="0" rtlCol="0" anchor="t"/>
          <a:lstStyle/>
          <a:p>
            <a:pPr algn="ctr" indent="0" marL="0">
              <a:lnSpc>
                <a:spcPts val="5878"/>
              </a:lnSpc>
              <a:buNone/>
            </a:pPr>
            <a:r>
              <a:rPr lang="en-US" sz="5344" dirty="0">
                <a:solidFill>
                  <a:srgbClr val="000000">
                    <a:alpha val="99000"/>
                  </a:srgbClr>
                </a:solidFill>
                <a:latin typeface="Roboto" pitchFamily="34" charset="0"/>
                <a:ea typeface="Roboto" pitchFamily="34" charset="-122"/>
                <a:cs typeface="Roboto" pitchFamily="34" charset="-120"/>
              </a:rPr>
              <a:t>X,XXX</a:t>
            </a:r>
            <a:endParaRPr lang="en-US" sz="5344" dirty="0"/>
          </a:p>
        </p:txBody>
      </p:sp>
      <p:sp>
        <p:nvSpPr>
          <p:cNvPr id="11" name="Text 9"/>
          <p:cNvSpPr/>
          <p:nvPr/>
        </p:nvSpPr>
        <p:spPr>
          <a:xfrm>
            <a:off x="4067175" y="3671888"/>
            <a:ext cx="2181225" cy="285750"/>
          </a:xfrm>
          <a:prstGeom prst="rect">
            <a:avLst/>
          </a:prstGeom>
          <a:noFill/>
          <a:ln/>
        </p:spPr>
        <p:txBody>
          <a:bodyPr wrap="square" lIns="0" tIns="0" rIns="0" bIns="0" rtlCol="0" anchor="t"/>
          <a:lstStyle/>
          <a:p>
            <a:pPr algn="ctr"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METRIC 3</a:t>
            </a:r>
            <a:endParaRPr lang="en-US" sz="1425" dirty="0"/>
          </a:p>
        </p:txBody>
      </p:sp>
      <p:sp>
        <p:nvSpPr>
          <p:cNvPr id="12" name="Shape 10"/>
          <p:cNvSpPr/>
          <p:nvPr/>
        </p:nvSpPr>
        <p:spPr>
          <a:xfrm>
            <a:off x="6281738" y="1000125"/>
            <a:ext cx="2119313" cy="1119188"/>
          </a:xfrm>
          <a:prstGeom prst="rect">
            <a:avLst/>
          </a:prstGeom>
          <a:noFill/>
          <a:ln/>
        </p:spPr>
      </p:sp>
      <p:sp>
        <p:nvSpPr>
          <p:cNvPr id="13" name="Text 11"/>
          <p:cNvSpPr/>
          <p:nvPr/>
        </p:nvSpPr>
        <p:spPr>
          <a:xfrm>
            <a:off x="6281738" y="1000125"/>
            <a:ext cx="2119313" cy="785813"/>
          </a:xfrm>
          <a:prstGeom prst="rect">
            <a:avLst/>
          </a:prstGeom>
          <a:noFill/>
          <a:ln/>
        </p:spPr>
        <p:txBody>
          <a:bodyPr wrap="square" lIns="0" tIns="0" rIns="0" bIns="0" rtlCol="0" anchor="t"/>
          <a:lstStyle/>
          <a:p>
            <a:pPr algn="ctr" indent="0" marL="0">
              <a:lnSpc>
                <a:spcPts val="5878"/>
              </a:lnSpc>
              <a:buNone/>
            </a:pPr>
            <a:r>
              <a:rPr lang="en-US" sz="5344" dirty="0">
                <a:solidFill>
                  <a:srgbClr val="000000">
                    <a:alpha val="99000"/>
                  </a:srgbClr>
                </a:solidFill>
                <a:latin typeface="Roboto" pitchFamily="34" charset="0"/>
                <a:ea typeface="Roboto" pitchFamily="34" charset="-122"/>
                <a:cs typeface="Roboto" pitchFamily="34" charset="-120"/>
              </a:rPr>
              <a:t>XX%</a:t>
            </a:r>
            <a:endParaRPr lang="en-US" sz="5344" dirty="0"/>
          </a:p>
        </p:txBody>
      </p:sp>
      <p:sp>
        <p:nvSpPr>
          <p:cNvPr id="14" name="Text 12"/>
          <p:cNvSpPr/>
          <p:nvPr/>
        </p:nvSpPr>
        <p:spPr>
          <a:xfrm>
            <a:off x="6281738" y="1833563"/>
            <a:ext cx="2119313" cy="285750"/>
          </a:xfrm>
          <a:prstGeom prst="rect">
            <a:avLst/>
          </a:prstGeom>
          <a:noFill/>
          <a:ln/>
        </p:spPr>
        <p:txBody>
          <a:bodyPr wrap="square" lIns="0" tIns="0" rIns="0" bIns="0" rtlCol="0" anchor="t"/>
          <a:lstStyle/>
          <a:p>
            <a:pPr algn="ctr"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METRIC 2</a:t>
            </a:r>
            <a:endParaRPr lang="en-US" sz="1425" dirty="0"/>
          </a:p>
        </p:txBody>
      </p:sp>
      <p:sp>
        <p:nvSpPr>
          <p:cNvPr id="15" name="Shape 13"/>
          <p:cNvSpPr/>
          <p:nvPr/>
        </p:nvSpPr>
        <p:spPr>
          <a:xfrm>
            <a:off x="6281738" y="2838450"/>
            <a:ext cx="2119313" cy="1119188"/>
          </a:xfrm>
          <a:prstGeom prst="rect">
            <a:avLst/>
          </a:prstGeom>
          <a:noFill/>
          <a:ln/>
        </p:spPr>
      </p:sp>
      <p:sp>
        <p:nvSpPr>
          <p:cNvPr id="16" name="Text 14"/>
          <p:cNvSpPr/>
          <p:nvPr/>
        </p:nvSpPr>
        <p:spPr>
          <a:xfrm>
            <a:off x="6281738" y="2838450"/>
            <a:ext cx="2119313" cy="785813"/>
          </a:xfrm>
          <a:prstGeom prst="rect">
            <a:avLst/>
          </a:prstGeom>
          <a:noFill/>
          <a:ln/>
        </p:spPr>
        <p:txBody>
          <a:bodyPr wrap="square" lIns="0" tIns="0" rIns="0" bIns="0" rtlCol="0" anchor="t"/>
          <a:lstStyle/>
          <a:p>
            <a:pPr algn="ctr" indent="0" marL="0">
              <a:lnSpc>
                <a:spcPts val="5878"/>
              </a:lnSpc>
              <a:buNone/>
            </a:pPr>
            <a:r>
              <a:rPr lang="en-US" sz="5344" dirty="0">
                <a:solidFill>
                  <a:srgbClr val="000000">
                    <a:alpha val="99000"/>
                  </a:srgbClr>
                </a:solidFill>
                <a:latin typeface="Roboto" pitchFamily="34" charset="0"/>
                <a:ea typeface="Roboto" pitchFamily="34" charset="-122"/>
                <a:cs typeface="Roboto" pitchFamily="34" charset="-120"/>
              </a:rPr>
              <a:t>X.XX</a:t>
            </a:r>
            <a:endParaRPr lang="en-US" sz="5344" dirty="0"/>
          </a:p>
        </p:txBody>
      </p:sp>
      <p:sp>
        <p:nvSpPr>
          <p:cNvPr id="17" name="Text 15"/>
          <p:cNvSpPr/>
          <p:nvPr/>
        </p:nvSpPr>
        <p:spPr>
          <a:xfrm>
            <a:off x="6281738" y="3671888"/>
            <a:ext cx="2119313" cy="285750"/>
          </a:xfrm>
          <a:prstGeom prst="rect">
            <a:avLst/>
          </a:prstGeom>
          <a:noFill/>
          <a:ln/>
        </p:spPr>
        <p:txBody>
          <a:bodyPr wrap="square" lIns="0" tIns="0" rIns="0" bIns="0" rtlCol="0" anchor="t"/>
          <a:lstStyle/>
          <a:p>
            <a:pPr algn="ctr"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METRIC 4  </a:t>
            </a:r>
            <a:endParaRPr lang="en-US" sz="14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3362"/>
            <a:ext cx="8963025" cy="4814888"/>
          </a:xfrm>
          <a:prstGeom prst="roundRect">
            <a:avLst>
              <a:gd name="adj" fmla="val 2849"/>
            </a:avLst>
          </a:prstGeom>
          <a:solidFill>
            <a:srgbClr val="000000"/>
          </a:solidFill>
          <a:ln/>
        </p:spPr>
      </p:sp>
      <p:sp>
        <p:nvSpPr>
          <p:cNvPr id="3" name="Shape 1"/>
          <p:cNvSpPr/>
          <p:nvPr/>
        </p:nvSpPr>
        <p:spPr>
          <a:xfrm>
            <a:off x="638175" y="1938337"/>
            <a:ext cx="2486025" cy="1619250"/>
          </a:xfrm>
          <a:prstGeom prst="rect">
            <a:avLst/>
          </a:prstGeom>
          <a:noFill/>
          <a:ln/>
        </p:spPr>
      </p:sp>
      <p:sp>
        <p:nvSpPr>
          <p:cNvPr id="4" name="Text 2"/>
          <p:cNvSpPr/>
          <p:nvPr/>
        </p:nvSpPr>
        <p:spPr>
          <a:xfrm>
            <a:off x="638175" y="1938337"/>
            <a:ext cx="2486025"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Roboto" pitchFamily="34" charset="0"/>
                <a:ea typeface="Roboto" pitchFamily="34" charset="-122"/>
                <a:cs typeface="Roboto" pitchFamily="34" charset="-120"/>
              </a:rPr>
              <a:t>Highlight some </a:t>
            </a:r>
            <a:pPr algn="l" indent="0" marL="0">
              <a:lnSpc>
                <a:spcPts val="2743"/>
              </a:lnSpc>
              <a:buNone/>
            </a:pPr>
            <a:r>
              <a:rPr lang="en-US" sz="2494" spc="-55" kern="0" dirty="0">
                <a:solidFill>
                  <a:srgbClr val="000000">
                    <a:alpha val="99000"/>
                  </a:srgbClr>
                </a:solidFill>
                <a:latin typeface="Roboto" pitchFamily="34" charset="0"/>
                <a:ea typeface="Roboto" pitchFamily="34" charset="-122"/>
                <a:cs typeface="Roboto" pitchFamily="34" charset="-120"/>
              </a:rPr>
              <a:t>key metrics</a:t>
            </a:r>
            <a:endParaRPr lang="en-US" sz="2494" dirty="0"/>
          </a:p>
        </p:txBody>
      </p:sp>
      <p:sp>
        <p:nvSpPr>
          <p:cNvPr id="5" name="Text 3"/>
          <p:cNvSpPr/>
          <p:nvPr/>
        </p:nvSpPr>
        <p:spPr>
          <a:xfrm>
            <a:off x="638175" y="2786063"/>
            <a:ext cx="2486025" cy="771525"/>
          </a:xfrm>
          <a:prstGeom prst="rect">
            <a:avLst/>
          </a:prstGeom>
          <a:noFill/>
          <a:ln/>
        </p:spPr>
        <p:txBody>
          <a:bodyPr wrap="square" lIns="0" tIns="0" rIns="0" bIns="0" rtlCol="0" anchor="t"/>
          <a:lstStyle/>
          <a:p>
            <a:pPr algn="l" indent="0" marL="0">
              <a:lnSpc>
                <a:spcPts val="1924"/>
              </a:lnSpc>
              <a:buNone/>
            </a:pPr>
            <a:r>
              <a:rPr lang="en-US" sz="1283" spc="-28" kern="0" dirty="0">
                <a:solidFill>
                  <a:srgbClr val="FFFFFF">
                    <a:alpha val="99000"/>
                  </a:srgbClr>
                </a:solidFill>
                <a:latin typeface="Roboto" pitchFamily="34" charset="0"/>
                <a:ea typeface="Roboto" pitchFamily="34" charset="-122"/>
                <a:cs typeface="Roboto" pitchFamily="34" charset="-120"/>
              </a:rPr>
              <a:t>Explain why these numbers are important, and what role they play in the success of your product.</a:t>
            </a:r>
            <a:endParaRPr lang="en-US" sz="1283" dirty="0"/>
          </a:p>
        </p:txBody>
      </p:sp>
      <p:sp>
        <p:nvSpPr>
          <p:cNvPr id="6" name="Shape 4"/>
          <p:cNvSpPr/>
          <p:nvPr/>
        </p:nvSpPr>
        <p:spPr>
          <a:xfrm>
            <a:off x="4067175" y="1000125"/>
            <a:ext cx="2119313" cy="1119188"/>
          </a:xfrm>
          <a:prstGeom prst="rect">
            <a:avLst/>
          </a:prstGeom>
          <a:noFill/>
          <a:ln/>
        </p:spPr>
      </p:sp>
      <p:sp>
        <p:nvSpPr>
          <p:cNvPr id="7" name="Text 5"/>
          <p:cNvSpPr/>
          <p:nvPr/>
        </p:nvSpPr>
        <p:spPr>
          <a:xfrm>
            <a:off x="4067175" y="1000125"/>
            <a:ext cx="2119313" cy="785813"/>
          </a:xfrm>
          <a:prstGeom prst="rect">
            <a:avLst/>
          </a:prstGeom>
          <a:noFill/>
          <a:ln/>
        </p:spPr>
        <p:txBody>
          <a:bodyPr wrap="square" lIns="0" tIns="0" rIns="0" bIns="0" rtlCol="0" anchor="t"/>
          <a:lstStyle/>
          <a:p>
            <a:pPr algn="ctr" indent="0" marL="0">
              <a:lnSpc>
                <a:spcPts val="5878"/>
              </a:lnSpc>
              <a:buNone/>
            </a:pPr>
            <a:r>
              <a:rPr lang="en-US" sz="5344" dirty="0">
                <a:solidFill>
                  <a:srgbClr val="FFFFFF">
                    <a:alpha val="99000"/>
                  </a:srgbClr>
                </a:solidFill>
                <a:latin typeface="Roboto" pitchFamily="34" charset="0"/>
                <a:ea typeface="Roboto" pitchFamily="34" charset="-122"/>
                <a:cs typeface="Roboto" pitchFamily="34" charset="-120"/>
              </a:rPr>
              <a:t>$XX</a:t>
            </a:r>
            <a:endParaRPr lang="en-US" sz="5344" dirty="0"/>
          </a:p>
        </p:txBody>
      </p:sp>
      <p:sp>
        <p:nvSpPr>
          <p:cNvPr id="8" name="Text 6"/>
          <p:cNvSpPr/>
          <p:nvPr/>
        </p:nvSpPr>
        <p:spPr>
          <a:xfrm>
            <a:off x="4067175" y="1833563"/>
            <a:ext cx="2119313" cy="285750"/>
          </a:xfrm>
          <a:prstGeom prst="rect">
            <a:avLst/>
          </a:prstGeom>
          <a:noFill/>
          <a:ln/>
        </p:spPr>
        <p:txBody>
          <a:bodyPr wrap="square" lIns="0" tIns="0" rIns="0" bIns="0" rtlCol="0" anchor="t"/>
          <a:lstStyle/>
          <a:p>
            <a:pPr algn="ctr"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METRIC 1</a:t>
            </a:r>
            <a:endParaRPr lang="en-US" sz="1425" dirty="0"/>
          </a:p>
        </p:txBody>
      </p:sp>
      <p:sp>
        <p:nvSpPr>
          <p:cNvPr id="9" name="Shape 7"/>
          <p:cNvSpPr/>
          <p:nvPr/>
        </p:nvSpPr>
        <p:spPr>
          <a:xfrm>
            <a:off x="4067175" y="2838450"/>
            <a:ext cx="2181225" cy="1119188"/>
          </a:xfrm>
          <a:prstGeom prst="rect">
            <a:avLst/>
          </a:prstGeom>
          <a:noFill/>
          <a:ln/>
        </p:spPr>
      </p:sp>
      <p:sp>
        <p:nvSpPr>
          <p:cNvPr id="10" name="Text 8"/>
          <p:cNvSpPr/>
          <p:nvPr/>
        </p:nvSpPr>
        <p:spPr>
          <a:xfrm>
            <a:off x="4067175" y="2838450"/>
            <a:ext cx="2181225" cy="785813"/>
          </a:xfrm>
          <a:prstGeom prst="rect">
            <a:avLst/>
          </a:prstGeom>
          <a:noFill/>
          <a:ln/>
        </p:spPr>
        <p:txBody>
          <a:bodyPr wrap="square" lIns="0" tIns="0" rIns="0" bIns="0" rtlCol="0" anchor="t"/>
          <a:lstStyle/>
          <a:p>
            <a:pPr algn="ctr" indent="0" marL="0">
              <a:lnSpc>
                <a:spcPts val="5878"/>
              </a:lnSpc>
              <a:buNone/>
            </a:pPr>
            <a:r>
              <a:rPr lang="en-US" sz="5344" dirty="0">
                <a:solidFill>
                  <a:srgbClr val="FFFFFF">
                    <a:alpha val="99000"/>
                  </a:srgbClr>
                </a:solidFill>
                <a:latin typeface="Roboto" pitchFamily="34" charset="0"/>
                <a:ea typeface="Roboto" pitchFamily="34" charset="-122"/>
                <a:cs typeface="Roboto" pitchFamily="34" charset="-120"/>
              </a:rPr>
              <a:t>X,XXX</a:t>
            </a:r>
            <a:endParaRPr lang="en-US" sz="5344" dirty="0"/>
          </a:p>
        </p:txBody>
      </p:sp>
      <p:sp>
        <p:nvSpPr>
          <p:cNvPr id="11" name="Text 9"/>
          <p:cNvSpPr/>
          <p:nvPr/>
        </p:nvSpPr>
        <p:spPr>
          <a:xfrm>
            <a:off x="4067175" y="3671888"/>
            <a:ext cx="2181225" cy="285750"/>
          </a:xfrm>
          <a:prstGeom prst="rect">
            <a:avLst/>
          </a:prstGeom>
          <a:noFill/>
          <a:ln/>
        </p:spPr>
        <p:txBody>
          <a:bodyPr wrap="square" lIns="0" tIns="0" rIns="0" bIns="0" rtlCol="0" anchor="t"/>
          <a:lstStyle/>
          <a:p>
            <a:pPr algn="ctr"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METRIC 3</a:t>
            </a:r>
            <a:endParaRPr lang="en-US" sz="1425" dirty="0"/>
          </a:p>
        </p:txBody>
      </p:sp>
      <p:sp>
        <p:nvSpPr>
          <p:cNvPr id="12" name="Shape 10"/>
          <p:cNvSpPr/>
          <p:nvPr/>
        </p:nvSpPr>
        <p:spPr>
          <a:xfrm>
            <a:off x="6281738" y="1000125"/>
            <a:ext cx="2119313" cy="1119188"/>
          </a:xfrm>
          <a:prstGeom prst="rect">
            <a:avLst/>
          </a:prstGeom>
          <a:noFill/>
          <a:ln/>
        </p:spPr>
      </p:sp>
      <p:sp>
        <p:nvSpPr>
          <p:cNvPr id="13" name="Text 11"/>
          <p:cNvSpPr/>
          <p:nvPr/>
        </p:nvSpPr>
        <p:spPr>
          <a:xfrm>
            <a:off x="6281738" y="1000125"/>
            <a:ext cx="2119313" cy="785813"/>
          </a:xfrm>
          <a:prstGeom prst="rect">
            <a:avLst/>
          </a:prstGeom>
          <a:noFill/>
          <a:ln/>
        </p:spPr>
        <p:txBody>
          <a:bodyPr wrap="square" lIns="0" tIns="0" rIns="0" bIns="0" rtlCol="0" anchor="t"/>
          <a:lstStyle/>
          <a:p>
            <a:pPr algn="ctr" indent="0" marL="0">
              <a:lnSpc>
                <a:spcPts val="5878"/>
              </a:lnSpc>
              <a:buNone/>
            </a:pPr>
            <a:r>
              <a:rPr lang="en-US" sz="5344" dirty="0">
                <a:solidFill>
                  <a:srgbClr val="FFFFFF">
                    <a:alpha val="99000"/>
                  </a:srgbClr>
                </a:solidFill>
                <a:latin typeface="Roboto" pitchFamily="34" charset="0"/>
                <a:ea typeface="Roboto" pitchFamily="34" charset="-122"/>
                <a:cs typeface="Roboto" pitchFamily="34" charset="-120"/>
              </a:rPr>
              <a:t>XX%</a:t>
            </a:r>
            <a:endParaRPr lang="en-US" sz="5344" dirty="0"/>
          </a:p>
        </p:txBody>
      </p:sp>
      <p:sp>
        <p:nvSpPr>
          <p:cNvPr id="14" name="Text 12"/>
          <p:cNvSpPr/>
          <p:nvPr/>
        </p:nvSpPr>
        <p:spPr>
          <a:xfrm>
            <a:off x="6281738" y="1833563"/>
            <a:ext cx="2119313" cy="285750"/>
          </a:xfrm>
          <a:prstGeom prst="rect">
            <a:avLst/>
          </a:prstGeom>
          <a:noFill/>
          <a:ln/>
        </p:spPr>
        <p:txBody>
          <a:bodyPr wrap="square" lIns="0" tIns="0" rIns="0" bIns="0" rtlCol="0" anchor="t"/>
          <a:lstStyle/>
          <a:p>
            <a:pPr algn="ctr"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METRIC 2</a:t>
            </a:r>
            <a:endParaRPr lang="en-US" sz="1425" dirty="0"/>
          </a:p>
        </p:txBody>
      </p:sp>
      <p:sp>
        <p:nvSpPr>
          <p:cNvPr id="15" name="Shape 13"/>
          <p:cNvSpPr/>
          <p:nvPr/>
        </p:nvSpPr>
        <p:spPr>
          <a:xfrm>
            <a:off x="6281738" y="2838450"/>
            <a:ext cx="2119313" cy="1119188"/>
          </a:xfrm>
          <a:prstGeom prst="rect">
            <a:avLst/>
          </a:prstGeom>
          <a:noFill/>
          <a:ln/>
        </p:spPr>
      </p:sp>
      <p:sp>
        <p:nvSpPr>
          <p:cNvPr id="16" name="Text 14"/>
          <p:cNvSpPr/>
          <p:nvPr/>
        </p:nvSpPr>
        <p:spPr>
          <a:xfrm>
            <a:off x="6281738" y="2838450"/>
            <a:ext cx="2119313" cy="785813"/>
          </a:xfrm>
          <a:prstGeom prst="rect">
            <a:avLst/>
          </a:prstGeom>
          <a:noFill/>
          <a:ln/>
        </p:spPr>
        <p:txBody>
          <a:bodyPr wrap="square" lIns="0" tIns="0" rIns="0" bIns="0" rtlCol="0" anchor="t"/>
          <a:lstStyle/>
          <a:p>
            <a:pPr algn="ctr" indent="0" marL="0">
              <a:lnSpc>
                <a:spcPts val="5878"/>
              </a:lnSpc>
              <a:buNone/>
            </a:pPr>
            <a:r>
              <a:rPr lang="en-US" sz="5344" dirty="0">
                <a:solidFill>
                  <a:srgbClr val="FFFFFF">
                    <a:alpha val="99000"/>
                  </a:srgbClr>
                </a:solidFill>
                <a:latin typeface="Roboto" pitchFamily="34" charset="0"/>
                <a:ea typeface="Roboto" pitchFamily="34" charset="-122"/>
                <a:cs typeface="Roboto" pitchFamily="34" charset="-120"/>
              </a:rPr>
              <a:t>X.XX</a:t>
            </a:r>
            <a:endParaRPr lang="en-US" sz="5344" dirty="0"/>
          </a:p>
        </p:txBody>
      </p:sp>
      <p:sp>
        <p:nvSpPr>
          <p:cNvPr id="17" name="Text 15"/>
          <p:cNvSpPr/>
          <p:nvPr/>
        </p:nvSpPr>
        <p:spPr>
          <a:xfrm>
            <a:off x="6281738" y="3671888"/>
            <a:ext cx="2119313" cy="285750"/>
          </a:xfrm>
          <a:prstGeom prst="rect">
            <a:avLst/>
          </a:prstGeom>
          <a:noFill/>
          <a:ln/>
        </p:spPr>
        <p:txBody>
          <a:bodyPr wrap="square" lIns="0" tIns="0" rIns="0" bIns="0" rtlCol="0" anchor="t"/>
          <a:lstStyle/>
          <a:p>
            <a:pPr algn="ctr"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METRIC 4  </a:t>
            </a:r>
            <a:endParaRPr lang="en-US" sz="14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488" y="233362"/>
            <a:ext cx="8963025" cy="4814888"/>
          </a:xfrm>
          <a:prstGeom prst="roundRect">
            <a:avLst>
              <a:gd name="adj" fmla="val 2849"/>
            </a:avLst>
          </a:prstGeom>
          <a:solidFill>
            <a:srgbClr val="FFFFFF"/>
          </a:solidFill>
          <a:ln/>
        </p:spPr>
      </p:sp>
      <p:sp>
        <p:nvSpPr>
          <p:cNvPr id="3" name="Shape 1"/>
          <p:cNvSpPr/>
          <p:nvPr/>
        </p:nvSpPr>
        <p:spPr>
          <a:xfrm>
            <a:off x="638175" y="616744"/>
            <a:ext cx="2486025" cy="738188"/>
          </a:xfrm>
          <a:prstGeom prst="rect">
            <a:avLst/>
          </a:prstGeom>
          <a:noFill/>
          <a:ln/>
        </p:spPr>
      </p:sp>
      <p:sp>
        <p:nvSpPr>
          <p:cNvPr id="4" name="Text 2"/>
          <p:cNvSpPr/>
          <p:nvPr/>
        </p:nvSpPr>
        <p:spPr>
          <a:xfrm>
            <a:off x="638175" y="616744"/>
            <a:ext cx="2486025" cy="366713"/>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Roboto" pitchFamily="34" charset="0"/>
                <a:ea typeface="Roboto" pitchFamily="34" charset="-122"/>
                <a:cs typeface="Roboto" pitchFamily="34" charset="-120"/>
              </a:rPr>
              <a:t>Design </a:t>
            </a:r>
            <a:pPr algn="l" indent="0" marL="0">
              <a:lnSpc>
                <a:spcPts val="2743"/>
              </a:lnSpc>
              <a:buNone/>
            </a:pPr>
            <a:r>
              <a:rPr lang="en-US" sz="2494" spc="-55" kern="0" dirty="0">
                <a:solidFill>
                  <a:srgbClr val="000000">
                    <a:alpha val="99000"/>
                  </a:srgbClr>
                </a:solidFill>
                <a:latin typeface="Roboto" pitchFamily="34" charset="0"/>
                <a:ea typeface="Roboto" pitchFamily="34" charset="-122"/>
                <a:cs typeface="Roboto" pitchFamily="34" charset="-120"/>
              </a:rPr>
              <a:t>Process</a:t>
            </a:r>
            <a:endParaRPr lang="en-US" sz="2494" dirty="0"/>
          </a:p>
        </p:txBody>
      </p:sp>
      <p:sp>
        <p:nvSpPr>
          <p:cNvPr id="5" name="Text 3"/>
          <p:cNvSpPr/>
          <p:nvPr/>
        </p:nvSpPr>
        <p:spPr>
          <a:xfrm>
            <a:off x="638175" y="1097756"/>
            <a:ext cx="8072438" cy="257175"/>
          </a:xfrm>
          <a:prstGeom prst="rect">
            <a:avLst/>
          </a:prstGeom>
          <a:noFill/>
          <a:ln/>
        </p:spPr>
        <p:txBody>
          <a:bodyPr wrap="square" lIns="0" tIns="0" rIns="0" bIns="0" rtlCol="0" anchor="t"/>
          <a:lstStyle/>
          <a:p>
            <a:pPr algn="l" indent="0" marL="0">
              <a:lnSpc>
                <a:spcPts val="1924"/>
              </a:lnSpc>
              <a:buNone/>
            </a:pPr>
            <a:r>
              <a:rPr lang="en-US" sz="1283" spc="-28" kern="0" dirty="0">
                <a:solidFill>
                  <a:srgbClr val="000000">
                    <a:alpha val="99000"/>
                  </a:srgbClr>
                </a:solidFill>
                <a:latin typeface="Roboto" pitchFamily="34" charset="0"/>
                <a:ea typeface="Roboto" pitchFamily="34" charset="-122"/>
                <a:cs typeface="Roboto" pitchFamily="34" charset="-120"/>
              </a:rPr>
              <a:t>Explain why these numbers are important, and what role they play in the success of your product.</a:t>
            </a:r>
            <a:endParaRPr lang="en-US" sz="1283" dirty="0"/>
          </a:p>
        </p:txBody>
      </p:sp>
      <p:sp>
        <p:nvSpPr>
          <p:cNvPr id="6" name="Shape 4"/>
          <p:cNvSpPr/>
          <p:nvPr/>
        </p:nvSpPr>
        <p:spPr>
          <a:xfrm>
            <a:off x="985838" y="2633663"/>
            <a:ext cx="9525" cy="304800"/>
          </a:xfrm>
          <a:prstGeom prst="rect">
            <a:avLst/>
          </a:prstGeom>
          <a:solidFill>
            <a:srgbClr val="000000">
              <a:alpha val="12000"/>
            </a:srgbClr>
          </a:solidFill>
          <a:ln/>
        </p:spPr>
      </p:sp>
      <p:sp>
        <p:nvSpPr>
          <p:cNvPr id="7" name="Shape 5"/>
          <p:cNvSpPr/>
          <p:nvPr/>
        </p:nvSpPr>
        <p:spPr>
          <a:xfrm>
            <a:off x="4567238" y="1719263"/>
            <a:ext cx="1600200" cy="866775"/>
          </a:xfrm>
          <a:prstGeom prst="rect">
            <a:avLst/>
          </a:prstGeom>
          <a:noFill/>
          <a:ln/>
        </p:spPr>
      </p:sp>
      <p:sp>
        <p:nvSpPr>
          <p:cNvPr id="8" name="Text 6"/>
          <p:cNvSpPr/>
          <p:nvPr/>
        </p:nvSpPr>
        <p:spPr>
          <a:xfrm>
            <a:off x="4567238" y="1719263"/>
            <a:ext cx="1600200" cy="161925"/>
          </a:xfrm>
          <a:prstGeom prst="rect">
            <a:avLst/>
          </a:prstGeom>
          <a:noFill/>
          <a:ln/>
        </p:spPr>
        <p:txBody>
          <a:bodyPr wrap="square" lIns="0" tIns="0" rIns="0" bIns="0" rtlCol="0" anchor="t"/>
          <a:lstStyle/>
          <a:p>
            <a:pPr algn="l" indent="0" marL="0">
              <a:lnSpc>
                <a:spcPts val="1197"/>
              </a:lnSpc>
              <a:buNone/>
            </a:pPr>
            <a:r>
              <a:rPr lang="en-US" sz="855" dirty="0">
                <a:solidFill>
                  <a:srgbClr val="000000">
                    <a:alpha val="99000"/>
                  </a:srgbClr>
                </a:solidFill>
                <a:latin typeface="Public Sans" pitchFamily="34" charset="0"/>
                <a:ea typeface="Public Sans" pitchFamily="34" charset="-122"/>
                <a:cs typeface="Public Sans" pitchFamily="34" charset="-120"/>
              </a:rPr>
              <a:t>SOLUTION ALIGNMENT</a:t>
            </a:r>
            <a:endParaRPr lang="en-US" sz="855" dirty="0"/>
          </a:p>
        </p:txBody>
      </p:sp>
      <p:sp>
        <p:nvSpPr>
          <p:cNvPr id="9" name="Text 7"/>
          <p:cNvSpPr/>
          <p:nvPr/>
        </p:nvSpPr>
        <p:spPr>
          <a:xfrm>
            <a:off x="4567238" y="1938337"/>
            <a:ext cx="1600200" cy="647700"/>
          </a:xfrm>
          <a:prstGeom prst="rect">
            <a:avLst/>
          </a:prstGeom>
          <a:noFill/>
          <a:ln/>
        </p:spPr>
        <p:txBody>
          <a:bodyPr wrap="square" lIns="0" tIns="0" rIns="0" bIns="0" rtlCol="0" anchor="t"/>
          <a:lstStyle/>
          <a:p>
            <a:pPr algn="l" indent="0" marL="0">
              <a:lnSpc>
                <a:spcPts val="1197"/>
              </a:lnSpc>
              <a:buNone/>
            </a:pPr>
            <a:r>
              <a:rPr lang="en-US" sz="855" dirty="0">
                <a:solidFill>
                  <a:srgbClr val="000000">
                    <a:alpha val="99000"/>
                  </a:srgbClr>
                </a:solidFill>
                <a:latin typeface="Roboto" pitchFamily="34" charset="0"/>
                <a:ea typeface="Roboto" pitchFamily="34" charset="-122"/>
                <a:cs typeface="Roboto" pitchFamily="34" charset="-120"/>
              </a:rPr>
              <a:t>If you need to squeeze in more than four stages, you can duplicate and move around these text blocks as needed.</a:t>
            </a:r>
            <a:endParaRPr lang="en-US" sz="855" dirty="0"/>
          </a:p>
        </p:txBody>
      </p:sp>
      <p:sp>
        <p:nvSpPr>
          <p:cNvPr id="10" name="Shape 8"/>
          <p:cNvSpPr/>
          <p:nvPr/>
        </p:nvSpPr>
        <p:spPr>
          <a:xfrm>
            <a:off x="4567238" y="2643188"/>
            <a:ext cx="9525" cy="304800"/>
          </a:xfrm>
          <a:prstGeom prst="rect">
            <a:avLst/>
          </a:prstGeom>
          <a:solidFill>
            <a:srgbClr val="000000">
              <a:alpha val="12000"/>
            </a:srgbClr>
          </a:solidFill>
          <a:ln/>
        </p:spPr>
      </p:sp>
      <p:sp>
        <p:nvSpPr>
          <p:cNvPr id="11" name="Text 9"/>
          <p:cNvSpPr/>
          <p:nvPr/>
        </p:nvSpPr>
        <p:spPr>
          <a:xfrm>
            <a:off x="4567238" y="3109913"/>
            <a:ext cx="1600200" cy="128588"/>
          </a:xfrm>
          <a:prstGeom prst="rect">
            <a:avLst/>
          </a:prstGeom>
          <a:noFill/>
          <a:ln/>
        </p:spPr>
        <p:txBody>
          <a:bodyPr wrap="square" lIns="0" tIns="0" rIns="0" bIns="0" rtlCol="0" anchor="t"/>
          <a:lstStyle/>
          <a:p>
            <a:pPr algn="l" indent="0" marL="0">
              <a:lnSpc>
                <a:spcPts val="1924"/>
              </a:lnSpc>
              <a:buNone/>
            </a:pPr>
            <a:r>
              <a:rPr lang="en-US" sz="1354" dirty="0">
                <a:solidFill>
                  <a:srgbClr val="000000">
                    <a:alpha val="99000"/>
                  </a:srgbClr>
                </a:solidFill>
                <a:latin typeface="Roboto" pitchFamily="34" charset="0"/>
                <a:ea typeface="Roboto" pitchFamily="34" charset="-122"/>
                <a:cs typeface="Roboto" pitchFamily="34" charset="-120"/>
              </a:rPr>
              <a:t>June</a:t>
            </a:r>
            <a:endParaRPr lang="en-US" sz="1354" dirty="0"/>
          </a:p>
        </p:txBody>
      </p:sp>
      <p:sp>
        <p:nvSpPr>
          <p:cNvPr id="12" name="Shape 10"/>
          <p:cNvSpPr/>
          <p:nvPr/>
        </p:nvSpPr>
        <p:spPr>
          <a:xfrm>
            <a:off x="990600" y="1866900"/>
            <a:ext cx="1747838" cy="704850"/>
          </a:xfrm>
          <a:prstGeom prst="rect">
            <a:avLst/>
          </a:prstGeom>
          <a:noFill/>
          <a:ln/>
        </p:spPr>
      </p:sp>
      <p:sp>
        <p:nvSpPr>
          <p:cNvPr id="13" name="Text 11"/>
          <p:cNvSpPr/>
          <p:nvPr/>
        </p:nvSpPr>
        <p:spPr>
          <a:xfrm>
            <a:off x="990600" y="1866900"/>
            <a:ext cx="1747838" cy="161925"/>
          </a:xfrm>
          <a:prstGeom prst="rect">
            <a:avLst/>
          </a:prstGeom>
          <a:noFill/>
          <a:ln/>
        </p:spPr>
        <p:txBody>
          <a:bodyPr wrap="square" lIns="0" tIns="0" rIns="0" bIns="0" rtlCol="0" anchor="t"/>
          <a:lstStyle/>
          <a:p>
            <a:pPr algn="l" indent="0" marL="0">
              <a:lnSpc>
                <a:spcPts val="1197"/>
              </a:lnSpc>
              <a:buNone/>
            </a:pPr>
            <a:r>
              <a:rPr lang="en-US" sz="855" dirty="0">
                <a:solidFill>
                  <a:srgbClr val="000000">
                    <a:alpha val="99000"/>
                  </a:srgbClr>
                </a:solidFill>
                <a:latin typeface="Roboto" pitchFamily="34" charset="0"/>
                <a:ea typeface="Roboto" pitchFamily="34" charset="-122"/>
                <a:cs typeface="Roboto" pitchFamily="34" charset="-120"/>
              </a:rPr>
              <a:t>PROBLEM ALIGNMENT</a:t>
            </a:r>
            <a:endParaRPr lang="en-US" sz="855" dirty="0"/>
          </a:p>
        </p:txBody>
      </p:sp>
      <p:sp>
        <p:nvSpPr>
          <p:cNvPr id="14" name="Text 12"/>
          <p:cNvSpPr/>
          <p:nvPr/>
        </p:nvSpPr>
        <p:spPr>
          <a:xfrm>
            <a:off x="990600" y="2085975"/>
            <a:ext cx="1747838" cy="485775"/>
          </a:xfrm>
          <a:prstGeom prst="rect">
            <a:avLst/>
          </a:prstGeom>
          <a:noFill/>
          <a:ln/>
        </p:spPr>
        <p:txBody>
          <a:bodyPr wrap="square" lIns="0" tIns="0" rIns="0" bIns="0" rtlCol="0" anchor="t"/>
          <a:lstStyle/>
          <a:p>
            <a:pPr algn="l" indent="0" marL="0">
              <a:lnSpc>
                <a:spcPts val="1197"/>
              </a:lnSpc>
              <a:buNone/>
            </a:pPr>
            <a:r>
              <a:rPr lang="en-US" sz="855" dirty="0">
                <a:solidFill>
                  <a:srgbClr val="000000">
                    <a:alpha val="99000"/>
                  </a:srgbClr>
                </a:solidFill>
                <a:latin typeface="Roboto" pitchFamily="34" charset="0"/>
                <a:ea typeface="Roboto" pitchFamily="34" charset="-122"/>
                <a:cs typeface="Roboto" pitchFamily="34" charset="-120"/>
              </a:rPr>
              <a:t>Use this slide to map out the stages of your design process, and frame where you’re at.</a:t>
            </a:r>
            <a:endParaRPr lang="en-US" sz="855" dirty="0"/>
          </a:p>
        </p:txBody>
      </p:sp>
      <p:sp>
        <p:nvSpPr>
          <p:cNvPr id="15" name="Shape 13"/>
          <p:cNvSpPr/>
          <p:nvPr/>
        </p:nvSpPr>
        <p:spPr>
          <a:xfrm>
            <a:off x="990600" y="2628900"/>
            <a:ext cx="9525" cy="304800"/>
          </a:xfrm>
          <a:prstGeom prst="rect">
            <a:avLst/>
          </a:prstGeom>
          <a:solidFill>
            <a:srgbClr val="000000">
              <a:alpha val="12000"/>
            </a:srgbClr>
          </a:solidFill>
          <a:ln/>
        </p:spPr>
      </p:sp>
      <p:sp>
        <p:nvSpPr>
          <p:cNvPr id="16" name="Text 14"/>
          <p:cNvSpPr/>
          <p:nvPr/>
        </p:nvSpPr>
        <p:spPr>
          <a:xfrm>
            <a:off x="990600" y="3095625"/>
            <a:ext cx="1600200" cy="128588"/>
          </a:xfrm>
          <a:prstGeom prst="rect">
            <a:avLst/>
          </a:prstGeom>
          <a:noFill/>
          <a:ln/>
        </p:spPr>
        <p:txBody>
          <a:bodyPr wrap="square" lIns="0" tIns="0" rIns="0" bIns="0" rtlCol="0" anchor="t"/>
          <a:lstStyle/>
          <a:p>
            <a:pPr algn="l" indent="0" marL="0">
              <a:lnSpc>
                <a:spcPts val="1924"/>
              </a:lnSpc>
              <a:buNone/>
            </a:pPr>
            <a:r>
              <a:rPr lang="en-US" sz="1354" dirty="0">
                <a:solidFill>
                  <a:srgbClr val="000000">
                    <a:alpha val="99000"/>
                  </a:srgbClr>
                </a:solidFill>
                <a:latin typeface="Roboto" pitchFamily="34" charset="0"/>
                <a:ea typeface="Roboto" pitchFamily="34" charset="-122"/>
                <a:cs typeface="Roboto" pitchFamily="34" charset="-120"/>
              </a:rPr>
              <a:t>Last week</a:t>
            </a:r>
            <a:endParaRPr lang="en-US" sz="1354" dirty="0"/>
          </a:p>
        </p:txBody>
      </p:sp>
      <p:sp>
        <p:nvSpPr>
          <p:cNvPr id="17" name="Text 15"/>
          <p:cNvSpPr/>
          <p:nvPr/>
        </p:nvSpPr>
        <p:spPr>
          <a:xfrm>
            <a:off x="6672263" y="2657475"/>
            <a:ext cx="1600200" cy="128588"/>
          </a:xfrm>
          <a:prstGeom prst="rect">
            <a:avLst/>
          </a:prstGeom>
          <a:noFill/>
          <a:ln/>
        </p:spPr>
        <p:txBody>
          <a:bodyPr wrap="square" lIns="0" tIns="0" rIns="0" bIns="0" rtlCol="0" anchor="t"/>
          <a:lstStyle/>
          <a:p>
            <a:pPr algn="l" indent="0" marL="0">
              <a:lnSpc>
                <a:spcPts val="1924"/>
              </a:lnSpc>
              <a:buNone/>
            </a:pPr>
            <a:r>
              <a:rPr lang="en-US" sz="1354" dirty="0">
                <a:solidFill>
                  <a:srgbClr val="000000">
                    <a:alpha val="99000"/>
                  </a:srgbClr>
                </a:solidFill>
                <a:latin typeface="Roboto" pitchFamily="34" charset="0"/>
                <a:ea typeface="Roboto" pitchFamily="34" charset="-122"/>
                <a:cs typeface="Roboto" pitchFamily="34" charset="-120"/>
              </a:rPr>
              <a:t>July</a:t>
            </a:r>
            <a:endParaRPr lang="en-US" sz="1354" dirty="0"/>
          </a:p>
        </p:txBody>
      </p:sp>
      <p:sp>
        <p:nvSpPr>
          <p:cNvPr id="18" name="Shape 16"/>
          <p:cNvSpPr/>
          <p:nvPr/>
        </p:nvSpPr>
        <p:spPr>
          <a:xfrm>
            <a:off x="6672263" y="2947988"/>
            <a:ext cx="9525" cy="304800"/>
          </a:xfrm>
          <a:prstGeom prst="rect">
            <a:avLst/>
          </a:prstGeom>
          <a:solidFill>
            <a:srgbClr val="000000">
              <a:alpha val="12000"/>
            </a:srgbClr>
          </a:solidFill>
          <a:ln/>
        </p:spPr>
      </p:sp>
      <p:sp>
        <p:nvSpPr>
          <p:cNvPr id="19" name="Shape 17"/>
          <p:cNvSpPr/>
          <p:nvPr/>
        </p:nvSpPr>
        <p:spPr>
          <a:xfrm>
            <a:off x="6672263" y="3309938"/>
            <a:ext cx="1600200" cy="704850"/>
          </a:xfrm>
          <a:prstGeom prst="rect">
            <a:avLst/>
          </a:prstGeom>
          <a:noFill/>
          <a:ln/>
        </p:spPr>
      </p:sp>
      <p:sp>
        <p:nvSpPr>
          <p:cNvPr id="20" name="Text 18"/>
          <p:cNvSpPr/>
          <p:nvPr/>
        </p:nvSpPr>
        <p:spPr>
          <a:xfrm>
            <a:off x="6672263" y="3309938"/>
            <a:ext cx="1600200" cy="161925"/>
          </a:xfrm>
          <a:prstGeom prst="rect">
            <a:avLst/>
          </a:prstGeom>
          <a:noFill/>
          <a:ln/>
        </p:spPr>
        <p:txBody>
          <a:bodyPr wrap="square" lIns="0" tIns="0" rIns="0" bIns="0" rtlCol="0" anchor="t"/>
          <a:lstStyle/>
          <a:p>
            <a:pPr algn="l" indent="0" marL="0">
              <a:lnSpc>
                <a:spcPts val="1197"/>
              </a:lnSpc>
              <a:buNone/>
            </a:pPr>
            <a:r>
              <a:rPr lang="en-US" sz="855" dirty="0">
                <a:solidFill>
                  <a:srgbClr val="000000">
                    <a:alpha val="99000"/>
                  </a:srgbClr>
                </a:solidFill>
                <a:latin typeface="Public Sans" pitchFamily="34" charset="0"/>
                <a:ea typeface="Public Sans" pitchFamily="34" charset="-122"/>
                <a:cs typeface="Public Sans" pitchFamily="34" charset="-120"/>
              </a:rPr>
              <a:t>HANDOFF</a:t>
            </a:r>
            <a:endParaRPr lang="en-US" sz="855" dirty="0"/>
          </a:p>
        </p:txBody>
      </p:sp>
      <p:sp>
        <p:nvSpPr>
          <p:cNvPr id="21" name="Text 19"/>
          <p:cNvSpPr/>
          <p:nvPr/>
        </p:nvSpPr>
        <p:spPr>
          <a:xfrm>
            <a:off x="6672263" y="3529013"/>
            <a:ext cx="1600200" cy="485775"/>
          </a:xfrm>
          <a:prstGeom prst="rect">
            <a:avLst/>
          </a:prstGeom>
          <a:noFill/>
          <a:ln/>
        </p:spPr>
        <p:txBody>
          <a:bodyPr wrap="square" lIns="0" tIns="0" rIns="0" bIns="0" rtlCol="0" anchor="t"/>
          <a:lstStyle/>
          <a:p>
            <a:pPr algn="l" indent="0" marL="0">
              <a:lnSpc>
                <a:spcPts val="1197"/>
              </a:lnSpc>
              <a:buNone/>
            </a:pPr>
            <a:r>
              <a:rPr lang="en-US" sz="855" dirty="0">
                <a:solidFill>
                  <a:srgbClr val="000000">
                    <a:alpha val="99000"/>
                  </a:srgbClr>
                </a:solidFill>
                <a:latin typeface="Roboto" pitchFamily="34" charset="0"/>
                <a:ea typeface="Roboto" pitchFamily="34" charset="-122"/>
                <a:cs typeface="Roboto" pitchFamily="34" charset="-120"/>
              </a:rPr>
              <a:t>If you’ve got a bunch of stages or dates, consider using multiple copies of this slide.</a:t>
            </a:r>
            <a:endParaRPr lang="en-US" sz="855" dirty="0"/>
          </a:p>
        </p:txBody>
      </p:sp>
      <p:sp>
        <p:nvSpPr>
          <p:cNvPr id="22" name="Text 20"/>
          <p:cNvSpPr/>
          <p:nvPr/>
        </p:nvSpPr>
        <p:spPr>
          <a:xfrm>
            <a:off x="2781300" y="2657475"/>
            <a:ext cx="1600200" cy="128588"/>
          </a:xfrm>
          <a:prstGeom prst="rect">
            <a:avLst/>
          </a:prstGeom>
          <a:noFill/>
          <a:ln/>
        </p:spPr>
        <p:txBody>
          <a:bodyPr wrap="square" lIns="0" tIns="0" rIns="0" bIns="0" rtlCol="0" anchor="t"/>
          <a:lstStyle/>
          <a:p>
            <a:pPr algn="l" indent="0" marL="0">
              <a:lnSpc>
                <a:spcPts val="1924"/>
              </a:lnSpc>
              <a:buNone/>
            </a:pPr>
            <a:r>
              <a:rPr lang="en-US" sz="1354" dirty="0">
                <a:solidFill>
                  <a:srgbClr val="000000">
                    <a:alpha val="99000"/>
                  </a:srgbClr>
                </a:solidFill>
                <a:latin typeface="Roboto" pitchFamily="34" charset="0"/>
                <a:ea typeface="Roboto" pitchFamily="34" charset="-122"/>
                <a:cs typeface="Roboto" pitchFamily="34" charset="-120"/>
              </a:rPr>
              <a:t>This week</a:t>
            </a:r>
            <a:endParaRPr lang="en-US" sz="1354" dirty="0"/>
          </a:p>
        </p:txBody>
      </p:sp>
      <p:sp>
        <p:nvSpPr>
          <p:cNvPr id="23" name="Shape 21"/>
          <p:cNvSpPr/>
          <p:nvPr/>
        </p:nvSpPr>
        <p:spPr>
          <a:xfrm>
            <a:off x="2781300" y="2947988"/>
            <a:ext cx="9525" cy="304800"/>
          </a:xfrm>
          <a:prstGeom prst="rect">
            <a:avLst/>
          </a:prstGeom>
          <a:solidFill>
            <a:srgbClr val="000000">
              <a:alpha val="12000"/>
            </a:srgbClr>
          </a:solidFill>
          <a:ln/>
        </p:spPr>
      </p:sp>
      <p:sp>
        <p:nvSpPr>
          <p:cNvPr id="24" name="Shape 22"/>
          <p:cNvSpPr/>
          <p:nvPr/>
        </p:nvSpPr>
        <p:spPr>
          <a:xfrm>
            <a:off x="2781300" y="3309938"/>
            <a:ext cx="1600200" cy="704850"/>
          </a:xfrm>
          <a:prstGeom prst="rect">
            <a:avLst/>
          </a:prstGeom>
          <a:noFill/>
          <a:ln/>
        </p:spPr>
      </p:sp>
      <p:sp>
        <p:nvSpPr>
          <p:cNvPr id="25" name="Text 23"/>
          <p:cNvSpPr/>
          <p:nvPr/>
        </p:nvSpPr>
        <p:spPr>
          <a:xfrm>
            <a:off x="2781300" y="3309938"/>
            <a:ext cx="1600200" cy="161925"/>
          </a:xfrm>
          <a:prstGeom prst="rect">
            <a:avLst/>
          </a:prstGeom>
          <a:noFill/>
          <a:ln/>
        </p:spPr>
        <p:txBody>
          <a:bodyPr wrap="square" lIns="0" tIns="0" rIns="0" bIns="0" rtlCol="0" anchor="t"/>
          <a:lstStyle/>
          <a:p>
            <a:pPr algn="l" indent="0" marL="0">
              <a:lnSpc>
                <a:spcPts val="1197"/>
              </a:lnSpc>
              <a:buNone/>
            </a:pPr>
            <a:r>
              <a:rPr lang="en-US" sz="855" dirty="0">
                <a:solidFill>
                  <a:srgbClr val="000000">
                    <a:alpha val="99000"/>
                  </a:srgbClr>
                </a:solidFill>
                <a:latin typeface="Public Sans" pitchFamily="34" charset="0"/>
                <a:ea typeface="Public Sans" pitchFamily="34" charset="-122"/>
                <a:cs typeface="Public Sans" pitchFamily="34" charset="-120"/>
              </a:rPr>
              <a:t>EXPLORATION</a:t>
            </a:r>
            <a:endParaRPr lang="en-US" sz="855" dirty="0"/>
          </a:p>
        </p:txBody>
      </p:sp>
      <p:sp>
        <p:nvSpPr>
          <p:cNvPr id="26" name="Text 24"/>
          <p:cNvSpPr/>
          <p:nvPr/>
        </p:nvSpPr>
        <p:spPr>
          <a:xfrm>
            <a:off x="2781300" y="3529013"/>
            <a:ext cx="1600200" cy="485775"/>
          </a:xfrm>
          <a:prstGeom prst="rect">
            <a:avLst/>
          </a:prstGeom>
          <a:noFill/>
          <a:ln/>
        </p:spPr>
        <p:txBody>
          <a:bodyPr wrap="square" lIns="0" tIns="0" rIns="0" bIns="0" rtlCol="0" anchor="t"/>
          <a:lstStyle/>
          <a:p>
            <a:pPr algn="l" indent="0" marL="0">
              <a:lnSpc>
                <a:spcPts val="1197"/>
              </a:lnSpc>
              <a:buNone/>
            </a:pPr>
            <a:r>
              <a:rPr lang="en-US" sz="855" dirty="0">
                <a:solidFill>
                  <a:srgbClr val="000000">
                    <a:alpha val="99000"/>
                  </a:srgbClr>
                </a:solidFill>
                <a:latin typeface="Roboto" pitchFamily="34" charset="0"/>
                <a:ea typeface="Roboto" pitchFamily="34" charset="-122"/>
                <a:cs typeface="Roboto" pitchFamily="34" charset="-120"/>
              </a:rPr>
              <a:t>You can say a bit more about each stage in this space, below each stage.</a:t>
            </a:r>
            <a:endParaRPr lang="en-US" sz="855" dirty="0"/>
          </a:p>
        </p:txBody>
      </p:sp>
      <p:sp>
        <p:nvSpPr>
          <p:cNvPr id="27" name="Shape 25"/>
          <p:cNvSpPr/>
          <p:nvPr/>
        </p:nvSpPr>
        <p:spPr>
          <a:xfrm>
            <a:off x="800100" y="2938463"/>
            <a:ext cx="7543800" cy="38100"/>
          </a:xfrm>
          <a:prstGeom prst="roundRect">
            <a:avLst/>
          </a:prstGeom>
          <a:solidFill>
            <a:srgbClr val="000CC8"/>
          </a:solidFill>
          <a:ln/>
        </p:spPr>
      </p:sp>
      <p:sp>
        <p:nvSpPr>
          <p:cNvPr id="28" name="Shape 26"/>
          <p:cNvSpPr/>
          <p:nvPr/>
        </p:nvSpPr>
        <p:spPr>
          <a:xfrm>
            <a:off x="2738438" y="3195638"/>
            <a:ext cx="85725" cy="85725"/>
          </a:xfrm>
          <a:prstGeom prst="ellipse">
            <a:avLst/>
          </a:prstGeom>
          <a:solidFill>
            <a:srgbClr val="00088D"/>
          </a:solidFill>
          <a:ln/>
        </p:spPr>
      </p:sp>
      <p:sp>
        <p:nvSpPr>
          <p:cNvPr id="29" name="Shape 27"/>
          <p:cNvSpPr/>
          <p:nvPr/>
        </p:nvSpPr>
        <p:spPr>
          <a:xfrm>
            <a:off x="4524375" y="2633663"/>
            <a:ext cx="85725" cy="85725"/>
          </a:xfrm>
          <a:prstGeom prst="ellipse">
            <a:avLst/>
          </a:prstGeom>
          <a:solidFill>
            <a:srgbClr val="00088D"/>
          </a:solidFill>
          <a:ln/>
        </p:spPr>
      </p:sp>
      <p:sp>
        <p:nvSpPr>
          <p:cNvPr id="30" name="Shape 28"/>
          <p:cNvSpPr/>
          <p:nvPr/>
        </p:nvSpPr>
        <p:spPr>
          <a:xfrm>
            <a:off x="6634163" y="3195638"/>
            <a:ext cx="85725" cy="85725"/>
          </a:xfrm>
          <a:prstGeom prst="ellipse">
            <a:avLst/>
          </a:prstGeom>
          <a:solidFill>
            <a:srgbClr val="00088D"/>
          </a:solidFill>
          <a:ln/>
        </p:spPr>
      </p:sp>
      <p:sp>
        <p:nvSpPr>
          <p:cNvPr id="31" name="Shape 29"/>
          <p:cNvSpPr/>
          <p:nvPr/>
        </p:nvSpPr>
        <p:spPr>
          <a:xfrm>
            <a:off x="947737" y="2633663"/>
            <a:ext cx="85725" cy="85725"/>
          </a:xfrm>
          <a:prstGeom prst="ellipse">
            <a:avLst/>
          </a:prstGeom>
          <a:solidFill>
            <a:srgbClr val="00088D"/>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3362"/>
            <a:ext cx="8963025" cy="4814888"/>
          </a:xfrm>
          <a:prstGeom prst="roundRect">
            <a:avLst>
              <a:gd name="adj" fmla="val 2849"/>
            </a:avLst>
          </a:prstGeom>
          <a:solidFill>
            <a:srgbClr val="000000"/>
          </a:solidFill>
          <a:ln/>
        </p:spPr>
      </p:sp>
      <p:sp>
        <p:nvSpPr>
          <p:cNvPr id="3" name="Shape 1"/>
          <p:cNvSpPr/>
          <p:nvPr/>
        </p:nvSpPr>
        <p:spPr>
          <a:xfrm>
            <a:off x="638175" y="616744"/>
            <a:ext cx="2486025" cy="738188"/>
          </a:xfrm>
          <a:prstGeom prst="rect">
            <a:avLst/>
          </a:prstGeom>
          <a:noFill/>
          <a:ln/>
        </p:spPr>
      </p:sp>
      <p:sp>
        <p:nvSpPr>
          <p:cNvPr id="4" name="Text 2"/>
          <p:cNvSpPr/>
          <p:nvPr/>
        </p:nvSpPr>
        <p:spPr>
          <a:xfrm>
            <a:off x="638175" y="616744"/>
            <a:ext cx="2486025" cy="366713"/>
          </a:xfrm>
          <a:prstGeom prst="rect">
            <a:avLst/>
          </a:prstGeom>
          <a:noFill/>
          <a:ln/>
        </p:spPr>
        <p:txBody>
          <a:bodyPr wrap="square" lIns="0" tIns="0" rIns="0" bIns="0" rtlCol="0" anchor="t"/>
          <a:lstStyle/>
          <a:p>
            <a:pPr algn="l" indent="0" marL="0">
              <a:lnSpc>
                <a:spcPts val="2743"/>
              </a:lnSpc>
              <a:buNone/>
            </a:pPr>
            <a:r>
              <a:rPr lang="en-US" sz="2494" spc="-55" kern="0" dirty="0">
                <a:solidFill>
                  <a:srgbClr val="FFFFFF">
                    <a:alpha val="99000"/>
                  </a:srgbClr>
                </a:solidFill>
                <a:latin typeface="Roboto" pitchFamily="34" charset="0"/>
                <a:ea typeface="Roboto" pitchFamily="34" charset="-122"/>
                <a:cs typeface="Roboto" pitchFamily="34" charset="-120"/>
              </a:rPr>
              <a:t>Design</a:t>
            </a:r>
            <a:pPr algn="l" indent="0" marL="0">
              <a:lnSpc>
                <a:spcPts val="2743"/>
              </a:lnSpc>
              <a:buNone/>
            </a:pPr>
            <a:r>
              <a:rPr lang="en-US" sz="2494" spc="-55" kern="0" dirty="0">
                <a:solidFill>
                  <a:srgbClr val="000000">
                    <a:alpha val="99000"/>
                  </a:srgbClr>
                </a:solidFill>
                <a:latin typeface="Roboto" pitchFamily="34" charset="0"/>
                <a:ea typeface="Roboto" pitchFamily="34" charset="-122"/>
                <a:cs typeface="Roboto" pitchFamily="34" charset="-120"/>
              </a:rPr>
              <a:t> </a:t>
            </a:r>
            <a:pPr algn="l" indent="0" marL="0">
              <a:lnSpc>
                <a:spcPts val="2743"/>
              </a:lnSpc>
              <a:buNone/>
            </a:pPr>
            <a:r>
              <a:rPr lang="en-US" sz="2494" spc="-55" kern="0" dirty="0">
                <a:solidFill>
                  <a:srgbClr val="000000">
                    <a:alpha val="99000"/>
                  </a:srgbClr>
                </a:solidFill>
                <a:latin typeface="Roboto" pitchFamily="34" charset="0"/>
                <a:ea typeface="Roboto" pitchFamily="34" charset="-122"/>
                <a:cs typeface="Roboto" pitchFamily="34" charset="-120"/>
              </a:rPr>
              <a:t>Process</a:t>
            </a:r>
            <a:endParaRPr lang="en-US" sz="2494" dirty="0"/>
          </a:p>
        </p:txBody>
      </p:sp>
      <p:sp>
        <p:nvSpPr>
          <p:cNvPr id="5" name="Text 3"/>
          <p:cNvSpPr/>
          <p:nvPr/>
        </p:nvSpPr>
        <p:spPr>
          <a:xfrm>
            <a:off x="638175" y="1097756"/>
            <a:ext cx="8072438" cy="257175"/>
          </a:xfrm>
          <a:prstGeom prst="rect">
            <a:avLst/>
          </a:prstGeom>
          <a:noFill/>
          <a:ln/>
        </p:spPr>
        <p:txBody>
          <a:bodyPr wrap="square" lIns="0" tIns="0" rIns="0" bIns="0" rtlCol="0" anchor="t"/>
          <a:lstStyle/>
          <a:p>
            <a:pPr algn="l" indent="0" marL="0">
              <a:lnSpc>
                <a:spcPts val="1924"/>
              </a:lnSpc>
              <a:buNone/>
            </a:pPr>
            <a:r>
              <a:rPr lang="en-US" sz="1283" spc="-28" kern="0" dirty="0">
                <a:solidFill>
                  <a:srgbClr val="000000">
                    <a:alpha val="99000"/>
                  </a:srgbClr>
                </a:solidFill>
                <a:latin typeface="Roboto" pitchFamily="34" charset="0"/>
                <a:ea typeface="Roboto" pitchFamily="34" charset="-122"/>
                <a:cs typeface="Roboto" pitchFamily="34" charset="-120"/>
              </a:rPr>
              <a:t>Explain why these numbers are important, and what role they play in the success of your product.</a:t>
            </a:r>
            <a:endParaRPr lang="en-US" sz="1283" dirty="0"/>
          </a:p>
        </p:txBody>
      </p:sp>
      <p:sp>
        <p:nvSpPr>
          <p:cNvPr id="6" name="Shape 4"/>
          <p:cNvSpPr/>
          <p:nvPr/>
        </p:nvSpPr>
        <p:spPr>
          <a:xfrm>
            <a:off x="985838" y="2633663"/>
            <a:ext cx="9525" cy="304800"/>
          </a:xfrm>
          <a:prstGeom prst="rect">
            <a:avLst/>
          </a:prstGeom>
          <a:solidFill>
            <a:srgbClr val="000000">
              <a:alpha val="12000"/>
            </a:srgbClr>
          </a:solidFill>
          <a:ln/>
        </p:spPr>
      </p:sp>
      <p:sp>
        <p:nvSpPr>
          <p:cNvPr id="7" name="Shape 5"/>
          <p:cNvSpPr/>
          <p:nvPr/>
        </p:nvSpPr>
        <p:spPr>
          <a:xfrm>
            <a:off x="4567238" y="1719263"/>
            <a:ext cx="1600200" cy="866775"/>
          </a:xfrm>
          <a:prstGeom prst="rect">
            <a:avLst/>
          </a:prstGeom>
          <a:noFill/>
          <a:ln/>
        </p:spPr>
      </p:sp>
      <p:sp>
        <p:nvSpPr>
          <p:cNvPr id="8" name="Text 6"/>
          <p:cNvSpPr/>
          <p:nvPr/>
        </p:nvSpPr>
        <p:spPr>
          <a:xfrm>
            <a:off x="4567238" y="1719263"/>
            <a:ext cx="1600200" cy="161925"/>
          </a:xfrm>
          <a:prstGeom prst="rect">
            <a:avLst/>
          </a:prstGeom>
          <a:noFill/>
          <a:ln/>
        </p:spPr>
        <p:txBody>
          <a:bodyPr wrap="square" lIns="0" tIns="0" rIns="0" bIns="0" rtlCol="0" anchor="t"/>
          <a:lstStyle/>
          <a:p>
            <a:pPr algn="l" indent="0" marL="0">
              <a:lnSpc>
                <a:spcPts val="1197"/>
              </a:lnSpc>
              <a:buNone/>
            </a:pPr>
            <a:r>
              <a:rPr lang="en-US" sz="855" dirty="0">
                <a:solidFill>
                  <a:srgbClr val="FFFFFF">
                    <a:alpha val="99000"/>
                  </a:srgbClr>
                </a:solidFill>
                <a:latin typeface="Public Sans" pitchFamily="34" charset="0"/>
                <a:ea typeface="Public Sans" pitchFamily="34" charset="-122"/>
                <a:cs typeface="Public Sans" pitchFamily="34" charset="-120"/>
              </a:rPr>
              <a:t>SOLUTION ALIGNMENT</a:t>
            </a:r>
            <a:endParaRPr lang="en-US" sz="855" dirty="0"/>
          </a:p>
        </p:txBody>
      </p:sp>
      <p:sp>
        <p:nvSpPr>
          <p:cNvPr id="9" name="Text 7"/>
          <p:cNvSpPr/>
          <p:nvPr/>
        </p:nvSpPr>
        <p:spPr>
          <a:xfrm>
            <a:off x="4567238" y="1938337"/>
            <a:ext cx="1600200" cy="647700"/>
          </a:xfrm>
          <a:prstGeom prst="rect">
            <a:avLst/>
          </a:prstGeom>
          <a:noFill/>
          <a:ln/>
        </p:spPr>
        <p:txBody>
          <a:bodyPr wrap="square" lIns="0" tIns="0" rIns="0" bIns="0" rtlCol="0" anchor="t"/>
          <a:lstStyle/>
          <a:p>
            <a:pPr algn="l" indent="0" marL="0">
              <a:lnSpc>
                <a:spcPts val="1197"/>
              </a:lnSpc>
              <a:buNone/>
            </a:pPr>
            <a:r>
              <a:rPr lang="en-US" sz="855" dirty="0">
                <a:solidFill>
                  <a:srgbClr val="FFFFFF">
                    <a:alpha val="99000"/>
                  </a:srgbClr>
                </a:solidFill>
                <a:latin typeface="Roboto" pitchFamily="34" charset="0"/>
                <a:ea typeface="Roboto" pitchFamily="34" charset="-122"/>
                <a:cs typeface="Roboto" pitchFamily="34" charset="-120"/>
              </a:rPr>
              <a:t>If you need to squeeze in more than four stages, you can duplicate and move around these text blocks as needed.</a:t>
            </a:r>
            <a:endParaRPr lang="en-US" sz="855" dirty="0"/>
          </a:p>
        </p:txBody>
      </p:sp>
      <p:sp>
        <p:nvSpPr>
          <p:cNvPr id="10" name="Shape 8"/>
          <p:cNvSpPr/>
          <p:nvPr/>
        </p:nvSpPr>
        <p:spPr>
          <a:xfrm>
            <a:off x="4567238" y="2643188"/>
            <a:ext cx="9525" cy="304800"/>
          </a:xfrm>
          <a:prstGeom prst="rect">
            <a:avLst/>
          </a:prstGeom>
          <a:solidFill>
            <a:srgbClr val="000CC8"/>
          </a:solidFill>
          <a:ln/>
        </p:spPr>
      </p:sp>
      <p:sp>
        <p:nvSpPr>
          <p:cNvPr id="11" name="Text 9"/>
          <p:cNvSpPr/>
          <p:nvPr/>
        </p:nvSpPr>
        <p:spPr>
          <a:xfrm>
            <a:off x="4567238" y="3109913"/>
            <a:ext cx="1600200" cy="128588"/>
          </a:xfrm>
          <a:prstGeom prst="rect">
            <a:avLst/>
          </a:prstGeom>
          <a:noFill/>
          <a:ln/>
        </p:spPr>
        <p:txBody>
          <a:bodyPr wrap="square" lIns="0" tIns="0" rIns="0" bIns="0" rtlCol="0" anchor="t"/>
          <a:lstStyle/>
          <a:p>
            <a:pPr algn="l" indent="0" marL="0">
              <a:lnSpc>
                <a:spcPts val="1924"/>
              </a:lnSpc>
              <a:buNone/>
            </a:pPr>
            <a:r>
              <a:rPr lang="en-US" sz="1354" dirty="0">
                <a:solidFill>
                  <a:srgbClr val="FFFFFF">
                    <a:alpha val="99000"/>
                  </a:srgbClr>
                </a:solidFill>
                <a:latin typeface="Roboto" pitchFamily="34" charset="0"/>
                <a:ea typeface="Roboto" pitchFamily="34" charset="-122"/>
                <a:cs typeface="Roboto" pitchFamily="34" charset="-120"/>
              </a:rPr>
              <a:t>June</a:t>
            </a:r>
            <a:endParaRPr lang="en-US" sz="1354" dirty="0"/>
          </a:p>
        </p:txBody>
      </p:sp>
      <p:sp>
        <p:nvSpPr>
          <p:cNvPr id="12" name="Shape 10"/>
          <p:cNvSpPr/>
          <p:nvPr/>
        </p:nvSpPr>
        <p:spPr>
          <a:xfrm>
            <a:off x="990600" y="1866900"/>
            <a:ext cx="1747838" cy="704850"/>
          </a:xfrm>
          <a:prstGeom prst="rect">
            <a:avLst/>
          </a:prstGeom>
          <a:noFill/>
          <a:ln/>
        </p:spPr>
      </p:sp>
      <p:sp>
        <p:nvSpPr>
          <p:cNvPr id="13" name="Text 11"/>
          <p:cNvSpPr/>
          <p:nvPr/>
        </p:nvSpPr>
        <p:spPr>
          <a:xfrm>
            <a:off x="990600" y="1866900"/>
            <a:ext cx="1747838" cy="161925"/>
          </a:xfrm>
          <a:prstGeom prst="rect">
            <a:avLst/>
          </a:prstGeom>
          <a:noFill/>
          <a:ln/>
        </p:spPr>
        <p:txBody>
          <a:bodyPr wrap="square" lIns="0" tIns="0" rIns="0" bIns="0" rtlCol="0" anchor="t"/>
          <a:lstStyle/>
          <a:p>
            <a:pPr algn="l" indent="0" marL="0">
              <a:lnSpc>
                <a:spcPts val="1197"/>
              </a:lnSpc>
              <a:buNone/>
            </a:pPr>
            <a:r>
              <a:rPr lang="en-US" sz="855" dirty="0">
                <a:solidFill>
                  <a:srgbClr val="FFFFFF">
                    <a:alpha val="99000"/>
                  </a:srgbClr>
                </a:solidFill>
                <a:latin typeface="Roboto" pitchFamily="34" charset="0"/>
                <a:ea typeface="Roboto" pitchFamily="34" charset="-122"/>
                <a:cs typeface="Roboto" pitchFamily="34" charset="-120"/>
              </a:rPr>
              <a:t>PROBLEM ALIGNMENT</a:t>
            </a:r>
            <a:endParaRPr lang="en-US" sz="855" dirty="0"/>
          </a:p>
        </p:txBody>
      </p:sp>
      <p:sp>
        <p:nvSpPr>
          <p:cNvPr id="14" name="Text 12"/>
          <p:cNvSpPr/>
          <p:nvPr/>
        </p:nvSpPr>
        <p:spPr>
          <a:xfrm>
            <a:off x="990600" y="2085975"/>
            <a:ext cx="1747838" cy="485775"/>
          </a:xfrm>
          <a:prstGeom prst="rect">
            <a:avLst/>
          </a:prstGeom>
          <a:noFill/>
          <a:ln/>
        </p:spPr>
        <p:txBody>
          <a:bodyPr wrap="square" lIns="0" tIns="0" rIns="0" bIns="0" rtlCol="0" anchor="t"/>
          <a:lstStyle/>
          <a:p>
            <a:pPr algn="l" indent="0" marL="0">
              <a:lnSpc>
                <a:spcPts val="1197"/>
              </a:lnSpc>
              <a:buNone/>
            </a:pPr>
            <a:r>
              <a:rPr lang="en-US" sz="855" dirty="0">
                <a:solidFill>
                  <a:srgbClr val="FFFFFF">
                    <a:alpha val="99000"/>
                  </a:srgbClr>
                </a:solidFill>
                <a:latin typeface="Roboto" pitchFamily="34" charset="0"/>
                <a:ea typeface="Roboto" pitchFamily="34" charset="-122"/>
                <a:cs typeface="Roboto" pitchFamily="34" charset="-120"/>
              </a:rPr>
              <a:t>Use this slide to map out the stages of your design process, and frame where you’re at.</a:t>
            </a:r>
            <a:endParaRPr lang="en-US" sz="855" dirty="0"/>
          </a:p>
        </p:txBody>
      </p:sp>
      <p:sp>
        <p:nvSpPr>
          <p:cNvPr id="15" name="Shape 13"/>
          <p:cNvSpPr/>
          <p:nvPr/>
        </p:nvSpPr>
        <p:spPr>
          <a:xfrm>
            <a:off x="990600" y="2628900"/>
            <a:ext cx="9525" cy="304800"/>
          </a:xfrm>
          <a:prstGeom prst="rect">
            <a:avLst/>
          </a:prstGeom>
          <a:solidFill>
            <a:srgbClr val="000CC8"/>
          </a:solidFill>
          <a:ln/>
        </p:spPr>
      </p:sp>
      <p:sp>
        <p:nvSpPr>
          <p:cNvPr id="16" name="Text 14"/>
          <p:cNvSpPr/>
          <p:nvPr/>
        </p:nvSpPr>
        <p:spPr>
          <a:xfrm>
            <a:off x="990600" y="3095625"/>
            <a:ext cx="1600200" cy="128588"/>
          </a:xfrm>
          <a:prstGeom prst="rect">
            <a:avLst/>
          </a:prstGeom>
          <a:noFill/>
          <a:ln/>
        </p:spPr>
        <p:txBody>
          <a:bodyPr wrap="square" lIns="0" tIns="0" rIns="0" bIns="0" rtlCol="0" anchor="t"/>
          <a:lstStyle/>
          <a:p>
            <a:pPr algn="l" indent="0" marL="0">
              <a:lnSpc>
                <a:spcPts val="1924"/>
              </a:lnSpc>
              <a:buNone/>
            </a:pPr>
            <a:r>
              <a:rPr lang="en-US" sz="1354" dirty="0">
                <a:solidFill>
                  <a:srgbClr val="000000">
                    <a:alpha val="99000"/>
                  </a:srgbClr>
                </a:solidFill>
                <a:latin typeface="Roboto" pitchFamily="34" charset="0"/>
                <a:ea typeface="Roboto" pitchFamily="34" charset="-122"/>
                <a:cs typeface="Roboto" pitchFamily="34" charset="-120"/>
              </a:rPr>
              <a:t>Last week</a:t>
            </a:r>
            <a:endParaRPr lang="en-US" sz="1354" dirty="0"/>
          </a:p>
        </p:txBody>
      </p:sp>
      <p:sp>
        <p:nvSpPr>
          <p:cNvPr id="17" name="Text 15"/>
          <p:cNvSpPr/>
          <p:nvPr/>
        </p:nvSpPr>
        <p:spPr>
          <a:xfrm>
            <a:off x="6672263" y="2657475"/>
            <a:ext cx="1600200" cy="128588"/>
          </a:xfrm>
          <a:prstGeom prst="rect">
            <a:avLst/>
          </a:prstGeom>
          <a:noFill/>
          <a:ln/>
        </p:spPr>
        <p:txBody>
          <a:bodyPr wrap="square" lIns="0" tIns="0" rIns="0" bIns="0" rtlCol="0" anchor="t"/>
          <a:lstStyle/>
          <a:p>
            <a:pPr algn="l" indent="0" marL="0">
              <a:lnSpc>
                <a:spcPts val="1924"/>
              </a:lnSpc>
              <a:buNone/>
            </a:pPr>
            <a:r>
              <a:rPr lang="en-US" sz="1354" dirty="0">
                <a:solidFill>
                  <a:srgbClr val="FFFFFF">
                    <a:alpha val="99000"/>
                  </a:srgbClr>
                </a:solidFill>
                <a:latin typeface="Roboto" pitchFamily="34" charset="0"/>
                <a:ea typeface="Roboto" pitchFamily="34" charset="-122"/>
                <a:cs typeface="Roboto" pitchFamily="34" charset="-120"/>
              </a:rPr>
              <a:t>July</a:t>
            </a:r>
            <a:endParaRPr lang="en-US" sz="1354" dirty="0"/>
          </a:p>
        </p:txBody>
      </p:sp>
      <p:sp>
        <p:nvSpPr>
          <p:cNvPr id="18" name="Shape 16"/>
          <p:cNvSpPr/>
          <p:nvPr/>
        </p:nvSpPr>
        <p:spPr>
          <a:xfrm>
            <a:off x="6672263" y="2947988"/>
            <a:ext cx="9525" cy="304800"/>
          </a:xfrm>
          <a:prstGeom prst="rect">
            <a:avLst/>
          </a:prstGeom>
          <a:solidFill>
            <a:srgbClr val="000CC8"/>
          </a:solidFill>
          <a:ln/>
        </p:spPr>
      </p:sp>
      <p:sp>
        <p:nvSpPr>
          <p:cNvPr id="19" name="Shape 17"/>
          <p:cNvSpPr/>
          <p:nvPr/>
        </p:nvSpPr>
        <p:spPr>
          <a:xfrm>
            <a:off x="6672263" y="3309938"/>
            <a:ext cx="1600200" cy="704850"/>
          </a:xfrm>
          <a:prstGeom prst="rect">
            <a:avLst/>
          </a:prstGeom>
          <a:noFill/>
          <a:ln/>
        </p:spPr>
      </p:sp>
      <p:sp>
        <p:nvSpPr>
          <p:cNvPr id="20" name="Text 18"/>
          <p:cNvSpPr/>
          <p:nvPr/>
        </p:nvSpPr>
        <p:spPr>
          <a:xfrm>
            <a:off x="6672263" y="3309938"/>
            <a:ext cx="1600200" cy="161925"/>
          </a:xfrm>
          <a:prstGeom prst="rect">
            <a:avLst/>
          </a:prstGeom>
          <a:noFill/>
          <a:ln/>
        </p:spPr>
        <p:txBody>
          <a:bodyPr wrap="square" lIns="0" tIns="0" rIns="0" bIns="0" rtlCol="0" anchor="t"/>
          <a:lstStyle/>
          <a:p>
            <a:pPr algn="l" indent="0" marL="0">
              <a:lnSpc>
                <a:spcPts val="1197"/>
              </a:lnSpc>
              <a:buNone/>
            </a:pPr>
            <a:r>
              <a:rPr lang="en-US" sz="855" dirty="0">
                <a:solidFill>
                  <a:srgbClr val="FFFFFF">
                    <a:alpha val="99000"/>
                  </a:srgbClr>
                </a:solidFill>
                <a:latin typeface="Public Sans" pitchFamily="34" charset="0"/>
                <a:ea typeface="Public Sans" pitchFamily="34" charset="-122"/>
                <a:cs typeface="Public Sans" pitchFamily="34" charset="-120"/>
              </a:rPr>
              <a:t>HANDOFF</a:t>
            </a:r>
            <a:endParaRPr lang="en-US" sz="855" dirty="0"/>
          </a:p>
        </p:txBody>
      </p:sp>
      <p:sp>
        <p:nvSpPr>
          <p:cNvPr id="21" name="Text 19"/>
          <p:cNvSpPr/>
          <p:nvPr/>
        </p:nvSpPr>
        <p:spPr>
          <a:xfrm>
            <a:off x="6672263" y="3529013"/>
            <a:ext cx="1600200" cy="485775"/>
          </a:xfrm>
          <a:prstGeom prst="rect">
            <a:avLst/>
          </a:prstGeom>
          <a:noFill/>
          <a:ln/>
        </p:spPr>
        <p:txBody>
          <a:bodyPr wrap="square" lIns="0" tIns="0" rIns="0" bIns="0" rtlCol="0" anchor="t"/>
          <a:lstStyle/>
          <a:p>
            <a:pPr algn="l" indent="0" marL="0">
              <a:lnSpc>
                <a:spcPts val="1197"/>
              </a:lnSpc>
              <a:buNone/>
            </a:pPr>
            <a:r>
              <a:rPr lang="en-US" sz="855" dirty="0">
                <a:solidFill>
                  <a:srgbClr val="FFFFFF">
                    <a:alpha val="99000"/>
                  </a:srgbClr>
                </a:solidFill>
                <a:latin typeface="Roboto" pitchFamily="34" charset="0"/>
                <a:ea typeface="Roboto" pitchFamily="34" charset="-122"/>
                <a:cs typeface="Roboto" pitchFamily="34" charset="-120"/>
              </a:rPr>
              <a:t>If you’ve got a bunch of stages or dates, consider using multiple copies of this slide.</a:t>
            </a:r>
            <a:endParaRPr lang="en-US" sz="855" dirty="0"/>
          </a:p>
        </p:txBody>
      </p:sp>
      <p:sp>
        <p:nvSpPr>
          <p:cNvPr id="22" name="Text 20"/>
          <p:cNvSpPr/>
          <p:nvPr/>
        </p:nvSpPr>
        <p:spPr>
          <a:xfrm>
            <a:off x="2781300" y="2657475"/>
            <a:ext cx="1600200" cy="128588"/>
          </a:xfrm>
          <a:prstGeom prst="rect">
            <a:avLst/>
          </a:prstGeom>
          <a:noFill/>
          <a:ln/>
        </p:spPr>
        <p:txBody>
          <a:bodyPr wrap="square" lIns="0" tIns="0" rIns="0" bIns="0" rtlCol="0" anchor="t"/>
          <a:lstStyle/>
          <a:p>
            <a:pPr algn="l" indent="0" marL="0">
              <a:lnSpc>
                <a:spcPts val="1924"/>
              </a:lnSpc>
              <a:buNone/>
            </a:pPr>
            <a:r>
              <a:rPr lang="en-US" sz="1354" dirty="0">
                <a:solidFill>
                  <a:srgbClr val="FFFFFF">
                    <a:alpha val="99000"/>
                  </a:srgbClr>
                </a:solidFill>
                <a:latin typeface="Roboto" pitchFamily="34" charset="0"/>
                <a:ea typeface="Roboto" pitchFamily="34" charset="-122"/>
                <a:cs typeface="Roboto" pitchFamily="34" charset="-120"/>
              </a:rPr>
              <a:t>This week</a:t>
            </a:r>
            <a:endParaRPr lang="en-US" sz="1354" dirty="0"/>
          </a:p>
        </p:txBody>
      </p:sp>
      <p:sp>
        <p:nvSpPr>
          <p:cNvPr id="23" name="Shape 21"/>
          <p:cNvSpPr/>
          <p:nvPr/>
        </p:nvSpPr>
        <p:spPr>
          <a:xfrm>
            <a:off x="2781300" y="2947988"/>
            <a:ext cx="9525" cy="304800"/>
          </a:xfrm>
          <a:prstGeom prst="rect">
            <a:avLst/>
          </a:prstGeom>
          <a:solidFill>
            <a:srgbClr val="00088D"/>
          </a:solidFill>
          <a:ln/>
        </p:spPr>
      </p:sp>
      <p:sp>
        <p:nvSpPr>
          <p:cNvPr id="24" name="Shape 22"/>
          <p:cNvSpPr/>
          <p:nvPr/>
        </p:nvSpPr>
        <p:spPr>
          <a:xfrm>
            <a:off x="2781300" y="3309938"/>
            <a:ext cx="1600200" cy="704850"/>
          </a:xfrm>
          <a:prstGeom prst="rect">
            <a:avLst/>
          </a:prstGeom>
          <a:noFill/>
          <a:ln/>
        </p:spPr>
      </p:sp>
      <p:sp>
        <p:nvSpPr>
          <p:cNvPr id="25" name="Text 23"/>
          <p:cNvSpPr/>
          <p:nvPr/>
        </p:nvSpPr>
        <p:spPr>
          <a:xfrm>
            <a:off x="2781300" y="3309938"/>
            <a:ext cx="1600200" cy="161925"/>
          </a:xfrm>
          <a:prstGeom prst="rect">
            <a:avLst/>
          </a:prstGeom>
          <a:noFill/>
          <a:ln/>
        </p:spPr>
        <p:txBody>
          <a:bodyPr wrap="square" lIns="0" tIns="0" rIns="0" bIns="0" rtlCol="0" anchor="t"/>
          <a:lstStyle/>
          <a:p>
            <a:pPr algn="l" indent="0" marL="0">
              <a:lnSpc>
                <a:spcPts val="1197"/>
              </a:lnSpc>
              <a:buNone/>
            </a:pPr>
            <a:r>
              <a:rPr lang="en-US" sz="855" dirty="0">
                <a:solidFill>
                  <a:srgbClr val="FFFFFF">
                    <a:alpha val="99000"/>
                  </a:srgbClr>
                </a:solidFill>
                <a:latin typeface="Public Sans" pitchFamily="34" charset="0"/>
                <a:ea typeface="Public Sans" pitchFamily="34" charset="-122"/>
                <a:cs typeface="Public Sans" pitchFamily="34" charset="-120"/>
              </a:rPr>
              <a:t>EXPLORATION</a:t>
            </a:r>
            <a:endParaRPr lang="en-US" sz="855" dirty="0"/>
          </a:p>
        </p:txBody>
      </p:sp>
      <p:sp>
        <p:nvSpPr>
          <p:cNvPr id="26" name="Text 24"/>
          <p:cNvSpPr/>
          <p:nvPr/>
        </p:nvSpPr>
        <p:spPr>
          <a:xfrm>
            <a:off x="2781300" y="3529013"/>
            <a:ext cx="1600200" cy="485775"/>
          </a:xfrm>
          <a:prstGeom prst="rect">
            <a:avLst/>
          </a:prstGeom>
          <a:noFill/>
          <a:ln/>
        </p:spPr>
        <p:txBody>
          <a:bodyPr wrap="square" lIns="0" tIns="0" rIns="0" bIns="0" rtlCol="0" anchor="t"/>
          <a:lstStyle/>
          <a:p>
            <a:pPr algn="l" indent="0" marL="0">
              <a:lnSpc>
                <a:spcPts val="1197"/>
              </a:lnSpc>
              <a:buNone/>
            </a:pPr>
            <a:r>
              <a:rPr lang="en-US" sz="855" dirty="0">
                <a:solidFill>
                  <a:srgbClr val="FFFFFF">
                    <a:alpha val="99000"/>
                  </a:srgbClr>
                </a:solidFill>
                <a:latin typeface="Roboto" pitchFamily="34" charset="0"/>
                <a:ea typeface="Roboto" pitchFamily="34" charset="-122"/>
                <a:cs typeface="Roboto" pitchFamily="34" charset="-120"/>
              </a:rPr>
              <a:t>You can say a bit more about each stage in this space, below each stage.</a:t>
            </a:r>
            <a:endParaRPr lang="en-US" sz="855" dirty="0"/>
          </a:p>
        </p:txBody>
      </p:sp>
      <p:sp>
        <p:nvSpPr>
          <p:cNvPr id="27" name="Shape 25"/>
          <p:cNvSpPr/>
          <p:nvPr/>
        </p:nvSpPr>
        <p:spPr>
          <a:xfrm>
            <a:off x="800100" y="2938463"/>
            <a:ext cx="7543800" cy="38100"/>
          </a:xfrm>
          <a:prstGeom prst="roundRect">
            <a:avLst/>
          </a:prstGeom>
          <a:solidFill>
            <a:srgbClr val="000CC8"/>
          </a:solidFill>
          <a:ln/>
        </p:spPr>
      </p:sp>
      <p:sp>
        <p:nvSpPr>
          <p:cNvPr id="28" name="Shape 26"/>
          <p:cNvSpPr/>
          <p:nvPr/>
        </p:nvSpPr>
        <p:spPr>
          <a:xfrm>
            <a:off x="2738438" y="3195638"/>
            <a:ext cx="85725" cy="85725"/>
          </a:xfrm>
          <a:prstGeom prst="ellipse">
            <a:avLst/>
          </a:prstGeom>
          <a:solidFill>
            <a:srgbClr val="000CC8"/>
          </a:solidFill>
          <a:ln/>
        </p:spPr>
      </p:sp>
      <p:sp>
        <p:nvSpPr>
          <p:cNvPr id="29" name="Shape 27"/>
          <p:cNvSpPr/>
          <p:nvPr/>
        </p:nvSpPr>
        <p:spPr>
          <a:xfrm>
            <a:off x="4524375" y="2633663"/>
            <a:ext cx="85725" cy="85725"/>
          </a:xfrm>
          <a:prstGeom prst="ellipse">
            <a:avLst/>
          </a:prstGeom>
          <a:solidFill>
            <a:srgbClr val="000CC8"/>
          </a:solidFill>
          <a:ln/>
        </p:spPr>
      </p:sp>
      <p:sp>
        <p:nvSpPr>
          <p:cNvPr id="30" name="Shape 28"/>
          <p:cNvSpPr/>
          <p:nvPr/>
        </p:nvSpPr>
        <p:spPr>
          <a:xfrm>
            <a:off x="6634163" y="3195638"/>
            <a:ext cx="85725" cy="85725"/>
          </a:xfrm>
          <a:prstGeom prst="ellipse">
            <a:avLst/>
          </a:prstGeom>
          <a:solidFill>
            <a:srgbClr val="000CC8"/>
          </a:solidFill>
          <a:ln/>
        </p:spPr>
      </p:sp>
      <p:sp>
        <p:nvSpPr>
          <p:cNvPr id="31" name="Shape 29"/>
          <p:cNvSpPr/>
          <p:nvPr/>
        </p:nvSpPr>
        <p:spPr>
          <a:xfrm>
            <a:off x="947737" y="2633663"/>
            <a:ext cx="85725" cy="85725"/>
          </a:xfrm>
          <a:prstGeom prst="ellipse">
            <a:avLst/>
          </a:prstGeom>
          <a:solidFill>
            <a:srgbClr val="000CC8"/>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FFFFFF"/>
          </a:solidFill>
          <a:ln/>
        </p:spPr>
      </p:sp>
      <p:sp>
        <p:nvSpPr>
          <p:cNvPr id="4" name="Text 1"/>
          <p:cNvSpPr/>
          <p:nvPr/>
        </p:nvSpPr>
        <p:spPr>
          <a:xfrm>
            <a:off x="3957638" y="1385888"/>
            <a:ext cx="4886325" cy="3667125"/>
          </a:xfrm>
          <a:prstGeom prst="rect">
            <a:avLst/>
          </a:prstGeom>
          <a:noFill/>
          <a:ln/>
        </p:spPr>
        <p:txBody>
          <a:bodyPr wrap="square" lIns="0" tIns="0" rIns="0" bIns="0" rtlCol="0" anchor="t"/>
          <a:lstStyle/>
          <a:p>
            <a:pPr algn="r" indent="0" marL="0">
              <a:lnSpc>
                <a:spcPts val="27431"/>
              </a:lnSpc>
              <a:buNone/>
            </a:pPr>
            <a:r>
              <a:rPr lang="en-US" sz="24938" spc="-1247" kern="0" dirty="0">
                <a:solidFill>
                  <a:srgbClr val="000000"/>
                </a:solidFill>
                <a:latin typeface="IBM Plex Sans" pitchFamily="34" charset="0"/>
                <a:ea typeface="IBM Plex Sans" pitchFamily="34" charset="-122"/>
                <a:cs typeface="IBM Plex Sans" pitchFamily="34" charset="-120"/>
              </a:rPr>
              <a:t>04</a:t>
            </a:r>
            <a:endParaRPr lang="en-US" sz="24938" dirty="0"/>
          </a:p>
        </p:txBody>
      </p:sp>
      <p:sp>
        <p:nvSpPr>
          <p:cNvPr id="5" name="Text 2"/>
          <p:cNvSpPr/>
          <p:nvPr/>
        </p:nvSpPr>
        <p:spPr>
          <a:xfrm>
            <a:off x="647700" y="1047750"/>
            <a:ext cx="4629150" cy="1571625"/>
          </a:xfrm>
          <a:prstGeom prst="rect">
            <a:avLst/>
          </a:prstGeom>
          <a:noFill/>
          <a:ln/>
        </p:spPr>
        <p:txBody>
          <a:bodyPr wrap="square" lIns="0" tIns="0" rIns="0" bIns="0" rtlCol="0" anchor="t"/>
          <a:lstStyle/>
          <a:p>
            <a:pPr algn="l" indent="0" marL="0">
              <a:lnSpc>
                <a:spcPts val="5878"/>
              </a:lnSpc>
              <a:buNone/>
            </a:pPr>
            <a:r>
              <a:rPr lang="en-US" sz="5344" b="1" dirty="0">
                <a:solidFill>
                  <a:srgbClr val="000000">
                    <a:alpha val="99000"/>
                  </a:srgbClr>
                </a:solidFill>
                <a:latin typeface="IBM Plex Sans" pitchFamily="34" charset="0"/>
                <a:ea typeface="IBM Plex Sans" pitchFamily="34" charset="-122"/>
                <a:cs typeface="IBM Plex Sans" pitchFamily="34" charset="-120"/>
              </a:rPr>
              <a:t>Key deliverables</a:t>
            </a:r>
            <a:endParaRPr lang="en-US" sz="5344"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000000"/>
          </a:solidFill>
          <a:ln/>
        </p:spPr>
      </p:sp>
      <p:sp>
        <p:nvSpPr>
          <p:cNvPr id="3" name="Text 1"/>
          <p:cNvSpPr/>
          <p:nvPr/>
        </p:nvSpPr>
        <p:spPr>
          <a:xfrm>
            <a:off x="3957638" y="1385888"/>
            <a:ext cx="4886325" cy="3667125"/>
          </a:xfrm>
          <a:prstGeom prst="rect">
            <a:avLst/>
          </a:prstGeom>
          <a:noFill/>
          <a:ln/>
        </p:spPr>
        <p:txBody>
          <a:bodyPr wrap="square" lIns="0" tIns="0" rIns="0" bIns="0" rtlCol="0" anchor="t"/>
          <a:lstStyle/>
          <a:p>
            <a:pPr algn="r" indent="0" marL="0">
              <a:lnSpc>
                <a:spcPts val="27431"/>
              </a:lnSpc>
              <a:buNone/>
            </a:pPr>
            <a:r>
              <a:rPr lang="en-US" sz="24938" spc="-1247" kern="0" dirty="0">
                <a:solidFill>
                  <a:srgbClr val="000000"/>
                </a:solidFill>
                <a:latin typeface="IBM Plex Sans" pitchFamily="34" charset="0"/>
                <a:ea typeface="IBM Plex Sans" pitchFamily="34" charset="-122"/>
                <a:cs typeface="IBM Plex Sans" pitchFamily="34" charset="-120"/>
              </a:rPr>
              <a:t>04</a:t>
            </a:r>
            <a:endParaRPr lang="en-US" sz="24938" dirty="0"/>
          </a:p>
        </p:txBody>
      </p:sp>
      <p:sp>
        <p:nvSpPr>
          <p:cNvPr id="4" name="Text 2"/>
          <p:cNvSpPr/>
          <p:nvPr/>
        </p:nvSpPr>
        <p:spPr>
          <a:xfrm>
            <a:off x="623888" y="1047750"/>
            <a:ext cx="4086225" cy="1571625"/>
          </a:xfrm>
          <a:prstGeom prst="rect">
            <a:avLst/>
          </a:prstGeom>
          <a:noFill/>
          <a:ln/>
        </p:spPr>
        <p:txBody>
          <a:bodyPr wrap="square" lIns="0" tIns="0" rIns="0" bIns="0" rtlCol="0" anchor="t"/>
          <a:lstStyle/>
          <a:p>
            <a:pPr algn="l" indent="0" marL="0">
              <a:lnSpc>
                <a:spcPts val="5878"/>
              </a:lnSpc>
              <a:buNone/>
            </a:pPr>
            <a:r>
              <a:rPr lang="en-US" sz="5344" b="1" dirty="0">
                <a:solidFill>
                  <a:srgbClr val="FFFFFF">
                    <a:alpha val="99000"/>
                  </a:srgbClr>
                </a:solidFill>
                <a:latin typeface="IBM Plex Sans" pitchFamily="34" charset="0"/>
                <a:ea typeface="IBM Plex Sans" pitchFamily="34" charset="-122"/>
                <a:cs typeface="IBM Plex Sans" pitchFamily="34" charset="-120"/>
              </a:rPr>
              <a:t>Key deliverables</a:t>
            </a:r>
            <a:endParaRPr lang="en-US" sz="5344"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FFFFF"/>
          </a:solidFill>
          <a:ln w="4524">
            <a:solidFill>
              <a:srgbClr val="FFFFFF"/>
            </a:solidFill>
            <a:prstDash val="solid"/>
          </a:ln>
        </p:spPr>
      </p:sp>
      <p:pic>
        <p:nvPicPr>
          <p:cNvPr id="3" name="Image 0" descr="preencoded.png">    </p:cNvPr>
          <p:cNvPicPr>
            <a:picLocks noChangeAspect="1"/>
          </p:cNvPicPr>
          <p:nvPr/>
        </p:nvPicPr>
        <p:blipFill>
          <a:blip r:embed="rId1"/>
          <a:srcRect l="0" r="0" t="0" b="0"/>
          <a:stretch/>
        </p:blipFill>
        <p:spPr>
          <a:xfrm>
            <a:off x="190500" y="323850"/>
            <a:ext cx="8763000" cy="2176463"/>
          </a:xfrm>
          <a:prstGeom prst="rect">
            <a:avLst/>
          </a:prstGeom>
        </p:spPr>
      </p:pic>
      <p:sp>
        <p:nvSpPr>
          <p:cNvPr id="4" name="Shape 1"/>
          <p:cNvSpPr/>
          <p:nvPr/>
        </p:nvSpPr>
        <p:spPr>
          <a:xfrm>
            <a:off x="190500" y="2957513"/>
            <a:ext cx="8682038" cy="1814513"/>
          </a:xfrm>
          <a:prstGeom prst="rect">
            <a:avLst/>
          </a:prstGeom>
          <a:noFill/>
          <a:ln/>
        </p:spPr>
      </p:sp>
      <p:sp>
        <p:nvSpPr>
          <p:cNvPr id="5" name="Shape 2"/>
          <p:cNvSpPr/>
          <p:nvPr/>
        </p:nvSpPr>
        <p:spPr>
          <a:xfrm>
            <a:off x="190500" y="2957513"/>
            <a:ext cx="2366963" cy="1343025"/>
          </a:xfrm>
          <a:prstGeom prst="rect">
            <a:avLst/>
          </a:prstGeom>
          <a:noFill/>
          <a:ln/>
        </p:spPr>
      </p:sp>
      <p:sp>
        <p:nvSpPr>
          <p:cNvPr id="6" name="Text 3"/>
          <p:cNvSpPr/>
          <p:nvPr/>
        </p:nvSpPr>
        <p:spPr>
          <a:xfrm>
            <a:off x="190500" y="2957513"/>
            <a:ext cx="236696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Deliverables 1</a:t>
            </a:r>
            <a:endParaRPr lang="en-US" sz="1425" dirty="0"/>
          </a:p>
        </p:txBody>
      </p:sp>
      <p:sp>
        <p:nvSpPr>
          <p:cNvPr id="7" name="Text 4"/>
          <p:cNvSpPr/>
          <p:nvPr/>
        </p:nvSpPr>
        <p:spPr>
          <a:xfrm>
            <a:off x="190500" y="3357563"/>
            <a:ext cx="2366963" cy="942975"/>
          </a:xfrm>
          <a:prstGeom prst="rect">
            <a:avLst/>
          </a:prstGeom>
          <a:noFill/>
          <a:ln/>
        </p:spPr>
        <p:txBody>
          <a:bodyPr wrap="square" lIns="0" tIns="0" rIns="0" bIns="0" rtlCol="0" anchor="b"/>
          <a:lstStyle/>
          <a:p>
            <a:pPr algn="l" indent="0" marL="0">
              <a:lnSpc>
                <a:spcPts val="1176"/>
              </a:lnSpc>
              <a:buNone/>
            </a:pPr>
            <a:r>
              <a:rPr lang="en-US" sz="784" spc="-17" kern="0" dirty="0">
                <a:solidFill>
                  <a:srgbClr val="000000">
                    <a:alpha val="99000"/>
                  </a:srgbClr>
                </a:solidFill>
                <a:latin typeface="Roboto" pitchFamily="34" charset="0"/>
                <a:ea typeface="Roboto" pitchFamily="34" charset="-122"/>
                <a:cs typeface="Roboto" pitchFamily="34" charset="-120"/>
              </a:rPr>
              <a:t>Describe what this feature or concept is all about, so the audience understands what they’re looking at.</a:t>
            </a:r>
            <a:endParaRPr lang="en-US" sz="784" dirty="0"/>
          </a:p>
          <a:p>
            <a:pPr algn="l" indent="0" marL="0">
              <a:lnSpc>
                <a:spcPts val="1176"/>
              </a:lnSpc>
              <a:buNone/>
            </a:pPr>
            <a:r>
              <a:rPr lang="en-US" sz="784" spc="-17" kern="0" dirty="0">
                <a:solidFill>
                  <a:srgbClr val="000000">
                    <a:alpha val="99000"/>
                  </a:srgbClr>
                </a:solidFill>
                <a:latin typeface="Roboto" pitchFamily="34" charset="0"/>
                <a:ea typeface="Roboto" pitchFamily="34" charset="-122"/>
                <a:cs typeface="Roboto" pitchFamily="34" charset="-120"/>
              </a:rPr>
              <a:t>Add an interactive Figma prototype or a video for the best viewer experience. Otherwise, consider breaking up the flow across multiple slides.</a:t>
            </a:r>
            <a:endParaRPr lang="en-US" sz="784" dirty="0"/>
          </a:p>
        </p:txBody>
      </p:sp>
      <p:sp>
        <p:nvSpPr>
          <p:cNvPr id="8" name="Shape 5"/>
          <p:cNvSpPr/>
          <p:nvPr/>
        </p:nvSpPr>
        <p:spPr>
          <a:xfrm>
            <a:off x="3348038" y="2957513"/>
            <a:ext cx="2366963" cy="1814513"/>
          </a:xfrm>
          <a:prstGeom prst="rect">
            <a:avLst/>
          </a:prstGeom>
          <a:noFill/>
          <a:ln/>
        </p:spPr>
      </p:sp>
      <p:sp>
        <p:nvSpPr>
          <p:cNvPr id="9" name="Text 6"/>
          <p:cNvSpPr/>
          <p:nvPr/>
        </p:nvSpPr>
        <p:spPr>
          <a:xfrm>
            <a:off x="3348038" y="2957513"/>
            <a:ext cx="236696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Deliverables 2</a:t>
            </a:r>
            <a:endParaRPr lang="en-US" sz="1425" dirty="0"/>
          </a:p>
        </p:txBody>
      </p:sp>
      <p:sp>
        <p:nvSpPr>
          <p:cNvPr id="10" name="Text 7"/>
          <p:cNvSpPr/>
          <p:nvPr/>
        </p:nvSpPr>
        <p:spPr>
          <a:xfrm>
            <a:off x="3348038" y="3357563"/>
            <a:ext cx="2366963" cy="1414463"/>
          </a:xfrm>
          <a:prstGeom prst="rect">
            <a:avLst/>
          </a:prstGeom>
          <a:noFill/>
          <a:ln/>
        </p:spPr>
        <p:txBody>
          <a:bodyPr wrap="square" lIns="0" tIns="0" rIns="0" bIns="0" rtlCol="0" anchor="b"/>
          <a:lstStyle/>
          <a:p>
            <a:pPr algn="l" indent="0" marL="0">
              <a:lnSpc>
                <a:spcPts val="1176"/>
              </a:lnSpc>
              <a:buNone/>
            </a:pPr>
            <a:r>
              <a:rPr lang="en-US" sz="784" spc="-17" kern="0" dirty="0">
                <a:solidFill>
                  <a:srgbClr val="000000">
                    <a:alpha val="99000"/>
                  </a:srgbClr>
                </a:solidFill>
                <a:latin typeface="Roboto" pitchFamily="34" charset="0"/>
                <a:ea typeface="Roboto" pitchFamily="34" charset="-122"/>
                <a:cs typeface="Roboto" pitchFamily="34" charset="-120"/>
              </a:rPr>
              <a:t>Try to keep each one short—focused on the most essential information—so it’s easy to scan and remember. The more text you include, the trickier the slide is to scan. So don’t hesitate to edit, chop, and slash.</a:t>
            </a:r>
            <a:endParaRPr lang="en-US" sz="784" dirty="0"/>
          </a:p>
          <a:p>
            <a:pPr algn="l" indent="0" marL="0">
              <a:lnSpc>
                <a:spcPts val="1176"/>
              </a:lnSpc>
              <a:buNone/>
            </a:pPr>
            <a:r>
              <a:rPr lang="en-US" sz="784" spc="-17" kern="0" dirty="0">
                <a:solidFill>
                  <a:srgbClr val="000000">
                    <a:alpha val="99000"/>
                  </a:srgbClr>
                </a:solidFill>
                <a:latin typeface="Roboto" pitchFamily="34" charset="0"/>
                <a:ea typeface="Roboto" pitchFamily="34" charset="-122"/>
                <a:cs typeface="Roboto" pitchFamily="34" charset="-120"/>
              </a:rPr>
              <a:t>While these are labeled as “features,” you can use this slide to describe multiple features, list steps in a flow, or tee up a few questions for the audience.</a:t>
            </a:r>
            <a:endParaRPr lang="en-US" sz="784" dirty="0"/>
          </a:p>
        </p:txBody>
      </p:sp>
      <p:sp>
        <p:nvSpPr>
          <p:cNvPr id="11" name="Shape 8"/>
          <p:cNvSpPr/>
          <p:nvPr/>
        </p:nvSpPr>
        <p:spPr>
          <a:xfrm>
            <a:off x="6505575" y="2957513"/>
            <a:ext cx="2366963" cy="1028700"/>
          </a:xfrm>
          <a:prstGeom prst="rect">
            <a:avLst/>
          </a:prstGeom>
          <a:noFill/>
          <a:ln/>
        </p:spPr>
      </p:sp>
      <p:sp>
        <p:nvSpPr>
          <p:cNvPr id="12" name="Text 9"/>
          <p:cNvSpPr/>
          <p:nvPr/>
        </p:nvSpPr>
        <p:spPr>
          <a:xfrm>
            <a:off x="6505575" y="2957513"/>
            <a:ext cx="236696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Deliverables 3</a:t>
            </a:r>
            <a:endParaRPr lang="en-US" sz="1425" dirty="0"/>
          </a:p>
        </p:txBody>
      </p:sp>
      <p:sp>
        <p:nvSpPr>
          <p:cNvPr id="13" name="Text 10"/>
          <p:cNvSpPr/>
          <p:nvPr/>
        </p:nvSpPr>
        <p:spPr>
          <a:xfrm>
            <a:off x="6505575" y="3357563"/>
            <a:ext cx="2366963" cy="628650"/>
          </a:xfrm>
          <a:prstGeom prst="rect">
            <a:avLst/>
          </a:prstGeom>
          <a:noFill/>
          <a:ln/>
        </p:spPr>
        <p:txBody>
          <a:bodyPr wrap="square" lIns="0" tIns="0" rIns="0" bIns="0" rtlCol="0" anchor="b"/>
          <a:lstStyle/>
          <a:p>
            <a:pPr algn="l" indent="0" marL="0">
              <a:lnSpc>
                <a:spcPts val="1176"/>
              </a:lnSpc>
              <a:buNone/>
            </a:pPr>
            <a:r>
              <a:rPr lang="en-US" sz="784" spc="-17" kern="0" dirty="0">
                <a:solidFill>
                  <a:srgbClr val="000000">
                    <a:alpha val="99000"/>
                  </a:srgbClr>
                </a:solidFill>
                <a:latin typeface="Roboto" pitchFamily="34" charset="0"/>
                <a:ea typeface="Roboto" pitchFamily="34" charset="-122"/>
                <a:cs typeface="Roboto" pitchFamily="34" charset="-120"/>
              </a:rPr>
              <a:t>Don’t worry about filling up the entire text box. While you have plenty of space to work with, it’s often best to keep it short and sweet—the audience will appreciate it.</a:t>
            </a:r>
            <a:endParaRPr lang="en-US" sz="784"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000000"/>
          </a:solidFill>
          <a:ln w="4524">
            <a:solidFill>
              <a:srgbClr val="000000"/>
            </a:solidFill>
            <a:prstDash val="solid"/>
          </a:ln>
        </p:spPr>
      </p:sp>
      <p:pic>
        <p:nvPicPr>
          <p:cNvPr id="3" name="Image 0" descr="preencoded.png">    </p:cNvPr>
          <p:cNvPicPr>
            <a:picLocks noChangeAspect="1"/>
          </p:cNvPicPr>
          <p:nvPr/>
        </p:nvPicPr>
        <p:blipFill>
          <a:blip r:embed="rId1"/>
          <a:srcRect l="0" r="0" t="0" b="0"/>
          <a:stretch/>
        </p:blipFill>
        <p:spPr>
          <a:xfrm>
            <a:off x="190500" y="323850"/>
            <a:ext cx="8763000" cy="2176463"/>
          </a:xfrm>
          <a:prstGeom prst="rect">
            <a:avLst/>
          </a:prstGeom>
        </p:spPr>
      </p:pic>
      <p:sp>
        <p:nvSpPr>
          <p:cNvPr id="4" name="Shape 1"/>
          <p:cNvSpPr/>
          <p:nvPr/>
        </p:nvSpPr>
        <p:spPr>
          <a:xfrm>
            <a:off x="190500" y="2957513"/>
            <a:ext cx="8682038" cy="1814513"/>
          </a:xfrm>
          <a:prstGeom prst="rect">
            <a:avLst/>
          </a:prstGeom>
          <a:noFill/>
          <a:ln/>
        </p:spPr>
      </p:sp>
      <p:sp>
        <p:nvSpPr>
          <p:cNvPr id="5" name="Shape 2"/>
          <p:cNvSpPr/>
          <p:nvPr/>
        </p:nvSpPr>
        <p:spPr>
          <a:xfrm>
            <a:off x="190500" y="2957513"/>
            <a:ext cx="2366963" cy="1343025"/>
          </a:xfrm>
          <a:prstGeom prst="rect">
            <a:avLst/>
          </a:prstGeom>
          <a:noFill/>
          <a:ln/>
        </p:spPr>
      </p:sp>
      <p:sp>
        <p:nvSpPr>
          <p:cNvPr id="6" name="Text 3"/>
          <p:cNvSpPr/>
          <p:nvPr/>
        </p:nvSpPr>
        <p:spPr>
          <a:xfrm>
            <a:off x="190500" y="2957513"/>
            <a:ext cx="236696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Deliverables 1</a:t>
            </a:r>
            <a:endParaRPr lang="en-US" sz="1425" dirty="0"/>
          </a:p>
        </p:txBody>
      </p:sp>
      <p:sp>
        <p:nvSpPr>
          <p:cNvPr id="7" name="Text 4"/>
          <p:cNvSpPr/>
          <p:nvPr/>
        </p:nvSpPr>
        <p:spPr>
          <a:xfrm>
            <a:off x="190500" y="3357563"/>
            <a:ext cx="2366963" cy="942975"/>
          </a:xfrm>
          <a:prstGeom prst="rect">
            <a:avLst/>
          </a:prstGeom>
          <a:noFill/>
          <a:ln/>
        </p:spPr>
        <p:txBody>
          <a:bodyPr wrap="square" lIns="0" tIns="0" rIns="0" bIns="0" rtlCol="0" anchor="b"/>
          <a:lstStyle/>
          <a:p>
            <a:pPr algn="l" indent="0" marL="0">
              <a:lnSpc>
                <a:spcPts val="1176"/>
              </a:lnSpc>
              <a:buNone/>
            </a:pPr>
            <a:r>
              <a:rPr lang="en-US" sz="784" spc="-17" kern="0" dirty="0">
                <a:solidFill>
                  <a:srgbClr val="FFFFFF">
                    <a:alpha val="99000"/>
                  </a:srgbClr>
                </a:solidFill>
                <a:latin typeface="Roboto" pitchFamily="34" charset="0"/>
                <a:ea typeface="Roboto" pitchFamily="34" charset="-122"/>
                <a:cs typeface="Roboto" pitchFamily="34" charset="-120"/>
              </a:rPr>
              <a:t>Describe what this feature or concept is all about, so the audience understands what they’re looking at.</a:t>
            </a:r>
            <a:endParaRPr lang="en-US" sz="784" dirty="0"/>
          </a:p>
          <a:p>
            <a:pPr algn="l" indent="0" marL="0">
              <a:lnSpc>
                <a:spcPts val="1176"/>
              </a:lnSpc>
              <a:buNone/>
            </a:pPr>
            <a:r>
              <a:rPr lang="en-US" sz="784" spc="-17" kern="0" dirty="0">
                <a:solidFill>
                  <a:srgbClr val="FFFFFF">
                    <a:alpha val="99000"/>
                  </a:srgbClr>
                </a:solidFill>
                <a:latin typeface="Roboto" pitchFamily="34" charset="0"/>
                <a:ea typeface="Roboto" pitchFamily="34" charset="-122"/>
                <a:cs typeface="Roboto" pitchFamily="34" charset="-120"/>
              </a:rPr>
              <a:t>Add an interactive Figma prototype or a video for the best viewer experience. Otherwise, consider breaking up the flow across multiple slides.</a:t>
            </a:r>
            <a:endParaRPr lang="en-US" sz="784" dirty="0"/>
          </a:p>
        </p:txBody>
      </p:sp>
      <p:sp>
        <p:nvSpPr>
          <p:cNvPr id="8" name="Shape 5"/>
          <p:cNvSpPr/>
          <p:nvPr/>
        </p:nvSpPr>
        <p:spPr>
          <a:xfrm>
            <a:off x="3348038" y="2957513"/>
            <a:ext cx="2366963" cy="1814513"/>
          </a:xfrm>
          <a:prstGeom prst="rect">
            <a:avLst/>
          </a:prstGeom>
          <a:noFill/>
          <a:ln/>
        </p:spPr>
      </p:sp>
      <p:sp>
        <p:nvSpPr>
          <p:cNvPr id="9" name="Text 6"/>
          <p:cNvSpPr/>
          <p:nvPr/>
        </p:nvSpPr>
        <p:spPr>
          <a:xfrm>
            <a:off x="3348038" y="2957513"/>
            <a:ext cx="236696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Deliverables 2</a:t>
            </a:r>
            <a:endParaRPr lang="en-US" sz="1425" dirty="0"/>
          </a:p>
        </p:txBody>
      </p:sp>
      <p:sp>
        <p:nvSpPr>
          <p:cNvPr id="10" name="Text 7"/>
          <p:cNvSpPr/>
          <p:nvPr/>
        </p:nvSpPr>
        <p:spPr>
          <a:xfrm>
            <a:off x="3348038" y="3357563"/>
            <a:ext cx="2366963" cy="1414463"/>
          </a:xfrm>
          <a:prstGeom prst="rect">
            <a:avLst/>
          </a:prstGeom>
          <a:noFill/>
          <a:ln/>
        </p:spPr>
        <p:txBody>
          <a:bodyPr wrap="square" lIns="0" tIns="0" rIns="0" bIns="0" rtlCol="0" anchor="b"/>
          <a:lstStyle/>
          <a:p>
            <a:pPr algn="l" indent="0" marL="0">
              <a:lnSpc>
                <a:spcPts val="1176"/>
              </a:lnSpc>
              <a:buNone/>
            </a:pPr>
            <a:r>
              <a:rPr lang="en-US" sz="784" spc="-17" kern="0" dirty="0">
                <a:solidFill>
                  <a:srgbClr val="FFFFFF">
                    <a:alpha val="99000"/>
                  </a:srgbClr>
                </a:solidFill>
                <a:latin typeface="Roboto" pitchFamily="34" charset="0"/>
                <a:ea typeface="Roboto" pitchFamily="34" charset="-122"/>
                <a:cs typeface="Roboto" pitchFamily="34" charset="-120"/>
              </a:rPr>
              <a:t>Try to keep each one short—focused on the most essential information—so it’s easy to scan and remember. The more text you include, the trickier the slide is to scan. So don’t hesitate to edit, chop, and slash.</a:t>
            </a:r>
            <a:endParaRPr lang="en-US" sz="784" dirty="0"/>
          </a:p>
          <a:p>
            <a:pPr algn="l" indent="0" marL="0">
              <a:lnSpc>
                <a:spcPts val="1176"/>
              </a:lnSpc>
              <a:buNone/>
            </a:pPr>
            <a:r>
              <a:rPr lang="en-US" sz="784" spc="-17" kern="0" dirty="0">
                <a:solidFill>
                  <a:srgbClr val="FFFFFF">
                    <a:alpha val="99000"/>
                  </a:srgbClr>
                </a:solidFill>
                <a:latin typeface="Roboto" pitchFamily="34" charset="0"/>
                <a:ea typeface="Roboto" pitchFamily="34" charset="-122"/>
                <a:cs typeface="Roboto" pitchFamily="34" charset="-120"/>
              </a:rPr>
              <a:t>While these are labeled as “features,” you can use this slide to describe multiple features, list steps in a flow, or tee up a few questions for the audience.</a:t>
            </a:r>
            <a:endParaRPr lang="en-US" sz="784" dirty="0"/>
          </a:p>
        </p:txBody>
      </p:sp>
      <p:sp>
        <p:nvSpPr>
          <p:cNvPr id="11" name="Shape 8"/>
          <p:cNvSpPr/>
          <p:nvPr/>
        </p:nvSpPr>
        <p:spPr>
          <a:xfrm>
            <a:off x="6505575" y="2957513"/>
            <a:ext cx="2366963" cy="1028700"/>
          </a:xfrm>
          <a:prstGeom prst="rect">
            <a:avLst/>
          </a:prstGeom>
          <a:noFill/>
          <a:ln/>
        </p:spPr>
      </p:sp>
      <p:sp>
        <p:nvSpPr>
          <p:cNvPr id="12" name="Text 9"/>
          <p:cNvSpPr/>
          <p:nvPr/>
        </p:nvSpPr>
        <p:spPr>
          <a:xfrm>
            <a:off x="6505575" y="2957513"/>
            <a:ext cx="236696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Deliverables 3</a:t>
            </a:r>
            <a:endParaRPr lang="en-US" sz="1425" dirty="0"/>
          </a:p>
        </p:txBody>
      </p:sp>
      <p:sp>
        <p:nvSpPr>
          <p:cNvPr id="13" name="Text 10"/>
          <p:cNvSpPr/>
          <p:nvPr/>
        </p:nvSpPr>
        <p:spPr>
          <a:xfrm>
            <a:off x="6505575" y="3357563"/>
            <a:ext cx="2366963" cy="628650"/>
          </a:xfrm>
          <a:prstGeom prst="rect">
            <a:avLst/>
          </a:prstGeom>
          <a:noFill/>
          <a:ln/>
        </p:spPr>
        <p:txBody>
          <a:bodyPr wrap="square" lIns="0" tIns="0" rIns="0" bIns="0" rtlCol="0" anchor="b"/>
          <a:lstStyle/>
          <a:p>
            <a:pPr algn="l" indent="0" marL="0">
              <a:lnSpc>
                <a:spcPts val="1176"/>
              </a:lnSpc>
              <a:buNone/>
            </a:pPr>
            <a:r>
              <a:rPr lang="en-US" sz="784" spc="-17" kern="0" dirty="0">
                <a:solidFill>
                  <a:srgbClr val="FFFFFF">
                    <a:alpha val="99000"/>
                  </a:srgbClr>
                </a:solidFill>
                <a:latin typeface="Roboto" pitchFamily="34" charset="0"/>
                <a:ea typeface="Roboto" pitchFamily="34" charset="-122"/>
                <a:cs typeface="Roboto" pitchFamily="34" charset="-120"/>
              </a:rPr>
              <a:t>Don’t worry about filling up the entire text box. While you have plenty of space to work with, it’s often best to keep it short and sweet—the audience will appreciate it.</a:t>
            </a:r>
            <a:endParaRPr lang="en-US" sz="784"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FFFFF"/>
          </a:solidFill>
          <a:ln w="4524">
            <a:solidFill>
              <a:srgbClr val="FFFFFF"/>
            </a:solidFill>
            <a:prstDash val="solid"/>
          </a:ln>
        </p:spPr>
      </p:sp>
      <p:pic>
        <p:nvPicPr>
          <p:cNvPr id="3" name="Image 0" descr="preencoded.png">    </p:cNvPr>
          <p:cNvPicPr>
            <a:picLocks noChangeAspect="1"/>
          </p:cNvPicPr>
          <p:nvPr/>
        </p:nvPicPr>
        <p:blipFill>
          <a:blip r:embed="rId1"/>
          <a:srcRect l="0" r="0" t="0" b="0"/>
          <a:stretch/>
        </p:blipFill>
        <p:spPr>
          <a:xfrm>
            <a:off x="190500" y="323850"/>
            <a:ext cx="8491538" cy="2176463"/>
          </a:xfrm>
          <a:prstGeom prst="rect">
            <a:avLst/>
          </a:prstGeom>
        </p:spPr>
      </p:pic>
      <p:sp>
        <p:nvSpPr>
          <p:cNvPr id="4" name="Shape 1"/>
          <p:cNvSpPr/>
          <p:nvPr/>
        </p:nvSpPr>
        <p:spPr>
          <a:xfrm>
            <a:off x="190500" y="2957513"/>
            <a:ext cx="8682038" cy="1814513"/>
          </a:xfrm>
          <a:prstGeom prst="rect">
            <a:avLst/>
          </a:prstGeom>
          <a:noFill/>
          <a:ln/>
        </p:spPr>
      </p:sp>
      <p:sp>
        <p:nvSpPr>
          <p:cNvPr id="5" name="Shape 2"/>
          <p:cNvSpPr/>
          <p:nvPr/>
        </p:nvSpPr>
        <p:spPr>
          <a:xfrm>
            <a:off x="190500" y="2957513"/>
            <a:ext cx="2366963" cy="1343025"/>
          </a:xfrm>
          <a:prstGeom prst="rect">
            <a:avLst/>
          </a:prstGeom>
          <a:noFill/>
          <a:ln/>
        </p:spPr>
      </p:sp>
      <p:sp>
        <p:nvSpPr>
          <p:cNvPr id="6" name="Text 3"/>
          <p:cNvSpPr/>
          <p:nvPr/>
        </p:nvSpPr>
        <p:spPr>
          <a:xfrm>
            <a:off x="190500" y="2957513"/>
            <a:ext cx="236696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Deliverables 1</a:t>
            </a:r>
            <a:endParaRPr lang="en-US" sz="1425" dirty="0"/>
          </a:p>
        </p:txBody>
      </p:sp>
      <p:sp>
        <p:nvSpPr>
          <p:cNvPr id="7" name="Text 4"/>
          <p:cNvSpPr/>
          <p:nvPr/>
        </p:nvSpPr>
        <p:spPr>
          <a:xfrm>
            <a:off x="190500" y="3357563"/>
            <a:ext cx="2366963" cy="942975"/>
          </a:xfrm>
          <a:prstGeom prst="rect">
            <a:avLst/>
          </a:prstGeom>
          <a:noFill/>
          <a:ln/>
        </p:spPr>
        <p:txBody>
          <a:bodyPr wrap="square" lIns="0" tIns="0" rIns="0" bIns="0" rtlCol="0" anchor="b"/>
          <a:lstStyle/>
          <a:p>
            <a:pPr algn="l" indent="0" marL="0">
              <a:lnSpc>
                <a:spcPts val="1176"/>
              </a:lnSpc>
              <a:buNone/>
            </a:pPr>
            <a:r>
              <a:rPr lang="en-US" sz="784" spc="-17" kern="0" dirty="0">
                <a:solidFill>
                  <a:srgbClr val="000000">
                    <a:alpha val="99000"/>
                  </a:srgbClr>
                </a:solidFill>
                <a:latin typeface="Roboto" pitchFamily="34" charset="0"/>
                <a:ea typeface="Roboto" pitchFamily="34" charset="-122"/>
                <a:cs typeface="Roboto" pitchFamily="34" charset="-120"/>
              </a:rPr>
              <a:t>Describe what this feature or concept is all about, so the audience understands what they’re looking at.</a:t>
            </a:r>
            <a:endParaRPr lang="en-US" sz="784" dirty="0"/>
          </a:p>
          <a:p>
            <a:pPr algn="l" indent="0" marL="0">
              <a:lnSpc>
                <a:spcPts val="1176"/>
              </a:lnSpc>
              <a:buNone/>
            </a:pPr>
            <a:r>
              <a:rPr lang="en-US" sz="784" spc="-17" kern="0" dirty="0">
                <a:solidFill>
                  <a:srgbClr val="000000">
                    <a:alpha val="99000"/>
                  </a:srgbClr>
                </a:solidFill>
                <a:latin typeface="Roboto" pitchFamily="34" charset="0"/>
                <a:ea typeface="Roboto" pitchFamily="34" charset="-122"/>
                <a:cs typeface="Roboto" pitchFamily="34" charset="-120"/>
              </a:rPr>
              <a:t>Add an interactive Figma prototype or a video for the best viewer experience. Otherwise, consider breaking up the flow across multiple slides.</a:t>
            </a:r>
            <a:endParaRPr lang="en-US" sz="784" dirty="0"/>
          </a:p>
        </p:txBody>
      </p:sp>
      <p:sp>
        <p:nvSpPr>
          <p:cNvPr id="8" name="Shape 5"/>
          <p:cNvSpPr/>
          <p:nvPr/>
        </p:nvSpPr>
        <p:spPr>
          <a:xfrm>
            <a:off x="3348038" y="2957513"/>
            <a:ext cx="2366963" cy="1814513"/>
          </a:xfrm>
          <a:prstGeom prst="rect">
            <a:avLst/>
          </a:prstGeom>
          <a:noFill/>
          <a:ln/>
        </p:spPr>
      </p:sp>
      <p:sp>
        <p:nvSpPr>
          <p:cNvPr id="9" name="Text 6"/>
          <p:cNvSpPr/>
          <p:nvPr/>
        </p:nvSpPr>
        <p:spPr>
          <a:xfrm>
            <a:off x="3348038" y="2957513"/>
            <a:ext cx="236696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Deliverables 2</a:t>
            </a:r>
            <a:endParaRPr lang="en-US" sz="1425" dirty="0"/>
          </a:p>
        </p:txBody>
      </p:sp>
      <p:sp>
        <p:nvSpPr>
          <p:cNvPr id="10" name="Text 7"/>
          <p:cNvSpPr/>
          <p:nvPr/>
        </p:nvSpPr>
        <p:spPr>
          <a:xfrm>
            <a:off x="3348038" y="3357563"/>
            <a:ext cx="2366963" cy="1414463"/>
          </a:xfrm>
          <a:prstGeom prst="rect">
            <a:avLst/>
          </a:prstGeom>
          <a:noFill/>
          <a:ln/>
        </p:spPr>
        <p:txBody>
          <a:bodyPr wrap="square" lIns="0" tIns="0" rIns="0" bIns="0" rtlCol="0" anchor="b"/>
          <a:lstStyle/>
          <a:p>
            <a:pPr algn="l" indent="0" marL="0">
              <a:lnSpc>
                <a:spcPts val="1176"/>
              </a:lnSpc>
              <a:buNone/>
            </a:pPr>
            <a:r>
              <a:rPr lang="en-US" sz="784" spc="-17" kern="0" dirty="0">
                <a:solidFill>
                  <a:srgbClr val="000000">
                    <a:alpha val="99000"/>
                  </a:srgbClr>
                </a:solidFill>
                <a:latin typeface="Roboto" pitchFamily="34" charset="0"/>
                <a:ea typeface="Roboto" pitchFamily="34" charset="-122"/>
                <a:cs typeface="Roboto" pitchFamily="34" charset="-120"/>
              </a:rPr>
              <a:t>Try to keep each one short—focused on the most essential information—so it’s easy to scan and remember. The more text you include, the trickier the slide is to scan. So don’t hesitate to edit, chop, and slash.</a:t>
            </a:r>
            <a:endParaRPr lang="en-US" sz="784" dirty="0"/>
          </a:p>
          <a:p>
            <a:pPr algn="l" indent="0" marL="0">
              <a:lnSpc>
                <a:spcPts val="1176"/>
              </a:lnSpc>
              <a:buNone/>
            </a:pPr>
            <a:r>
              <a:rPr lang="en-US" sz="784" spc="-17" kern="0" dirty="0">
                <a:solidFill>
                  <a:srgbClr val="000000">
                    <a:alpha val="99000"/>
                  </a:srgbClr>
                </a:solidFill>
                <a:latin typeface="Roboto" pitchFamily="34" charset="0"/>
                <a:ea typeface="Roboto" pitchFamily="34" charset="-122"/>
                <a:cs typeface="Roboto" pitchFamily="34" charset="-120"/>
              </a:rPr>
              <a:t>While these are labeled as “features,” you can use this slide to describe multiple features, list steps in a flow, or tee up a few questions for the audience.</a:t>
            </a:r>
            <a:endParaRPr lang="en-US" sz="784" dirty="0"/>
          </a:p>
        </p:txBody>
      </p:sp>
      <p:sp>
        <p:nvSpPr>
          <p:cNvPr id="11" name="Shape 8"/>
          <p:cNvSpPr/>
          <p:nvPr/>
        </p:nvSpPr>
        <p:spPr>
          <a:xfrm>
            <a:off x="6505575" y="2957513"/>
            <a:ext cx="2366963" cy="1028700"/>
          </a:xfrm>
          <a:prstGeom prst="rect">
            <a:avLst/>
          </a:prstGeom>
          <a:noFill/>
          <a:ln/>
        </p:spPr>
      </p:sp>
      <p:sp>
        <p:nvSpPr>
          <p:cNvPr id="12" name="Text 9"/>
          <p:cNvSpPr/>
          <p:nvPr/>
        </p:nvSpPr>
        <p:spPr>
          <a:xfrm>
            <a:off x="6505575" y="2957513"/>
            <a:ext cx="236696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Deliverables 3</a:t>
            </a:r>
            <a:endParaRPr lang="en-US" sz="1425" dirty="0"/>
          </a:p>
        </p:txBody>
      </p:sp>
      <p:sp>
        <p:nvSpPr>
          <p:cNvPr id="13" name="Text 10"/>
          <p:cNvSpPr/>
          <p:nvPr/>
        </p:nvSpPr>
        <p:spPr>
          <a:xfrm>
            <a:off x="6505575" y="3357563"/>
            <a:ext cx="2366963" cy="628650"/>
          </a:xfrm>
          <a:prstGeom prst="rect">
            <a:avLst/>
          </a:prstGeom>
          <a:noFill/>
          <a:ln/>
        </p:spPr>
        <p:txBody>
          <a:bodyPr wrap="square" lIns="0" tIns="0" rIns="0" bIns="0" rtlCol="0" anchor="b"/>
          <a:lstStyle/>
          <a:p>
            <a:pPr algn="l" indent="0" marL="0">
              <a:lnSpc>
                <a:spcPts val="1176"/>
              </a:lnSpc>
              <a:buNone/>
            </a:pPr>
            <a:r>
              <a:rPr lang="en-US" sz="784" spc="-17" kern="0" dirty="0">
                <a:solidFill>
                  <a:srgbClr val="000000">
                    <a:alpha val="99000"/>
                  </a:srgbClr>
                </a:solidFill>
                <a:latin typeface="Roboto" pitchFamily="34" charset="0"/>
                <a:ea typeface="Roboto" pitchFamily="34" charset="-122"/>
                <a:cs typeface="Roboto" pitchFamily="34" charset="-120"/>
              </a:rPr>
              <a:t>Don’t worry about filling up the entire text box. While you have plenty of space to work with, it’s often best to keep it short and sweet—the audience will appreciate it.</a:t>
            </a:r>
            <a:endParaRPr lang="en-US" sz="784"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000000"/>
          </a:solidFill>
          <a:ln w="4524">
            <a:solidFill>
              <a:srgbClr val="000000"/>
            </a:solidFill>
            <a:prstDash val="solid"/>
          </a:ln>
        </p:spPr>
      </p:sp>
      <p:pic>
        <p:nvPicPr>
          <p:cNvPr id="3" name="Image 0" descr="preencoded.png">    </p:cNvPr>
          <p:cNvPicPr>
            <a:picLocks noChangeAspect="1"/>
          </p:cNvPicPr>
          <p:nvPr/>
        </p:nvPicPr>
        <p:blipFill>
          <a:blip r:embed="rId1"/>
          <a:srcRect l="0" r="0" t="0" b="0"/>
          <a:stretch/>
        </p:blipFill>
        <p:spPr>
          <a:xfrm>
            <a:off x="190500" y="323850"/>
            <a:ext cx="8491538" cy="2176463"/>
          </a:xfrm>
          <a:prstGeom prst="rect">
            <a:avLst/>
          </a:prstGeom>
        </p:spPr>
      </p:pic>
      <p:sp>
        <p:nvSpPr>
          <p:cNvPr id="4" name="Shape 1"/>
          <p:cNvSpPr/>
          <p:nvPr/>
        </p:nvSpPr>
        <p:spPr>
          <a:xfrm>
            <a:off x="190500" y="2957513"/>
            <a:ext cx="8682038" cy="1814513"/>
          </a:xfrm>
          <a:prstGeom prst="rect">
            <a:avLst/>
          </a:prstGeom>
          <a:noFill/>
          <a:ln/>
        </p:spPr>
      </p:sp>
      <p:sp>
        <p:nvSpPr>
          <p:cNvPr id="5" name="Shape 2"/>
          <p:cNvSpPr/>
          <p:nvPr/>
        </p:nvSpPr>
        <p:spPr>
          <a:xfrm>
            <a:off x="190500" y="2957513"/>
            <a:ext cx="2366963" cy="1343025"/>
          </a:xfrm>
          <a:prstGeom prst="rect">
            <a:avLst/>
          </a:prstGeom>
          <a:noFill/>
          <a:ln/>
        </p:spPr>
      </p:sp>
      <p:sp>
        <p:nvSpPr>
          <p:cNvPr id="6" name="Text 3"/>
          <p:cNvSpPr/>
          <p:nvPr/>
        </p:nvSpPr>
        <p:spPr>
          <a:xfrm>
            <a:off x="190500" y="2957513"/>
            <a:ext cx="236696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Deliverables 1</a:t>
            </a:r>
            <a:endParaRPr lang="en-US" sz="1425" dirty="0"/>
          </a:p>
        </p:txBody>
      </p:sp>
      <p:sp>
        <p:nvSpPr>
          <p:cNvPr id="7" name="Text 4"/>
          <p:cNvSpPr/>
          <p:nvPr/>
        </p:nvSpPr>
        <p:spPr>
          <a:xfrm>
            <a:off x="190500" y="3357563"/>
            <a:ext cx="2366963" cy="942975"/>
          </a:xfrm>
          <a:prstGeom prst="rect">
            <a:avLst/>
          </a:prstGeom>
          <a:noFill/>
          <a:ln/>
        </p:spPr>
        <p:txBody>
          <a:bodyPr wrap="square" lIns="0" tIns="0" rIns="0" bIns="0" rtlCol="0" anchor="b"/>
          <a:lstStyle/>
          <a:p>
            <a:pPr algn="l" indent="0" marL="0">
              <a:lnSpc>
                <a:spcPts val="1176"/>
              </a:lnSpc>
              <a:buNone/>
            </a:pPr>
            <a:r>
              <a:rPr lang="en-US" sz="784" spc="-17" kern="0" dirty="0">
                <a:solidFill>
                  <a:srgbClr val="FFFFFF">
                    <a:alpha val="99000"/>
                  </a:srgbClr>
                </a:solidFill>
                <a:latin typeface="Roboto" pitchFamily="34" charset="0"/>
                <a:ea typeface="Roboto" pitchFamily="34" charset="-122"/>
                <a:cs typeface="Roboto" pitchFamily="34" charset="-120"/>
              </a:rPr>
              <a:t>Describe what this feature or concept is all about, so the audience understands what they’re looking at.</a:t>
            </a:r>
            <a:endParaRPr lang="en-US" sz="784" dirty="0"/>
          </a:p>
          <a:p>
            <a:pPr algn="l" indent="0" marL="0">
              <a:lnSpc>
                <a:spcPts val="1176"/>
              </a:lnSpc>
              <a:buNone/>
            </a:pPr>
            <a:r>
              <a:rPr lang="en-US" sz="784" spc="-17" kern="0" dirty="0">
                <a:solidFill>
                  <a:srgbClr val="FFFFFF">
                    <a:alpha val="99000"/>
                  </a:srgbClr>
                </a:solidFill>
                <a:latin typeface="Roboto" pitchFamily="34" charset="0"/>
                <a:ea typeface="Roboto" pitchFamily="34" charset="-122"/>
                <a:cs typeface="Roboto" pitchFamily="34" charset="-120"/>
              </a:rPr>
              <a:t>Add an interactive Figma prototype or a video for the best viewer experience. Otherwise, consider breaking up the flow across multiple slides.</a:t>
            </a:r>
            <a:endParaRPr lang="en-US" sz="784" dirty="0"/>
          </a:p>
        </p:txBody>
      </p:sp>
      <p:sp>
        <p:nvSpPr>
          <p:cNvPr id="8" name="Shape 5"/>
          <p:cNvSpPr/>
          <p:nvPr/>
        </p:nvSpPr>
        <p:spPr>
          <a:xfrm>
            <a:off x="3348038" y="2957513"/>
            <a:ext cx="2366963" cy="1814513"/>
          </a:xfrm>
          <a:prstGeom prst="rect">
            <a:avLst/>
          </a:prstGeom>
          <a:noFill/>
          <a:ln/>
        </p:spPr>
      </p:sp>
      <p:sp>
        <p:nvSpPr>
          <p:cNvPr id="9" name="Text 6"/>
          <p:cNvSpPr/>
          <p:nvPr/>
        </p:nvSpPr>
        <p:spPr>
          <a:xfrm>
            <a:off x="3348038" y="2957513"/>
            <a:ext cx="236696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Deliverables 2</a:t>
            </a:r>
            <a:endParaRPr lang="en-US" sz="1425" dirty="0"/>
          </a:p>
        </p:txBody>
      </p:sp>
      <p:sp>
        <p:nvSpPr>
          <p:cNvPr id="10" name="Text 7"/>
          <p:cNvSpPr/>
          <p:nvPr/>
        </p:nvSpPr>
        <p:spPr>
          <a:xfrm>
            <a:off x="3348038" y="3357563"/>
            <a:ext cx="2366963" cy="1414463"/>
          </a:xfrm>
          <a:prstGeom prst="rect">
            <a:avLst/>
          </a:prstGeom>
          <a:noFill/>
          <a:ln/>
        </p:spPr>
        <p:txBody>
          <a:bodyPr wrap="square" lIns="0" tIns="0" rIns="0" bIns="0" rtlCol="0" anchor="b"/>
          <a:lstStyle/>
          <a:p>
            <a:pPr algn="l" indent="0" marL="0">
              <a:lnSpc>
                <a:spcPts val="1176"/>
              </a:lnSpc>
              <a:buNone/>
            </a:pPr>
            <a:r>
              <a:rPr lang="en-US" sz="784" spc="-17" kern="0" dirty="0">
                <a:solidFill>
                  <a:srgbClr val="FFFFFF">
                    <a:alpha val="99000"/>
                  </a:srgbClr>
                </a:solidFill>
                <a:latin typeface="Roboto" pitchFamily="34" charset="0"/>
                <a:ea typeface="Roboto" pitchFamily="34" charset="-122"/>
                <a:cs typeface="Roboto" pitchFamily="34" charset="-120"/>
              </a:rPr>
              <a:t>Try to keep each one short—focused on the most essential information—so it’s easy to scan and remember. The more text you include, the trickier the slide is to scan. So don’t hesitate to edit, chop, and slash.</a:t>
            </a:r>
            <a:endParaRPr lang="en-US" sz="784" dirty="0"/>
          </a:p>
          <a:p>
            <a:pPr algn="l" indent="0" marL="0">
              <a:lnSpc>
                <a:spcPts val="1176"/>
              </a:lnSpc>
              <a:buNone/>
            </a:pPr>
            <a:r>
              <a:rPr lang="en-US" sz="784" spc="-17" kern="0" dirty="0">
                <a:solidFill>
                  <a:srgbClr val="FFFFFF">
                    <a:alpha val="99000"/>
                  </a:srgbClr>
                </a:solidFill>
                <a:latin typeface="Roboto" pitchFamily="34" charset="0"/>
                <a:ea typeface="Roboto" pitchFamily="34" charset="-122"/>
                <a:cs typeface="Roboto" pitchFamily="34" charset="-120"/>
              </a:rPr>
              <a:t>While these are labeled as “features,” you can use this slide to describe multiple features, list steps in a flow, or tee up a few questions for the audience.</a:t>
            </a:r>
            <a:endParaRPr lang="en-US" sz="784" dirty="0"/>
          </a:p>
        </p:txBody>
      </p:sp>
      <p:sp>
        <p:nvSpPr>
          <p:cNvPr id="11" name="Shape 8"/>
          <p:cNvSpPr/>
          <p:nvPr/>
        </p:nvSpPr>
        <p:spPr>
          <a:xfrm>
            <a:off x="6505575" y="2957513"/>
            <a:ext cx="2366963" cy="1028700"/>
          </a:xfrm>
          <a:prstGeom prst="rect">
            <a:avLst/>
          </a:prstGeom>
          <a:noFill/>
          <a:ln/>
        </p:spPr>
      </p:sp>
      <p:sp>
        <p:nvSpPr>
          <p:cNvPr id="12" name="Text 9"/>
          <p:cNvSpPr/>
          <p:nvPr/>
        </p:nvSpPr>
        <p:spPr>
          <a:xfrm>
            <a:off x="6505575" y="2957513"/>
            <a:ext cx="236696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Deliverables 3</a:t>
            </a:r>
            <a:endParaRPr lang="en-US" sz="1425" dirty="0"/>
          </a:p>
        </p:txBody>
      </p:sp>
      <p:sp>
        <p:nvSpPr>
          <p:cNvPr id="13" name="Text 10"/>
          <p:cNvSpPr/>
          <p:nvPr/>
        </p:nvSpPr>
        <p:spPr>
          <a:xfrm>
            <a:off x="6505575" y="3357563"/>
            <a:ext cx="2366963" cy="628650"/>
          </a:xfrm>
          <a:prstGeom prst="rect">
            <a:avLst/>
          </a:prstGeom>
          <a:noFill/>
          <a:ln/>
        </p:spPr>
        <p:txBody>
          <a:bodyPr wrap="square" lIns="0" tIns="0" rIns="0" bIns="0" rtlCol="0" anchor="b"/>
          <a:lstStyle/>
          <a:p>
            <a:pPr algn="l" indent="0" marL="0">
              <a:lnSpc>
                <a:spcPts val="1176"/>
              </a:lnSpc>
              <a:buNone/>
            </a:pPr>
            <a:r>
              <a:rPr lang="en-US" sz="784" spc="-17" kern="0" dirty="0">
                <a:solidFill>
                  <a:srgbClr val="FFFFFF">
                    <a:alpha val="99000"/>
                  </a:srgbClr>
                </a:solidFill>
                <a:latin typeface="Roboto" pitchFamily="34" charset="0"/>
                <a:ea typeface="Roboto" pitchFamily="34" charset="-122"/>
                <a:cs typeface="Roboto" pitchFamily="34" charset="-120"/>
              </a:rPr>
              <a:t>Don’t worry about filling up the entire text box. While you have plenty of space to work with, it’s often best to keep it short and sweet—the audience will appreciate it.</a:t>
            </a:r>
            <a:endParaRPr lang="en-US" sz="784"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FFFFF"/>
          </a:solidFill>
          <a:ln w="4524">
            <a:solidFill>
              <a:srgbClr val="FFFFFF"/>
            </a:solidFill>
            <a:prstDash val="solid"/>
          </a:ln>
        </p:spPr>
      </p:sp>
      <p:sp>
        <p:nvSpPr>
          <p:cNvPr id="3" name="Shape 1"/>
          <p:cNvSpPr/>
          <p:nvPr/>
        </p:nvSpPr>
        <p:spPr>
          <a:xfrm>
            <a:off x="190500" y="2962275"/>
            <a:ext cx="2366963" cy="1500188"/>
          </a:xfrm>
          <a:prstGeom prst="rect">
            <a:avLst/>
          </a:prstGeom>
          <a:noFill/>
          <a:ln/>
        </p:spPr>
      </p:sp>
      <p:sp>
        <p:nvSpPr>
          <p:cNvPr id="4" name="Text 2"/>
          <p:cNvSpPr/>
          <p:nvPr/>
        </p:nvSpPr>
        <p:spPr>
          <a:xfrm>
            <a:off x="190500" y="2962275"/>
            <a:ext cx="236696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FEATURE NAME</a:t>
            </a:r>
            <a:endParaRPr lang="en-US" sz="1425" dirty="0"/>
          </a:p>
        </p:txBody>
      </p:sp>
      <p:sp>
        <p:nvSpPr>
          <p:cNvPr id="5" name="Text 3"/>
          <p:cNvSpPr/>
          <p:nvPr/>
        </p:nvSpPr>
        <p:spPr>
          <a:xfrm>
            <a:off x="190500" y="3362325"/>
            <a:ext cx="2366963" cy="1100138"/>
          </a:xfrm>
          <a:prstGeom prst="rect">
            <a:avLst/>
          </a:prstGeom>
          <a:noFill/>
          <a:ln/>
        </p:spPr>
        <p:txBody>
          <a:bodyPr wrap="square" lIns="0" tIns="0" rIns="0" bIns="0" rtlCol="0" anchor="b"/>
          <a:lstStyle/>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Describe what this feature or concept is all about, so the audience understands what they’re looking at.</a:t>
            </a:r>
            <a:endParaRPr lang="en-US" sz="784" dirty="0"/>
          </a:p>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Add an interactive Figma prototype or a video for the best viewer experience. Otherwise, consider breaking up the flow across multiple slides.</a:t>
            </a:r>
            <a:endParaRPr lang="en-US" sz="784" dirty="0"/>
          </a:p>
        </p:txBody>
      </p:sp>
      <p:sp>
        <p:nvSpPr>
          <p:cNvPr id="6" name="Text 4"/>
          <p:cNvSpPr/>
          <p:nvPr/>
        </p:nvSpPr>
        <p:spPr>
          <a:xfrm>
            <a:off x="190500" y="547688"/>
            <a:ext cx="2486025"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Roboto" pitchFamily="34" charset="0"/>
                <a:ea typeface="Roboto" pitchFamily="34" charset="-122"/>
                <a:cs typeface="Roboto" pitchFamily="34" charset="-120"/>
              </a:rPr>
              <a:t>Design</a:t>
            </a:r>
            <a:endParaRPr lang="en-US" sz="2494" dirty="0"/>
          </a:p>
          <a:p>
            <a:pPr algn="l" indent="0" marL="0">
              <a:lnSpc>
                <a:spcPts val="2743"/>
              </a:lnSpc>
              <a:buNone/>
            </a:pPr>
            <a:r>
              <a:rPr lang="en-US" sz="2494" spc="-55" kern="0" dirty="0">
                <a:solidFill>
                  <a:srgbClr val="000000">
                    <a:alpha val="99000"/>
                  </a:srgbClr>
                </a:solidFill>
                <a:latin typeface="Roboto" pitchFamily="34" charset="0"/>
                <a:ea typeface="Roboto" pitchFamily="34" charset="-122"/>
                <a:cs typeface="Roboto" pitchFamily="34" charset="-120"/>
              </a:rPr>
              <a:t>Direction 1</a:t>
            </a:r>
            <a:endParaRPr lang="en-US" sz="2494" dirty="0"/>
          </a:p>
        </p:txBody>
      </p:sp>
      <p:pic>
        <p:nvPicPr>
          <p:cNvPr id="7" name="Image 0" descr="preencoded.png">    </p:cNvPr>
          <p:cNvPicPr>
            <a:picLocks noChangeAspect="1"/>
          </p:cNvPicPr>
          <p:nvPr/>
        </p:nvPicPr>
        <p:blipFill>
          <a:blip r:embed="rId1"/>
          <a:srcRect l="0" r="13237" t="0" b="0"/>
          <a:stretch/>
        </p:blipFill>
        <p:spPr>
          <a:xfrm>
            <a:off x="2957513" y="519113"/>
            <a:ext cx="6096000" cy="425767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000000"/>
          </a:solidFill>
          <a:ln w="4524">
            <a:solidFill>
              <a:srgbClr val="000000"/>
            </a:solidFill>
            <a:prstDash val="solid"/>
          </a:ln>
        </p:spPr>
      </p:sp>
      <p:sp>
        <p:nvSpPr>
          <p:cNvPr id="3" name="Shape 1"/>
          <p:cNvSpPr/>
          <p:nvPr/>
        </p:nvSpPr>
        <p:spPr>
          <a:xfrm>
            <a:off x="190500" y="2962275"/>
            <a:ext cx="2366963" cy="1500188"/>
          </a:xfrm>
          <a:prstGeom prst="rect">
            <a:avLst/>
          </a:prstGeom>
          <a:noFill/>
          <a:ln/>
        </p:spPr>
      </p:sp>
      <p:sp>
        <p:nvSpPr>
          <p:cNvPr id="4" name="Text 2"/>
          <p:cNvSpPr/>
          <p:nvPr/>
        </p:nvSpPr>
        <p:spPr>
          <a:xfrm>
            <a:off x="190500" y="2962275"/>
            <a:ext cx="236696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FEATURE NAME</a:t>
            </a:r>
            <a:endParaRPr lang="en-US" sz="1425" dirty="0"/>
          </a:p>
        </p:txBody>
      </p:sp>
      <p:sp>
        <p:nvSpPr>
          <p:cNvPr id="5" name="Text 3"/>
          <p:cNvSpPr/>
          <p:nvPr/>
        </p:nvSpPr>
        <p:spPr>
          <a:xfrm>
            <a:off x="190500" y="3362325"/>
            <a:ext cx="2366963" cy="1100138"/>
          </a:xfrm>
          <a:prstGeom prst="rect">
            <a:avLst/>
          </a:prstGeom>
          <a:noFill/>
          <a:ln/>
        </p:spPr>
        <p:txBody>
          <a:bodyPr wrap="square" lIns="0" tIns="0" rIns="0" bIns="0" rtlCol="0" anchor="b"/>
          <a:lstStyle/>
          <a:p>
            <a:pPr algn="l" indent="0" marL="0">
              <a:lnSpc>
                <a:spcPts val="1176"/>
              </a:lnSpc>
              <a:buNone/>
            </a:pPr>
            <a:r>
              <a:rPr lang="en-US" sz="784" spc="-17" kern="0" dirty="0">
                <a:solidFill>
                  <a:srgbClr val="FFFFFF">
                    <a:alpha val="99000"/>
                  </a:srgbClr>
                </a:solidFill>
                <a:latin typeface="Plus Jakarta Sans" pitchFamily="34" charset="0"/>
                <a:ea typeface="Plus Jakarta Sans" pitchFamily="34" charset="-122"/>
                <a:cs typeface="Plus Jakarta Sans" pitchFamily="34" charset="-120"/>
              </a:rPr>
              <a:t>Describe what this feature or concept is all about, so the audience understands what they’re looking at.</a:t>
            </a:r>
            <a:endParaRPr lang="en-US" sz="784" dirty="0"/>
          </a:p>
          <a:p>
            <a:pPr algn="l" indent="0" marL="0">
              <a:lnSpc>
                <a:spcPts val="1176"/>
              </a:lnSpc>
              <a:buNone/>
            </a:pPr>
            <a:r>
              <a:rPr lang="en-US" sz="784" spc="-17" kern="0" dirty="0">
                <a:solidFill>
                  <a:srgbClr val="FFFFFF">
                    <a:alpha val="99000"/>
                  </a:srgbClr>
                </a:solidFill>
                <a:latin typeface="Plus Jakarta Sans" pitchFamily="34" charset="0"/>
                <a:ea typeface="Plus Jakarta Sans" pitchFamily="34" charset="-122"/>
                <a:cs typeface="Plus Jakarta Sans" pitchFamily="34" charset="-120"/>
              </a:rPr>
              <a:t>Add an interactive Figma prototype or a video for the best viewer experience. Otherwise, consider breaking up the flow across multiple slides.</a:t>
            </a:r>
            <a:endParaRPr lang="en-US" sz="784" dirty="0"/>
          </a:p>
        </p:txBody>
      </p:sp>
      <p:sp>
        <p:nvSpPr>
          <p:cNvPr id="6" name="Text 4"/>
          <p:cNvSpPr/>
          <p:nvPr/>
        </p:nvSpPr>
        <p:spPr>
          <a:xfrm>
            <a:off x="190500" y="547688"/>
            <a:ext cx="2486025"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FFFFFF">
                    <a:alpha val="99000"/>
                  </a:srgbClr>
                </a:solidFill>
                <a:latin typeface="Roboto" pitchFamily="34" charset="0"/>
                <a:ea typeface="Roboto" pitchFamily="34" charset="-122"/>
                <a:cs typeface="Roboto" pitchFamily="34" charset="-120"/>
              </a:rPr>
              <a:t>Design</a:t>
            </a:r>
            <a:endParaRPr lang="en-US" sz="2494" dirty="0"/>
          </a:p>
          <a:p>
            <a:pPr algn="l" indent="0" marL="0">
              <a:lnSpc>
                <a:spcPts val="2743"/>
              </a:lnSpc>
              <a:buNone/>
            </a:pPr>
            <a:r>
              <a:rPr lang="en-US" sz="2494" spc="-55" kern="0" dirty="0">
                <a:solidFill>
                  <a:srgbClr val="FFFFFF">
                    <a:alpha val="99000"/>
                  </a:srgbClr>
                </a:solidFill>
                <a:latin typeface="Roboto" pitchFamily="34" charset="0"/>
                <a:ea typeface="Roboto" pitchFamily="34" charset="-122"/>
                <a:cs typeface="Roboto" pitchFamily="34" charset="-120"/>
              </a:rPr>
              <a:t>Direction 1</a:t>
            </a:r>
            <a:endParaRPr lang="en-US" sz="2494" dirty="0"/>
          </a:p>
        </p:txBody>
      </p:sp>
      <p:pic>
        <p:nvPicPr>
          <p:cNvPr id="7" name="Image 0" descr="preencoded.png">    </p:cNvPr>
          <p:cNvPicPr>
            <a:picLocks noChangeAspect="1"/>
          </p:cNvPicPr>
          <p:nvPr/>
        </p:nvPicPr>
        <p:blipFill>
          <a:blip r:embed="rId1"/>
          <a:srcRect l="0" r="13237" t="0" b="0"/>
          <a:stretch/>
        </p:blipFill>
        <p:spPr>
          <a:xfrm>
            <a:off x="2957513" y="519113"/>
            <a:ext cx="6096000" cy="425767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FFFFF"/>
          </a:solidFill>
          <a:ln w="4524">
            <a:solidFill>
              <a:srgbClr val="FFFFFF"/>
            </a:solidFill>
            <a:prstDash val="solid"/>
          </a:ln>
        </p:spPr>
      </p:sp>
      <p:sp>
        <p:nvSpPr>
          <p:cNvPr id="3" name="Shape 1"/>
          <p:cNvSpPr/>
          <p:nvPr/>
        </p:nvSpPr>
        <p:spPr>
          <a:xfrm>
            <a:off x="6310313" y="2962275"/>
            <a:ext cx="2366963" cy="1500188"/>
          </a:xfrm>
          <a:prstGeom prst="rect">
            <a:avLst/>
          </a:prstGeom>
          <a:noFill/>
          <a:ln/>
        </p:spPr>
      </p:sp>
      <p:sp>
        <p:nvSpPr>
          <p:cNvPr id="4" name="Text 2"/>
          <p:cNvSpPr/>
          <p:nvPr/>
        </p:nvSpPr>
        <p:spPr>
          <a:xfrm>
            <a:off x="6310313" y="2962275"/>
            <a:ext cx="236696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FEATURE NAME</a:t>
            </a:r>
            <a:endParaRPr lang="en-US" sz="1425" dirty="0"/>
          </a:p>
        </p:txBody>
      </p:sp>
      <p:sp>
        <p:nvSpPr>
          <p:cNvPr id="5" name="Text 3"/>
          <p:cNvSpPr/>
          <p:nvPr/>
        </p:nvSpPr>
        <p:spPr>
          <a:xfrm>
            <a:off x="6310313" y="3362325"/>
            <a:ext cx="2366963" cy="1100138"/>
          </a:xfrm>
          <a:prstGeom prst="rect">
            <a:avLst/>
          </a:prstGeom>
          <a:noFill/>
          <a:ln/>
        </p:spPr>
        <p:txBody>
          <a:bodyPr wrap="square" lIns="0" tIns="0" rIns="0" bIns="0" rtlCol="0" anchor="b"/>
          <a:lstStyle/>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Describe what this feature or concept is all about, so the audience understands what they’re looking at.</a:t>
            </a:r>
            <a:endParaRPr lang="en-US" sz="784" dirty="0"/>
          </a:p>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Add an interactive Figma prototype or a video for the best viewer experience. Otherwise, consider breaking up the flow across multiple slides.</a:t>
            </a:r>
            <a:endParaRPr lang="en-US" sz="784" dirty="0"/>
          </a:p>
        </p:txBody>
      </p:sp>
      <p:sp>
        <p:nvSpPr>
          <p:cNvPr id="6" name="Text 4"/>
          <p:cNvSpPr/>
          <p:nvPr/>
        </p:nvSpPr>
        <p:spPr>
          <a:xfrm>
            <a:off x="6310313" y="552450"/>
            <a:ext cx="2486025"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Roboto" pitchFamily="34" charset="0"/>
                <a:ea typeface="Roboto" pitchFamily="34" charset="-122"/>
                <a:cs typeface="Roboto" pitchFamily="34" charset="-120"/>
              </a:rPr>
              <a:t>Design</a:t>
            </a:r>
            <a:endParaRPr lang="en-US" sz="2494" dirty="0"/>
          </a:p>
          <a:p>
            <a:pPr algn="l" indent="0" marL="0">
              <a:lnSpc>
                <a:spcPts val="2743"/>
              </a:lnSpc>
              <a:buNone/>
            </a:pPr>
            <a:r>
              <a:rPr lang="en-US" sz="2494" spc="-55" kern="0" dirty="0">
                <a:solidFill>
                  <a:srgbClr val="000000">
                    <a:alpha val="99000"/>
                  </a:srgbClr>
                </a:solidFill>
                <a:latin typeface="Roboto" pitchFamily="34" charset="0"/>
                <a:ea typeface="Roboto" pitchFamily="34" charset="-122"/>
                <a:cs typeface="Roboto" pitchFamily="34" charset="-120"/>
              </a:rPr>
              <a:t>Direction 2</a:t>
            </a:r>
            <a:endParaRPr lang="en-US" sz="2494" dirty="0"/>
          </a:p>
        </p:txBody>
      </p:sp>
      <p:pic>
        <p:nvPicPr>
          <p:cNvPr id="7" name="Image 0" descr="preencoded.png">    </p:cNvPr>
          <p:cNvPicPr>
            <a:picLocks noChangeAspect="1"/>
          </p:cNvPicPr>
          <p:nvPr/>
        </p:nvPicPr>
        <p:blipFill>
          <a:blip r:embed="rId1"/>
          <a:srcRect l="0" r="17488" t="0" b="0"/>
          <a:stretch/>
        </p:blipFill>
        <p:spPr>
          <a:xfrm>
            <a:off x="-1138237" y="519113"/>
            <a:ext cx="5797315" cy="425767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000000"/>
          </a:solidFill>
          <a:ln w="4524">
            <a:solidFill>
              <a:srgbClr val="000000"/>
            </a:solidFill>
            <a:prstDash val="solid"/>
          </a:ln>
        </p:spPr>
      </p:sp>
      <p:sp>
        <p:nvSpPr>
          <p:cNvPr id="3" name="Shape 1"/>
          <p:cNvSpPr/>
          <p:nvPr/>
        </p:nvSpPr>
        <p:spPr>
          <a:xfrm>
            <a:off x="6310313" y="2962275"/>
            <a:ext cx="2366963" cy="1500188"/>
          </a:xfrm>
          <a:prstGeom prst="rect">
            <a:avLst/>
          </a:prstGeom>
          <a:noFill/>
          <a:ln/>
        </p:spPr>
      </p:sp>
      <p:sp>
        <p:nvSpPr>
          <p:cNvPr id="4" name="Text 2"/>
          <p:cNvSpPr/>
          <p:nvPr/>
        </p:nvSpPr>
        <p:spPr>
          <a:xfrm>
            <a:off x="6310313" y="2962275"/>
            <a:ext cx="236696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FEATURE NAME</a:t>
            </a:r>
            <a:endParaRPr lang="en-US" sz="1425" dirty="0"/>
          </a:p>
        </p:txBody>
      </p:sp>
      <p:sp>
        <p:nvSpPr>
          <p:cNvPr id="5" name="Text 3"/>
          <p:cNvSpPr/>
          <p:nvPr/>
        </p:nvSpPr>
        <p:spPr>
          <a:xfrm>
            <a:off x="6310313" y="3362325"/>
            <a:ext cx="2366963" cy="1100138"/>
          </a:xfrm>
          <a:prstGeom prst="rect">
            <a:avLst/>
          </a:prstGeom>
          <a:noFill/>
          <a:ln/>
        </p:spPr>
        <p:txBody>
          <a:bodyPr wrap="square" lIns="0" tIns="0" rIns="0" bIns="0" rtlCol="0" anchor="b"/>
          <a:lstStyle/>
          <a:p>
            <a:pPr algn="l" indent="0" marL="0">
              <a:lnSpc>
                <a:spcPts val="1176"/>
              </a:lnSpc>
              <a:buNone/>
            </a:pPr>
            <a:r>
              <a:rPr lang="en-US" sz="784" spc="-17" kern="0" dirty="0">
                <a:solidFill>
                  <a:srgbClr val="FFFFFF">
                    <a:alpha val="99000"/>
                  </a:srgbClr>
                </a:solidFill>
                <a:latin typeface="Plus Jakarta Sans" pitchFamily="34" charset="0"/>
                <a:ea typeface="Plus Jakarta Sans" pitchFamily="34" charset="-122"/>
                <a:cs typeface="Plus Jakarta Sans" pitchFamily="34" charset="-120"/>
              </a:rPr>
              <a:t>Describe what this feature or concept is all about, so the audience understands what they’re looking at.</a:t>
            </a:r>
            <a:endParaRPr lang="en-US" sz="784" dirty="0"/>
          </a:p>
          <a:p>
            <a:pPr algn="l" indent="0" marL="0">
              <a:lnSpc>
                <a:spcPts val="1176"/>
              </a:lnSpc>
              <a:buNone/>
            </a:pPr>
            <a:r>
              <a:rPr lang="en-US" sz="784" spc="-17" kern="0" dirty="0">
                <a:solidFill>
                  <a:srgbClr val="FFFFFF">
                    <a:alpha val="99000"/>
                  </a:srgbClr>
                </a:solidFill>
                <a:latin typeface="Plus Jakarta Sans" pitchFamily="34" charset="0"/>
                <a:ea typeface="Plus Jakarta Sans" pitchFamily="34" charset="-122"/>
                <a:cs typeface="Plus Jakarta Sans" pitchFamily="34" charset="-120"/>
              </a:rPr>
              <a:t>Add an interactive Figma prototype or a video for the best viewer experience. Otherwise, consider breaking up the flow across multiple slides.</a:t>
            </a:r>
            <a:endParaRPr lang="en-US" sz="784" dirty="0"/>
          </a:p>
        </p:txBody>
      </p:sp>
      <p:sp>
        <p:nvSpPr>
          <p:cNvPr id="6" name="Text 4"/>
          <p:cNvSpPr/>
          <p:nvPr/>
        </p:nvSpPr>
        <p:spPr>
          <a:xfrm>
            <a:off x="6310313" y="552450"/>
            <a:ext cx="2486025"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FFFFFF">
                    <a:alpha val="99000"/>
                  </a:srgbClr>
                </a:solidFill>
                <a:latin typeface="Roboto" pitchFamily="34" charset="0"/>
                <a:ea typeface="Roboto" pitchFamily="34" charset="-122"/>
                <a:cs typeface="Roboto" pitchFamily="34" charset="-120"/>
              </a:rPr>
              <a:t>Design</a:t>
            </a:r>
            <a:endParaRPr lang="en-US" sz="2494" dirty="0"/>
          </a:p>
          <a:p>
            <a:pPr algn="l" indent="0" marL="0">
              <a:lnSpc>
                <a:spcPts val="2743"/>
              </a:lnSpc>
              <a:buNone/>
            </a:pPr>
            <a:r>
              <a:rPr lang="en-US" sz="2494" spc="-55" kern="0" dirty="0">
                <a:solidFill>
                  <a:srgbClr val="FFFFFF">
                    <a:alpha val="99000"/>
                  </a:srgbClr>
                </a:solidFill>
                <a:latin typeface="Roboto" pitchFamily="34" charset="0"/>
                <a:ea typeface="Roboto" pitchFamily="34" charset="-122"/>
                <a:cs typeface="Roboto" pitchFamily="34" charset="-120"/>
              </a:rPr>
              <a:t>Direction 2</a:t>
            </a:r>
            <a:endParaRPr lang="en-US" sz="2494" dirty="0"/>
          </a:p>
        </p:txBody>
      </p:sp>
      <p:pic>
        <p:nvPicPr>
          <p:cNvPr id="7" name="Image 0" descr="preencoded.png">    </p:cNvPr>
          <p:cNvPicPr>
            <a:picLocks noChangeAspect="1"/>
          </p:cNvPicPr>
          <p:nvPr/>
        </p:nvPicPr>
        <p:blipFill>
          <a:blip r:embed="rId1"/>
          <a:srcRect l="0" r="17488" t="0" b="0"/>
          <a:stretch/>
        </p:blipFill>
        <p:spPr>
          <a:xfrm>
            <a:off x="-1138237" y="519113"/>
            <a:ext cx="5797315" cy="425767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90488" y="238125"/>
            <a:ext cx="8963025" cy="4814888"/>
          </a:xfrm>
          <a:prstGeom prst="rect">
            <a:avLst/>
          </a:prstGeom>
        </p:spPr>
      </p:pic>
      <p:sp>
        <p:nvSpPr>
          <p:cNvPr id="3" name="Text 0"/>
          <p:cNvSpPr/>
          <p:nvPr/>
        </p:nvSpPr>
        <p:spPr>
          <a:xfrm>
            <a:off x="190500" y="547688"/>
            <a:ext cx="2486025"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Roboto" pitchFamily="34" charset="0"/>
                <a:ea typeface="Roboto" pitchFamily="34" charset="-122"/>
                <a:cs typeface="Roboto" pitchFamily="34" charset="-120"/>
              </a:rPr>
              <a:t>New feature on mobile</a:t>
            </a:r>
            <a:endParaRPr lang="en-US" sz="2494" dirty="0"/>
          </a:p>
        </p:txBody>
      </p:sp>
      <p:pic>
        <p:nvPicPr>
          <p:cNvPr id="4" name="Image 1" descr="preencoded.png">    </p:cNvPr>
          <p:cNvPicPr>
            <a:picLocks noChangeAspect="1"/>
          </p:cNvPicPr>
          <p:nvPr/>
        </p:nvPicPr>
        <p:blipFill>
          <a:blip r:embed="rId2"/>
          <a:srcRect l="0" r="0" t="0" b="0"/>
          <a:stretch/>
        </p:blipFill>
        <p:spPr>
          <a:xfrm>
            <a:off x="5205413" y="461963"/>
            <a:ext cx="2054228" cy="4216400"/>
          </a:xfrm>
          <a:prstGeom prst="rect">
            <a:avLst/>
          </a:prstGeom>
        </p:spPr>
      </p:pic>
      <p:sp>
        <p:nvSpPr>
          <p:cNvPr id="5" name="Text 1"/>
          <p:cNvSpPr/>
          <p:nvPr/>
        </p:nvSpPr>
        <p:spPr>
          <a:xfrm>
            <a:off x="7634288" y="2324100"/>
            <a:ext cx="833438" cy="3429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EXAMPLE OF CALLOUTS CAN GO HERE</a:t>
            </a:r>
            <a:endParaRPr lang="en-US" sz="784" dirty="0"/>
          </a:p>
        </p:txBody>
      </p:sp>
      <p:sp>
        <p:nvSpPr>
          <p:cNvPr id="6" name="Text 2"/>
          <p:cNvSpPr/>
          <p:nvPr/>
        </p:nvSpPr>
        <p:spPr>
          <a:xfrm>
            <a:off x="3757613" y="3362325"/>
            <a:ext cx="833438" cy="4572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EXAMPLE OF CALLOUTS CAN GO HERE TOO</a:t>
            </a:r>
            <a:endParaRPr lang="en-US" sz="784" dirty="0"/>
          </a:p>
        </p:txBody>
      </p:sp>
      <p:sp>
        <p:nvSpPr>
          <p:cNvPr id="7" name="Text 3"/>
          <p:cNvSpPr/>
          <p:nvPr/>
        </p:nvSpPr>
        <p:spPr>
          <a:xfrm>
            <a:off x="3981450" y="1757363"/>
            <a:ext cx="833438" cy="4572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EXAMPLE OF CALLOUTS CAN GO HERE TOO</a:t>
            </a:r>
            <a:endParaRPr lang="en-US" sz="784" dirty="0"/>
          </a:p>
        </p:txBody>
      </p:sp>
      <p:pic>
        <p:nvPicPr>
          <p:cNvPr id="8" name="Image 2" descr="preencoded.png">    </p:cNvPr>
          <p:cNvPicPr>
            <a:picLocks noChangeAspect="1"/>
          </p:cNvPicPr>
          <p:nvPr/>
        </p:nvPicPr>
        <p:blipFill>
          <a:blip r:embed="rId3"/>
          <a:srcRect l="0" r="0" t="0" b="0"/>
          <a:stretch/>
        </p:blipFill>
        <p:spPr>
          <a:xfrm>
            <a:off x="7034213" y="2386013"/>
            <a:ext cx="577853" cy="50799"/>
          </a:xfrm>
          <a:prstGeom prst="rect">
            <a:avLst/>
          </a:prstGeom>
        </p:spPr>
      </p:pic>
      <p:pic>
        <p:nvPicPr>
          <p:cNvPr id="9" name="Image 3" descr="preencoded.png">    </p:cNvPr>
          <p:cNvPicPr>
            <a:picLocks noChangeAspect="1"/>
          </p:cNvPicPr>
          <p:nvPr/>
        </p:nvPicPr>
        <p:blipFill>
          <a:blip r:embed="rId4"/>
          <a:srcRect l="0" r="0" t="0" b="0"/>
          <a:stretch/>
        </p:blipFill>
        <p:spPr>
          <a:xfrm>
            <a:off x="4638675" y="3424238"/>
            <a:ext cx="1258891" cy="50799"/>
          </a:xfrm>
          <a:prstGeom prst="rect">
            <a:avLst/>
          </a:prstGeom>
        </p:spPr>
      </p:pic>
      <p:pic>
        <p:nvPicPr>
          <p:cNvPr id="10" name="Image 4" descr="preencoded.png">    </p:cNvPr>
          <p:cNvPicPr>
            <a:picLocks noChangeAspect="1"/>
          </p:cNvPicPr>
          <p:nvPr/>
        </p:nvPicPr>
        <p:blipFill>
          <a:blip r:embed="rId5"/>
          <a:srcRect l="0" r="0" t="0" b="0"/>
          <a:stretch/>
        </p:blipFill>
        <p:spPr>
          <a:xfrm>
            <a:off x="4843463" y="1819275"/>
            <a:ext cx="801691" cy="50800"/>
          </a:xfrm>
          <a:prstGeom prst="rect">
            <a:avLst/>
          </a:prstGeom>
        </p:spPr>
      </p:pic>
      <p:sp>
        <p:nvSpPr>
          <p:cNvPr id="11" name="Shape 4"/>
          <p:cNvSpPr/>
          <p:nvPr/>
        </p:nvSpPr>
        <p:spPr>
          <a:xfrm>
            <a:off x="190500" y="2933700"/>
            <a:ext cx="2366963" cy="1500188"/>
          </a:xfrm>
          <a:prstGeom prst="rect">
            <a:avLst/>
          </a:prstGeom>
          <a:noFill/>
          <a:ln/>
        </p:spPr>
      </p:sp>
      <p:sp>
        <p:nvSpPr>
          <p:cNvPr id="12" name="Text 5"/>
          <p:cNvSpPr/>
          <p:nvPr/>
        </p:nvSpPr>
        <p:spPr>
          <a:xfrm>
            <a:off x="190500" y="2933700"/>
            <a:ext cx="236696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FEATURE NAME</a:t>
            </a:r>
            <a:endParaRPr lang="en-US" sz="1425" dirty="0"/>
          </a:p>
        </p:txBody>
      </p:sp>
      <p:sp>
        <p:nvSpPr>
          <p:cNvPr id="13" name="Text 6"/>
          <p:cNvSpPr/>
          <p:nvPr/>
        </p:nvSpPr>
        <p:spPr>
          <a:xfrm>
            <a:off x="190500" y="3333750"/>
            <a:ext cx="2366963" cy="1100138"/>
          </a:xfrm>
          <a:prstGeom prst="rect">
            <a:avLst/>
          </a:prstGeom>
          <a:noFill/>
          <a:ln/>
        </p:spPr>
        <p:txBody>
          <a:bodyPr wrap="square" lIns="0" tIns="0" rIns="0" bIns="0" rtlCol="0" anchor="b"/>
          <a:lstStyle/>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Describe what this feature or concept is all about, so the audience understands what they’re looking at.</a:t>
            </a:r>
            <a:endParaRPr lang="en-US" sz="784" dirty="0"/>
          </a:p>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Add an interactive Figma prototype or a video for the best viewer experience. Otherwise, consider breaking up the flow across multiple slides.</a:t>
            </a:r>
            <a:endParaRPr lang="en-US" sz="784"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90488" y="238125"/>
            <a:ext cx="8963025" cy="4814888"/>
          </a:xfrm>
          <a:prstGeom prst="rect">
            <a:avLst/>
          </a:prstGeom>
        </p:spPr>
      </p:pic>
      <p:sp>
        <p:nvSpPr>
          <p:cNvPr id="3" name="Text 0"/>
          <p:cNvSpPr/>
          <p:nvPr/>
        </p:nvSpPr>
        <p:spPr>
          <a:xfrm>
            <a:off x="190500" y="547688"/>
            <a:ext cx="2486025"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FFFFFF">
                    <a:alpha val="99000"/>
                  </a:srgbClr>
                </a:solidFill>
                <a:latin typeface="Roboto" pitchFamily="34" charset="0"/>
                <a:ea typeface="Roboto" pitchFamily="34" charset="-122"/>
                <a:cs typeface="Roboto" pitchFamily="34" charset="-120"/>
              </a:rPr>
              <a:t>New feature on mobile</a:t>
            </a:r>
            <a:endParaRPr lang="en-US" sz="2494" dirty="0"/>
          </a:p>
        </p:txBody>
      </p:sp>
      <p:pic>
        <p:nvPicPr>
          <p:cNvPr id="4" name="Image 1" descr="preencoded.png">    </p:cNvPr>
          <p:cNvPicPr>
            <a:picLocks noChangeAspect="1"/>
          </p:cNvPicPr>
          <p:nvPr/>
        </p:nvPicPr>
        <p:blipFill>
          <a:blip r:embed="rId2"/>
          <a:srcRect l="0" r="0" t="0" b="0"/>
          <a:stretch/>
        </p:blipFill>
        <p:spPr>
          <a:xfrm>
            <a:off x="5205413" y="461963"/>
            <a:ext cx="2054228" cy="4216400"/>
          </a:xfrm>
          <a:prstGeom prst="rect">
            <a:avLst/>
          </a:prstGeom>
        </p:spPr>
      </p:pic>
      <p:sp>
        <p:nvSpPr>
          <p:cNvPr id="5" name="Text 1"/>
          <p:cNvSpPr/>
          <p:nvPr/>
        </p:nvSpPr>
        <p:spPr>
          <a:xfrm>
            <a:off x="7634288" y="2324100"/>
            <a:ext cx="833438" cy="3429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FFFFFF">
                    <a:alpha val="99000"/>
                  </a:srgbClr>
                </a:solidFill>
                <a:latin typeface="Plus Jakarta Sans" pitchFamily="34" charset="0"/>
                <a:ea typeface="Plus Jakarta Sans" pitchFamily="34" charset="-122"/>
                <a:cs typeface="Plus Jakarta Sans" pitchFamily="34" charset="-120"/>
              </a:rPr>
              <a:t>EXAMPLE OF CALLOUTS CAN GO HERE</a:t>
            </a:r>
            <a:endParaRPr lang="en-US" sz="784" dirty="0"/>
          </a:p>
        </p:txBody>
      </p:sp>
      <p:sp>
        <p:nvSpPr>
          <p:cNvPr id="6" name="Text 2"/>
          <p:cNvSpPr/>
          <p:nvPr/>
        </p:nvSpPr>
        <p:spPr>
          <a:xfrm>
            <a:off x="3757613" y="3362325"/>
            <a:ext cx="833438" cy="4572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FFFFFF">
                    <a:alpha val="99000"/>
                  </a:srgbClr>
                </a:solidFill>
                <a:latin typeface="Plus Jakarta Sans" pitchFamily="34" charset="0"/>
                <a:ea typeface="Plus Jakarta Sans" pitchFamily="34" charset="-122"/>
                <a:cs typeface="Plus Jakarta Sans" pitchFamily="34" charset="-120"/>
              </a:rPr>
              <a:t>EXAMPLE OF CALLOUTS CAN GO HERE TOO</a:t>
            </a:r>
            <a:endParaRPr lang="en-US" sz="784" dirty="0"/>
          </a:p>
        </p:txBody>
      </p:sp>
      <p:sp>
        <p:nvSpPr>
          <p:cNvPr id="7" name="Text 3"/>
          <p:cNvSpPr/>
          <p:nvPr/>
        </p:nvSpPr>
        <p:spPr>
          <a:xfrm>
            <a:off x="3981450" y="1757363"/>
            <a:ext cx="833438" cy="4572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FFFFFF">
                    <a:alpha val="99000"/>
                  </a:srgbClr>
                </a:solidFill>
                <a:latin typeface="Plus Jakarta Sans" pitchFamily="34" charset="0"/>
                <a:ea typeface="Plus Jakarta Sans" pitchFamily="34" charset="-122"/>
                <a:cs typeface="Plus Jakarta Sans" pitchFamily="34" charset="-120"/>
              </a:rPr>
              <a:t>EXAMPLE OF CALLOUTS CAN GO HERE TOO</a:t>
            </a:r>
            <a:endParaRPr lang="en-US" sz="784" dirty="0"/>
          </a:p>
        </p:txBody>
      </p:sp>
      <p:pic>
        <p:nvPicPr>
          <p:cNvPr id="8" name="Image 2" descr="preencoded.png">    </p:cNvPr>
          <p:cNvPicPr>
            <a:picLocks noChangeAspect="1"/>
          </p:cNvPicPr>
          <p:nvPr/>
        </p:nvPicPr>
        <p:blipFill>
          <a:blip r:embed="rId3"/>
          <a:srcRect l="0" r="0" t="0" b="0"/>
          <a:stretch/>
        </p:blipFill>
        <p:spPr>
          <a:xfrm>
            <a:off x="7034213" y="2386013"/>
            <a:ext cx="577853" cy="50799"/>
          </a:xfrm>
          <a:prstGeom prst="rect">
            <a:avLst/>
          </a:prstGeom>
        </p:spPr>
      </p:pic>
      <p:pic>
        <p:nvPicPr>
          <p:cNvPr id="9" name="Image 3" descr="preencoded.png">    </p:cNvPr>
          <p:cNvPicPr>
            <a:picLocks noChangeAspect="1"/>
          </p:cNvPicPr>
          <p:nvPr/>
        </p:nvPicPr>
        <p:blipFill>
          <a:blip r:embed="rId4"/>
          <a:srcRect l="0" r="0" t="0" b="0"/>
          <a:stretch/>
        </p:blipFill>
        <p:spPr>
          <a:xfrm>
            <a:off x="4638675" y="3424238"/>
            <a:ext cx="1258891" cy="50799"/>
          </a:xfrm>
          <a:prstGeom prst="rect">
            <a:avLst/>
          </a:prstGeom>
        </p:spPr>
      </p:pic>
      <p:pic>
        <p:nvPicPr>
          <p:cNvPr id="10" name="Image 4" descr="preencoded.png">    </p:cNvPr>
          <p:cNvPicPr>
            <a:picLocks noChangeAspect="1"/>
          </p:cNvPicPr>
          <p:nvPr/>
        </p:nvPicPr>
        <p:blipFill>
          <a:blip r:embed="rId5"/>
          <a:srcRect l="0" r="0" t="0" b="0"/>
          <a:stretch/>
        </p:blipFill>
        <p:spPr>
          <a:xfrm>
            <a:off x="4843463" y="1819275"/>
            <a:ext cx="801691" cy="50800"/>
          </a:xfrm>
          <a:prstGeom prst="rect">
            <a:avLst/>
          </a:prstGeom>
        </p:spPr>
      </p:pic>
      <p:sp>
        <p:nvSpPr>
          <p:cNvPr id="11" name="Shape 4"/>
          <p:cNvSpPr/>
          <p:nvPr/>
        </p:nvSpPr>
        <p:spPr>
          <a:xfrm>
            <a:off x="190500" y="2933700"/>
            <a:ext cx="2366963" cy="1500188"/>
          </a:xfrm>
          <a:prstGeom prst="rect">
            <a:avLst/>
          </a:prstGeom>
          <a:noFill/>
          <a:ln/>
        </p:spPr>
      </p:sp>
      <p:sp>
        <p:nvSpPr>
          <p:cNvPr id="12" name="Text 5"/>
          <p:cNvSpPr/>
          <p:nvPr/>
        </p:nvSpPr>
        <p:spPr>
          <a:xfrm>
            <a:off x="190500" y="2933700"/>
            <a:ext cx="236696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FEATURE NAME</a:t>
            </a:r>
            <a:endParaRPr lang="en-US" sz="1425" dirty="0"/>
          </a:p>
        </p:txBody>
      </p:sp>
      <p:sp>
        <p:nvSpPr>
          <p:cNvPr id="13" name="Text 6"/>
          <p:cNvSpPr/>
          <p:nvPr/>
        </p:nvSpPr>
        <p:spPr>
          <a:xfrm>
            <a:off x="190500" y="3333750"/>
            <a:ext cx="2366963" cy="1100138"/>
          </a:xfrm>
          <a:prstGeom prst="rect">
            <a:avLst/>
          </a:prstGeom>
          <a:noFill/>
          <a:ln/>
        </p:spPr>
        <p:txBody>
          <a:bodyPr wrap="square" lIns="0" tIns="0" rIns="0" bIns="0" rtlCol="0" anchor="b"/>
          <a:lstStyle/>
          <a:p>
            <a:pPr algn="l" indent="0" marL="0">
              <a:lnSpc>
                <a:spcPts val="1176"/>
              </a:lnSpc>
              <a:buNone/>
            </a:pPr>
            <a:r>
              <a:rPr lang="en-US" sz="784" spc="-17" kern="0" dirty="0">
                <a:solidFill>
                  <a:srgbClr val="FFFFFF">
                    <a:alpha val="99000"/>
                  </a:srgbClr>
                </a:solidFill>
                <a:latin typeface="Plus Jakarta Sans" pitchFamily="34" charset="0"/>
                <a:ea typeface="Plus Jakarta Sans" pitchFamily="34" charset="-122"/>
                <a:cs typeface="Plus Jakarta Sans" pitchFamily="34" charset="-120"/>
              </a:rPr>
              <a:t>Describe what this feature or concept is all about, so the audience understands what they’re looking at.</a:t>
            </a:r>
            <a:endParaRPr lang="en-US" sz="784" dirty="0"/>
          </a:p>
          <a:p>
            <a:pPr algn="l" indent="0" marL="0">
              <a:lnSpc>
                <a:spcPts val="1176"/>
              </a:lnSpc>
              <a:buNone/>
            </a:pPr>
            <a:r>
              <a:rPr lang="en-US" sz="784" spc="-17" kern="0" dirty="0">
                <a:solidFill>
                  <a:srgbClr val="FFFFFF">
                    <a:alpha val="99000"/>
                  </a:srgbClr>
                </a:solidFill>
                <a:latin typeface="Plus Jakarta Sans" pitchFamily="34" charset="0"/>
                <a:ea typeface="Plus Jakarta Sans" pitchFamily="34" charset="-122"/>
                <a:cs typeface="Plus Jakarta Sans" pitchFamily="34" charset="-120"/>
              </a:rPr>
              <a:t>Add an interactive Figma prototype or a video for the best viewer experience. Otherwise, consider breaking up the flow across multiple slides.</a:t>
            </a:r>
            <a:endParaRPr lang="en-US" sz="784"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488" y="242888"/>
            <a:ext cx="8963025" cy="4814888"/>
          </a:xfrm>
          <a:prstGeom prst="roundRect">
            <a:avLst>
              <a:gd name="adj" fmla="val 2849"/>
            </a:avLst>
          </a:prstGeom>
          <a:solidFill>
            <a:srgbClr val="FFFFFF"/>
          </a:solidFill>
          <a:ln w="4524">
            <a:solidFill>
              <a:srgbClr val="FFFFFF"/>
            </a:solidFill>
            <a:prstDash val="solid"/>
          </a:ln>
        </p:spPr>
      </p:sp>
      <p:sp>
        <p:nvSpPr>
          <p:cNvPr id="3" name="Shape 1"/>
          <p:cNvSpPr/>
          <p:nvPr/>
        </p:nvSpPr>
        <p:spPr>
          <a:xfrm>
            <a:off x="6310313" y="2962275"/>
            <a:ext cx="2366963" cy="1500188"/>
          </a:xfrm>
          <a:prstGeom prst="rect">
            <a:avLst/>
          </a:prstGeom>
          <a:noFill/>
          <a:ln/>
        </p:spPr>
      </p:sp>
      <p:sp>
        <p:nvSpPr>
          <p:cNvPr id="4" name="Text 2"/>
          <p:cNvSpPr/>
          <p:nvPr/>
        </p:nvSpPr>
        <p:spPr>
          <a:xfrm>
            <a:off x="6310313" y="2962275"/>
            <a:ext cx="1990725"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FEATURE NAME</a:t>
            </a:r>
            <a:endParaRPr lang="en-US" sz="1425" dirty="0"/>
          </a:p>
        </p:txBody>
      </p:sp>
      <p:sp>
        <p:nvSpPr>
          <p:cNvPr id="5" name="Text 3"/>
          <p:cNvSpPr/>
          <p:nvPr/>
        </p:nvSpPr>
        <p:spPr>
          <a:xfrm>
            <a:off x="6310313" y="3362325"/>
            <a:ext cx="2366963" cy="1100138"/>
          </a:xfrm>
          <a:prstGeom prst="rect">
            <a:avLst/>
          </a:prstGeom>
          <a:noFill/>
          <a:ln/>
        </p:spPr>
        <p:txBody>
          <a:bodyPr wrap="square" lIns="0" tIns="0" rIns="0" bIns="0" rtlCol="0" anchor="b"/>
          <a:lstStyle/>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Describe what this feature or concept is all about, so the audience understands what they’re looking at.</a:t>
            </a:r>
            <a:endParaRPr lang="en-US" sz="784" dirty="0"/>
          </a:p>
          <a:p>
            <a:pPr algn="l" indent="0" marL="0">
              <a:lnSpc>
                <a:spcPts val="1176"/>
              </a:lnSpc>
              <a:buNone/>
            </a:pPr>
            <a:r>
              <a:rPr lang="en-US" sz="784" spc="-17" kern="0" dirty="0">
                <a:solidFill>
                  <a:srgbClr val="000000">
                    <a:alpha val="99000"/>
                  </a:srgbClr>
                </a:solidFill>
                <a:latin typeface="Plus Jakarta Sans" pitchFamily="34" charset="0"/>
                <a:ea typeface="Plus Jakarta Sans" pitchFamily="34" charset="-122"/>
                <a:cs typeface="Plus Jakarta Sans" pitchFamily="34" charset="-120"/>
              </a:rPr>
              <a:t>Add an interactive Figma prototype or a video for the best viewer experience. Otherwise, consider breaking up the flow across multiple slides.</a:t>
            </a:r>
            <a:endParaRPr lang="en-US" sz="784" dirty="0"/>
          </a:p>
        </p:txBody>
      </p:sp>
      <p:sp>
        <p:nvSpPr>
          <p:cNvPr id="6" name="Text 4"/>
          <p:cNvSpPr/>
          <p:nvPr/>
        </p:nvSpPr>
        <p:spPr>
          <a:xfrm>
            <a:off x="6310313" y="557213"/>
            <a:ext cx="2486025"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Roboto" pitchFamily="34" charset="0"/>
                <a:ea typeface="Roboto" pitchFamily="34" charset="-122"/>
                <a:cs typeface="Roboto" pitchFamily="34" charset="-120"/>
              </a:rPr>
              <a:t>New feature on mobile</a:t>
            </a:r>
            <a:endParaRPr lang="en-US" sz="2494" dirty="0"/>
          </a:p>
        </p:txBody>
      </p:sp>
      <p:pic>
        <p:nvPicPr>
          <p:cNvPr id="7" name="Image 0" descr="preencoded.png">    </p:cNvPr>
          <p:cNvPicPr>
            <a:picLocks noChangeAspect="1"/>
          </p:cNvPicPr>
          <p:nvPr/>
        </p:nvPicPr>
        <p:blipFill>
          <a:blip r:embed="rId1"/>
          <a:srcRect l="0" r="0" t="0" b="0"/>
          <a:stretch/>
        </p:blipFill>
        <p:spPr>
          <a:xfrm>
            <a:off x="1757363" y="542925"/>
            <a:ext cx="2054228" cy="4216400"/>
          </a:xfrm>
          <a:prstGeom prst="rect">
            <a:avLst/>
          </a:prstGeom>
        </p:spPr>
      </p:pic>
      <p:sp>
        <p:nvSpPr>
          <p:cNvPr id="8" name="Text 5"/>
          <p:cNvSpPr/>
          <p:nvPr/>
        </p:nvSpPr>
        <p:spPr>
          <a:xfrm>
            <a:off x="4248150" y="2324100"/>
            <a:ext cx="833438" cy="3429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EXAMPLE OF CALLOUTS CAN GO HERE</a:t>
            </a:r>
            <a:endParaRPr lang="en-US" sz="784" dirty="0"/>
          </a:p>
        </p:txBody>
      </p:sp>
      <p:sp>
        <p:nvSpPr>
          <p:cNvPr id="9" name="Text 6"/>
          <p:cNvSpPr/>
          <p:nvPr/>
        </p:nvSpPr>
        <p:spPr>
          <a:xfrm>
            <a:off x="461963" y="3362325"/>
            <a:ext cx="833438" cy="4572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EXAMPLE OF CALLOUTS CAN GO HERE TOO</a:t>
            </a:r>
            <a:endParaRPr lang="en-US" sz="784" dirty="0"/>
          </a:p>
        </p:txBody>
      </p:sp>
      <p:sp>
        <p:nvSpPr>
          <p:cNvPr id="10" name="Text 7"/>
          <p:cNvSpPr/>
          <p:nvPr/>
        </p:nvSpPr>
        <p:spPr>
          <a:xfrm>
            <a:off x="685800" y="1757363"/>
            <a:ext cx="833438" cy="4572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EXAMPLE OF CALLOUTS CAN GO HERE TOO</a:t>
            </a:r>
            <a:endParaRPr lang="en-US" sz="784" dirty="0"/>
          </a:p>
        </p:txBody>
      </p:sp>
      <p:pic>
        <p:nvPicPr>
          <p:cNvPr id="11" name="Image 1" descr="preencoded.png">    </p:cNvPr>
          <p:cNvPicPr>
            <a:picLocks noChangeAspect="1"/>
          </p:cNvPicPr>
          <p:nvPr/>
        </p:nvPicPr>
        <p:blipFill>
          <a:blip r:embed="rId2"/>
          <a:srcRect l="0" r="0" t="0" b="0"/>
          <a:stretch/>
        </p:blipFill>
        <p:spPr>
          <a:xfrm>
            <a:off x="3633788" y="2386013"/>
            <a:ext cx="577853" cy="50799"/>
          </a:xfrm>
          <a:prstGeom prst="rect">
            <a:avLst/>
          </a:prstGeom>
        </p:spPr>
      </p:pic>
      <p:pic>
        <p:nvPicPr>
          <p:cNvPr id="12" name="Image 2" descr="preencoded.png">    </p:cNvPr>
          <p:cNvPicPr>
            <a:picLocks noChangeAspect="1"/>
          </p:cNvPicPr>
          <p:nvPr/>
        </p:nvPicPr>
        <p:blipFill>
          <a:blip r:embed="rId3"/>
          <a:srcRect l="0" r="0" t="0" b="0"/>
          <a:stretch/>
        </p:blipFill>
        <p:spPr>
          <a:xfrm>
            <a:off x="1343025" y="3424238"/>
            <a:ext cx="1258891" cy="50799"/>
          </a:xfrm>
          <a:prstGeom prst="rect">
            <a:avLst/>
          </a:prstGeom>
        </p:spPr>
      </p:pic>
      <p:pic>
        <p:nvPicPr>
          <p:cNvPr id="13" name="Image 3" descr="preencoded.png">    </p:cNvPr>
          <p:cNvPicPr>
            <a:picLocks noChangeAspect="1"/>
          </p:cNvPicPr>
          <p:nvPr/>
        </p:nvPicPr>
        <p:blipFill>
          <a:blip r:embed="rId4"/>
          <a:srcRect l="0" r="0" t="0" b="0"/>
          <a:stretch/>
        </p:blipFill>
        <p:spPr>
          <a:xfrm>
            <a:off x="1547813" y="1819275"/>
            <a:ext cx="801691" cy="508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42888"/>
            <a:ext cx="8963025" cy="4814888"/>
          </a:xfrm>
          <a:prstGeom prst="roundRect">
            <a:avLst>
              <a:gd name="adj" fmla="val 2849"/>
            </a:avLst>
          </a:prstGeom>
          <a:solidFill>
            <a:srgbClr val="000000"/>
          </a:solidFill>
          <a:ln w="4524">
            <a:solidFill>
              <a:srgbClr val="000000"/>
            </a:solidFill>
            <a:prstDash val="solid"/>
          </a:ln>
        </p:spPr>
      </p:sp>
      <p:sp>
        <p:nvSpPr>
          <p:cNvPr id="3" name="Shape 1"/>
          <p:cNvSpPr/>
          <p:nvPr/>
        </p:nvSpPr>
        <p:spPr>
          <a:xfrm>
            <a:off x="6310313" y="2962275"/>
            <a:ext cx="2366963" cy="1500188"/>
          </a:xfrm>
          <a:prstGeom prst="rect">
            <a:avLst/>
          </a:prstGeom>
          <a:noFill/>
          <a:ln/>
        </p:spPr>
      </p:sp>
      <p:sp>
        <p:nvSpPr>
          <p:cNvPr id="4" name="Text 2"/>
          <p:cNvSpPr/>
          <p:nvPr/>
        </p:nvSpPr>
        <p:spPr>
          <a:xfrm>
            <a:off x="6310313" y="2962275"/>
            <a:ext cx="1990725"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FEATURE NAME</a:t>
            </a:r>
            <a:endParaRPr lang="en-US" sz="1425" dirty="0"/>
          </a:p>
        </p:txBody>
      </p:sp>
      <p:sp>
        <p:nvSpPr>
          <p:cNvPr id="5" name="Text 3"/>
          <p:cNvSpPr/>
          <p:nvPr/>
        </p:nvSpPr>
        <p:spPr>
          <a:xfrm>
            <a:off x="6310313" y="3362325"/>
            <a:ext cx="2366963" cy="1100138"/>
          </a:xfrm>
          <a:prstGeom prst="rect">
            <a:avLst/>
          </a:prstGeom>
          <a:noFill/>
          <a:ln/>
        </p:spPr>
        <p:txBody>
          <a:bodyPr wrap="square" lIns="0" tIns="0" rIns="0" bIns="0" rtlCol="0" anchor="b"/>
          <a:lstStyle/>
          <a:p>
            <a:pPr algn="l" indent="0" marL="0">
              <a:lnSpc>
                <a:spcPts val="1176"/>
              </a:lnSpc>
              <a:buNone/>
            </a:pPr>
            <a:r>
              <a:rPr lang="en-US" sz="784" spc="-17" kern="0" dirty="0">
                <a:solidFill>
                  <a:srgbClr val="FFFFFF">
                    <a:alpha val="99000"/>
                  </a:srgbClr>
                </a:solidFill>
                <a:latin typeface="Plus Jakarta Sans" pitchFamily="34" charset="0"/>
                <a:ea typeface="Plus Jakarta Sans" pitchFamily="34" charset="-122"/>
                <a:cs typeface="Plus Jakarta Sans" pitchFamily="34" charset="-120"/>
              </a:rPr>
              <a:t>Describe what this feature or concept is all about, so the audience understands what they’re looking at.</a:t>
            </a:r>
            <a:endParaRPr lang="en-US" sz="784" dirty="0"/>
          </a:p>
          <a:p>
            <a:pPr algn="l" indent="0" marL="0">
              <a:lnSpc>
                <a:spcPts val="1176"/>
              </a:lnSpc>
              <a:buNone/>
            </a:pPr>
            <a:r>
              <a:rPr lang="en-US" sz="784" spc="-17" kern="0" dirty="0">
                <a:solidFill>
                  <a:srgbClr val="FFFFFF">
                    <a:alpha val="99000"/>
                  </a:srgbClr>
                </a:solidFill>
                <a:latin typeface="Plus Jakarta Sans" pitchFamily="34" charset="0"/>
                <a:ea typeface="Plus Jakarta Sans" pitchFamily="34" charset="-122"/>
                <a:cs typeface="Plus Jakarta Sans" pitchFamily="34" charset="-120"/>
              </a:rPr>
              <a:t>Add an interactive Figma prototype or a video for the best viewer experience. Otherwise, consider breaking up the flow across multiple slides.</a:t>
            </a:r>
            <a:endParaRPr lang="en-US" sz="784" dirty="0"/>
          </a:p>
        </p:txBody>
      </p:sp>
      <p:sp>
        <p:nvSpPr>
          <p:cNvPr id="6" name="Text 4"/>
          <p:cNvSpPr/>
          <p:nvPr/>
        </p:nvSpPr>
        <p:spPr>
          <a:xfrm>
            <a:off x="6310313" y="557213"/>
            <a:ext cx="2486025"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FFFFFF">
                    <a:alpha val="99000"/>
                  </a:srgbClr>
                </a:solidFill>
                <a:latin typeface="Roboto" pitchFamily="34" charset="0"/>
                <a:ea typeface="Roboto" pitchFamily="34" charset="-122"/>
                <a:cs typeface="Roboto" pitchFamily="34" charset="-120"/>
              </a:rPr>
              <a:t>New feature on mobile</a:t>
            </a:r>
            <a:endParaRPr lang="en-US" sz="2494" dirty="0"/>
          </a:p>
        </p:txBody>
      </p:sp>
      <p:pic>
        <p:nvPicPr>
          <p:cNvPr id="7" name="Image 0" descr="preencoded.png">    </p:cNvPr>
          <p:cNvPicPr>
            <a:picLocks noChangeAspect="1"/>
          </p:cNvPicPr>
          <p:nvPr/>
        </p:nvPicPr>
        <p:blipFill>
          <a:blip r:embed="rId1"/>
          <a:srcRect l="0" r="0" t="0" b="0"/>
          <a:stretch/>
        </p:blipFill>
        <p:spPr>
          <a:xfrm>
            <a:off x="1757363" y="542925"/>
            <a:ext cx="2054225" cy="4216400"/>
          </a:xfrm>
          <a:prstGeom prst="rect">
            <a:avLst/>
          </a:prstGeom>
        </p:spPr>
      </p:pic>
      <p:sp>
        <p:nvSpPr>
          <p:cNvPr id="8" name="Text 5"/>
          <p:cNvSpPr/>
          <p:nvPr/>
        </p:nvSpPr>
        <p:spPr>
          <a:xfrm>
            <a:off x="4248150" y="2324100"/>
            <a:ext cx="833438" cy="3429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FFFFFF">
                    <a:alpha val="99000"/>
                  </a:srgbClr>
                </a:solidFill>
                <a:latin typeface="Plus Jakarta Sans" pitchFamily="34" charset="0"/>
                <a:ea typeface="Plus Jakarta Sans" pitchFamily="34" charset="-122"/>
                <a:cs typeface="Plus Jakarta Sans" pitchFamily="34" charset="-120"/>
              </a:rPr>
              <a:t>EXAMPLE OF CALLOUTS CAN GO HERE</a:t>
            </a:r>
            <a:endParaRPr lang="en-US" sz="784" dirty="0"/>
          </a:p>
        </p:txBody>
      </p:sp>
      <p:sp>
        <p:nvSpPr>
          <p:cNvPr id="9" name="Text 6"/>
          <p:cNvSpPr/>
          <p:nvPr/>
        </p:nvSpPr>
        <p:spPr>
          <a:xfrm>
            <a:off x="461963" y="3362325"/>
            <a:ext cx="833438" cy="4572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FFFFFF">
                    <a:alpha val="99000"/>
                  </a:srgbClr>
                </a:solidFill>
                <a:latin typeface="Plus Jakarta Sans" pitchFamily="34" charset="0"/>
                <a:ea typeface="Plus Jakarta Sans" pitchFamily="34" charset="-122"/>
                <a:cs typeface="Plus Jakarta Sans" pitchFamily="34" charset="-120"/>
              </a:rPr>
              <a:t>EXAMPLE OF CALLOUTS CAN GO HERE TOO</a:t>
            </a:r>
            <a:endParaRPr lang="en-US" sz="784" dirty="0"/>
          </a:p>
        </p:txBody>
      </p:sp>
      <p:sp>
        <p:nvSpPr>
          <p:cNvPr id="10" name="Text 7"/>
          <p:cNvSpPr/>
          <p:nvPr/>
        </p:nvSpPr>
        <p:spPr>
          <a:xfrm>
            <a:off x="685800" y="1757363"/>
            <a:ext cx="833438" cy="4572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FFFFFF">
                    <a:alpha val="99000"/>
                  </a:srgbClr>
                </a:solidFill>
                <a:latin typeface="Plus Jakarta Sans" pitchFamily="34" charset="0"/>
                <a:ea typeface="Plus Jakarta Sans" pitchFamily="34" charset="-122"/>
                <a:cs typeface="Plus Jakarta Sans" pitchFamily="34" charset="-120"/>
              </a:rPr>
              <a:t>EXAMPLE OF CALLOUTS CAN GO HERE TOO</a:t>
            </a:r>
            <a:endParaRPr lang="en-US" sz="784" dirty="0"/>
          </a:p>
        </p:txBody>
      </p:sp>
      <p:pic>
        <p:nvPicPr>
          <p:cNvPr id="11" name="Image 1" descr="preencoded.png">    </p:cNvPr>
          <p:cNvPicPr>
            <a:picLocks noChangeAspect="1"/>
          </p:cNvPicPr>
          <p:nvPr/>
        </p:nvPicPr>
        <p:blipFill>
          <a:blip r:embed="rId2"/>
          <a:srcRect l="0" r="0" t="0" b="0"/>
          <a:stretch/>
        </p:blipFill>
        <p:spPr>
          <a:xfrm>
            <a:off x="3633788" y="2386013"/>
            <a:ext cx="577844" cy="50799"/>
          </a:xfrm>
          <a:prstGeom prst="rect">
            <a:avLst/>
          </a:prstGeom>
        </p:spPr>
      </p:pic>
      <p:pic>
        <p:nvPicPr>
          <p:cNvPr id="12" name="Image 2" descr="preencoded.png">    </p:cNvPr>
          <p:cNvPicPr>
            <a:picLocks noChangeAspect="1"/>
          </p:cNvPicPr>
          <p:nvPr/>
        </p:nvPicPr>
        <p:blipFill>
          <a:blip r:embed="rId3"/>
          <a:srcRect l="0" r="0" t="0" b="0"/>
          <a:stretch/>
        </p:blipFill>
        <p:spPr>
          <a:xfrm>
            <a:off x="1343025" y="3424238"/>
            <a:ext cx="1258881" cy="50799"/>
          </a:xfrm>
          <a:prstGeom prst="rect">
            <a:avLst/>
          </a:prstGeom>
        </p:spPr>
      </p:pic>
      <p:pic>
        <p:nvPicPr>
          <p:cNvPr id="13" name="Image 3" descr="preencoded.png">    </p:cNvPr>
          <p:cNvPicPr>
            <a:picLocks noChangeAspect="1"/>
          </p:cNvPicPr>
          <p:nvPr/>
        </p:nvPicPr>
        <p:blipFill>
          <a:blip r:embed="rId4"/>
          <a:srcRect l="0" r="0" t="0" b="0"/>
          <a:stretch/>
        </p:blipFill>
        <p:spPr>
          <a:xfrm>
            <a:off x="1547813" y="1819275"/>
            <a:ext cx="801681" cy="508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90488" y="238125"/>
            <a:ext cx="8963025" cy="481488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90488" y="238125"/>
            <a:ext cx="8963025" cy="4814888"/>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190500" y="390525"/>
            <a:ext cx="2852738" cy="4510088"/>
          </a:xfrm>
          <a:prstGeom prst="rect">
            <a:avLst/>
          </a:prstGeom>
        </p:spPr>
      </p:pic>
      <p:pic>
        <p:nvPicPr>
          <p:cNvPr id="3" name="Image 1" descr="preencoded.png">    </p:cNvPr>
          <p:cNvPicPr>
            <a:picLocks noChangeAspect="1"/>
          </p:cNvPicPr>
          <p:nvPr/>
        </p:nvPicPr>
        <p:blipFill>
          <a:blip r:embed="rId2"/>
          <a:srcRect l="0" r="0" t="0" b="0"/>
          <a:stretch/>
        </p:blipFill>
        <p:spPr>
          <a:xfrm>
            <a:off x="3143250" y="390525"/>
            <a:ext cx="2857500" cy="4510088"/>
          </a:xfrm>
          <a:prstGeom prst="rect">
            <a:avLst/>
          </a:prstGeom>
        </p:spPr>
      </p:pic>
      <p:pic>
        <p:nvPicPr>
          <p:cNvPr id="4" name="Image 2" descr="preencoded.png">    </p:cNvPr>
          <p:cNvPicPr>
            <a:picLocks noChangeAspect="1"/>
          </p:cNvPicPr>
          <p:nvPr/>
        </p:nvPicPr>
        <p:blipFill>
          <a:blip r:embed="rId3"/>
          <a:srcRect l="0" r="0" t="0" b="0"/>
          <a:stretch/>
        </p:blipFill>
        <p:spPr>
          <a:xfrm>
            <a:off x="6100763" y="390525"/>
            <a:ext cx="2852738" cy="451008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190500" y="390525"/>
            <a:ext cx="2852738" cy="4510088"/>
          </a:xfrm>
          <a:prstGeom prst="rect">
            <a:avLst/>
          </a:prstGeom>
        </p:spPr>
      </p:pic>
      <p:pic>
        <p:nvPicPr>
          <p:cNvPr id="3" name="Image 1" descr="preencoded.png">    </p:cNvPr>
          <p:cNvPicPr>
            <a:picLocks noChangeAspect="1"/>
          </p:cNvPicPr>
          <p:nvPr/>
        </p:nvPicPr>
        <p:blipFill>
          <a:blip r:embed="rId2"/>
          <a:srcRect l="0" r="0" t="0" b="0"/>
          <a:stretch/>
        </p:blipFill>
        <p:spPr>
          <a:xfrm>
            <a:off x="3143250" y="390525"/>
            <a:ext cx="2857500" cy="4510088"/>
          </a:xfrm>
          <a:prstGeom prst="rect">
            <a:avLst/>
          </a:prstGeom>
        </p:spPr>
      </p:pic>
      <p:pic>
        <p:nvPicPr>
          <p:cNvPr id="4" name="Image 2" descr="preencoded.png">    </p:cNvPr>
          <p:cNvPicPr>
            <a:picLocks noChangeAspect="1"/>
          </p:cNvPicPr>
          <p:nvPr/>
        </p:nvPicPr>
        <p:blipFill>
          <a:blip r:embed="rId3"/>
          <a:srcRect l="0" r="0" t="0" b="0"/>
          <a:stretch/>
        </p:blipFill>
        <p:spPr>
          <a:xfrm>
            <a:off x="6100763" y="390525"/>
            <a:ext cx="2852738" cy="4510088"/>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FFFFFF"/>
          </a:solidFill>
          <a:ln/>
        </p:spPr>
      </p:sp>
      <p:sp>
        <p:nvSpPr>
          <p:cNvPr id="4" name="Text 1"/>
          <p:cNvSpPr/>
          <p:nvPr/>
        </p:nvSpPr>
        <p:spPr>
          <a:xfrm>
            <a:off x="3957638" y="1385888"/>
            <a:ext cx="4886325" cy="3667125"/>
          </a:xfrm>
          <a:prstGeom prst="rect">
            <a:avLst/>
          </a:prstGeom>
          <a:noFill/>
          <a:ln/>
        </p:spPr>
        <p:txBody>
          <a:bodyPr wrap="square" lIns="0" tIns="0" rIns="0" bIns="0" rtlCol="0" anchor="t"/>
          <a:lstStyle/>
          <a:p>
            <a:pPr algn="r" indent="0" marL="0">
              <a:lnSpc>
                <a:spcPts val="27431"/>
              </a:lnSpc>
              <a:buNone/>
            </a:pPr>
            <a:r>
              <a:rPr lang="en-US" sz="24938" spc="-1247" kern="0" dirty="0">
                <a:solidFill>
                  <a:srgbClr val="000000"/>
                </a:solidFill>
                <a:latin typeface="IBM Plex Sans" pitchFamily="34" charset="0"/>
                <a:ea typeface="IBM Plex Sans" pitchFamily="34" charset="-122"/>
                <a:cs typeface="IBM Plex Sans" pitchFamily="34" charset="-120"/>
              </a:rPr>
              <a:t>05</a:t>
            </a:r>
            <a:endParaRPr lang="en-US" sz="24938" dirty="0"/>
          </a:p>
        </p:txBody>
      </p:sp>
      <p:sp>
        <p:nvSpPr>
          <p:cNvPr id="5" name="Text 2"/>
          <p:cNvSpPr/>
          <p:nvPr/>
        </p:nvSpPr>
        <p:spPr>
          <a:xfrm>
            <a:off x="647700" y="1047750"/>
            <a:ext cx="4629150" cy="1571625"/>
          </a:xfrm>
          <a:prstGeom prst="rect">
            <a:avLst/>
          </a:prstGeom>
          <a:noFill/>
          <a:ln/>
        </p:spPr>
        <p:txBody>
          <a:bodyPr wrap="square" lIns="0" tIns="0" rIns="0" bIns="0" rtlCol="0" anchor="t"/>
          <a:lstStyle/>
          <a:p>
            <a:pPr algn="l" indent="0" marL="0">
              <a:lnSpc>
                <a:spcPts val="5878"/>
              </a:lnSpc>
              <a:buNone/>
            </a:pPr>
            <a:r>
              <a:rPr lang="en-US" sz="5344" b="1" dirty="0">
                <a:solidFill>
                  <a:srgbClr val="000000">
                    <a:alpha val="99000"/>
                  </a:srgbClr>
                </a:solidFill>
                <a:latin typeface="IBM Plex Sans" pitchFamily="34" charset="0"/>
                <a:ea typeface="IBM Plex Sans" pitchFamily="34" charset="-122"/>
                <a:cs typeface="IBM Plex Sans" pitchFamily="34" charset="-120"/>
              </a:rPr>
              <a:t>Next</a:t>
            </a:r>
            <a:endParaRPr lang="en-US" sz="5344" dirty="0"/>
          </a:p>
          <a:p>
            <a:pPr algn="l" indent="0" marL="0">
              <a:lnSpc>
                <a:spcPts val="5878"/>
              </a:lnSpc>
              <a:buNone/>
            </a:pPr>
            <a:r>
              <a:rPr lang="en-US" sz="5344" b="1" dirty="0">
                <a:solidFill>
                  <a:srgbClr val="000000">
                    <a:alpha val="99000"/>
                  </a:srgbClr>
                </a:solidFill>
                <a:latin typeface="IBM Plex Sans" pitchFamily="34" charset="0"/>
                <a:ea typeface="IBM Plex Sans" pitchFamily="34" charset="-122"/>
                <a:cs typeface="IBM Plex Sans" pitchFamily="34" charset="-120"/>
              </a:rPr>
              <a:t>Steps</a:t>
            </a:r>
            <a:endParaRPr lang="en-US" sz="5344"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000000"/>
          </a:solidFill>
          <a:ln/>
        </p:spPr>
      </p:sp>
      <p:sp>
        <p:nvSpPr>
          <p:cNvPr id="3" name="Text 1"/>
          <p:cNvSpPr/>
          <p:nvPr/>
        </p:nvSpPr>
        <p:spPr>
          <a:xfrm>
            <a:off x="3957638" y="1385888"/>
            <a:ext cx="4886325" cy="3667125"/>
          </a:xfrm>
          <a:prstGeom prst="rect">
            <a:avLst/>
          </a:prstGeom>
          <a:noFill/>
          <a:ln/>
        </p:spPr>
        <p:txBody>
          <a:bodyPr wrap="square" lIns="0" tIns="0" rIns="0" bIns="0" rtlCol="0" anchor="t"/>
          <a:lstStyle/>
          <a:p>
            <a:pPr algn="r" indent="0" marL="0">
              <a:lnSpc>
                <a:spcPts val="27431"/>
              </a:lnSpc>
              <a:buNone/>
            </a:pPr>
            <a:r>
              <a:rPr lang="en-US" sz="24938" spc="-1247" kern="0" dirty="0">
                <a:solidFill>
                  <a:srgbClr val="000000"/>
                </a:solidFill>
                <a:latin typeface="IBM Plex Sans" pitchFamily="34" charset="0"/>
                <a:ea typeface="IBM Plex Sans" pitchFamily="34" charset="-122"/>
                <a:cs typeface="IBM Plex Sans" pitchFamily="34" charset="-120"/>
              </a:rPr>
              <a:t>05</a:t>
            </a:r>
            <a:endParaRPr lang="en-US" sz="24938" dirty="0"/>
          </a:p>
        </p:txBody>
      </p:sp>
      <p:sp>
        <p:nvSpPr>
          <p:cNvPr id="4" name="Text 2"/>
          <p:cNvSpPr/>
          <p:nvPr/>
        </p:nvSpPr>
        <p:spPr>
          <a:xfrm>
            <a:off x="623888" y="1047750"/>
            <a:ext cx="4086225" cy="1571625"/>
          </a:xfrm>
          <a:prstGeom prst="rect">
            <a:avLst/>
          </a:prstGeom>
          <a:noFill/>
          <a:ln/>
        </p:spPr>
        <p:txBody>
          <a:bodyPr wrap="square" lIns="0" tIns="0" rIns="0" bIns="0" rtlCol="0" anchor="t"/>
          <a:lstStyle/>
          <a:p>
            <a:pPr algn="l" indent="0" marL="0">
              <a:lnSpc>
                <a:spcPts val="5878"/>
              </a:lnSpc>
              <a:buNone/>
            </a:pPr>
            <a:r>
              <a:rPr lang="en-US" sz="5344" b="1" dirty="0">
                <a:solidFill>
                  <a:srgbClr val="FFFFFF">
                    <a:alpha val="99000"/>
                  </a:srgbClr>
                </a:solidFill>
                <a:latin typeface="IBM Plex Sans" pitchFamily="34" charset="0"/>
                <a:ea typeface="IBM Plex Sans" pitchFamily="34" charset="-122"/>
                <a:cs typeface="IBM Plex Sans" pitchFamily="34" charset="-120"/>
              </a:rPr>
              <a:t>Next</a:t>
            </a:r>
            <a:endParaRPr lang="en-US" sz="5344" dirty="0"/>
          </a:p>
          <a:p>
            <a:pPr algn="l" indent="0" marL="0">
              <a:lnSpc>
                <a:spcPts val="5878"/>
              </a:lnSpc>
              <a:buNone/>
            </a:pPr>
            <a:r>
              <a:rPr lang="en-US" sz="5344" b="1" dirty="0">
                <a:solidFill>
                  <a:srgbClr val="FFFFFF">
                    <a:alpha val="99000"/>
                  </a:srgbClr>
                </a:solidFill>
                <a:latin typeface="IBM Plex Sans" pitchFamily="34" charset="0"/>
                <a:ea typeface="IBM Plex Sans" pitchFamily="34" charset="-122"/>
                <a:cs typeface="IBM Plex Sans" pitchFamily="34" charset="-120"/>
              </a:rPr>
              <a:t>Steps</a:t>
            </a:r>
            <a:endParaRPr lang="en-US" sz="5344"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771900" y="2395538"/>
            <a:ext cx="1600200" cy="2247900"/>
          </a:xfrm>
          <a:prstGeom prst="rect">
            <a:avLst/>
          </a:prstGeom>
          <a:noFill/>
          <a:ln/>
        </p:spPr>
      </p:sp>
      <p:pic>
        <p:nvPicPr>
          <p:cNvPr id="3" name="Image 0" descr="preencoded.png">    </p:cNvPr>
          <p:cNvPicPr>
            <a:picLocks noChangeAspect="1"/>
          </p:cNvPicPr>
          <p:nvPr/>
        </p:nvPicPr>
        <p:blipFill>
          <a:blip r:embed="rId1"/>
          <a:srcRect l="0" r="0" t="0" b="0"/>
          <a:stretch/>
        </p:blipFill>
        <p:spPr>
          <a:xfrm>
            <a:off x="3771900" y="2395538"/>
            <a:ext cx="9525" cy="276225"/>
          </a:xfrm>
          <a:prstGeom prst="rect">
            <a:avLst/>
          </a:prstGeom>
        </p:spPr>
      </p:pic>
      <p:sp>
        <p:nvSpPr>
          <p:cNvPr id="4" name="Text 1"/>
          <p:cNvSpPr/>
          <p:nvPr/>
        </p:nvSpPr>
        <p:spPr>
          <a:xfrm>
            <a:off x="3771900" y="2719388"/>
            <a:ext cx="1600200" cy="190500"/>
          </a:xfrm>
          <a:prstGeom prst="rect">
            <a:avLst/>
          </a:prstGeom>
          <a:noFill/>
          <a:ln/>
        </p:spPr>
        <p:txBody>
          <a:bodyPr wrap="square" lIns="0" tIns="0" rIns="0" bIns="0" rtlCol="0" anchor="t"/>
          <a:lstStyle/>
          <a:p>
            <a:pPr algn="l" indent="0" marL="0">
              <a:lnSpc>
                <a:spcPts val="1425"/>
              </a:lnSpc>
              <a:buNone/>
            </a:pPr>
            <a:r>
              <a:rPr lang="en-US" sz="1033" dirty="0">
                <a:solidFill>
                  <a:srgbClr val="000000">
                    <a:alpha val="99000"/>
                  </a:srgbClr>
                </a:solidFill>
                <a:latin typeface="Roboto" pitchFamily="34" charset="0"/>
                <a:ea typeface="Roboto" pitchFamily="34" charset="-122"/>
                <a:cs typeface="Roboto" pitchFamily="34" charset="-120"/>
              </a:rPr>
              <a:t>02 ·Title</a:t>
            </a:r>
            <a:endParaRPr lang="en-US" sz="1033" dirty="0"/>
          </a:p>
        </p:txBody>
      </p:sp>
      <p:sp>
        <p:nvSpPr>
          <p:cNvPr id="5" name="Text 2"/>
          <p:cNvSpPr/>
          <p:nvPr/>
        </p:nvSpPr>
        <p:spPr>
          <a:xfrm>
            <a:off x="3771900" y="2967038"/>
            <a:ext cx="1600200" cy="1676400"/>
          </a:xfrm>
          <a:prstGeom prst="rect">
            <a:avLst/>
          </a:prstGeom>
          <a:noFill/>
          <a:ln/>
        </p:spPr>
        <p:txBody>
          <a:bodyPr wrap="square" lIns="0" tIns="0" rIns="0" bIns="0" rtlCol="0" anchor="t"/>
          <a:lstStyle/>
          <a:p>
            <a:pPr algn="l" indent="0" marL="0">
              <a:lnSpc>
                <a:spcPts val="1146"/>
              </a:lnSpc>
              <a:buNone/>
            </a:pPr>
            <a:r>
              <a:rPr lang="en-US" sz="855" spc="-4" kern="0" dirty="0">
                <a:solidFill>
                  <a:srgbClr val="000000">
                    <a:alpha val="99000"/>
                  </a:srgbClr>
                </a:solidFill>
                <a:latin typeface="Roboto" pitchFamily="34" charset="0"/>
                <a:ea typeface="Roboto" pitchFamily="34" charset="-122"/>
                <a:cs typeface="Roboto" pitchFamily="34" charset="-120"/>
              </a:rPr>
              <a:t>Lorem Ipsum is simply dummy text of the printing and typesetting industry. Lorem Ipsum has been the industry's standard dummy text ever since the 1500s, when an unknown printer took a galley of type and scrambled it to make a type specimen </a:t>
            </a:r>
            <a:endParaRPr lang="en-US" sz="855" dirty="0"/>
          </a:p>
        </p:txBody>
      </p:sp>
      <p:sp>
        <p:nvSpPr>
          <p:cNvPr id="6" name="Shape 3"/>
          <p:cNvSpPr/>
          <p:nvPr/>
        </p:nvSpPr>
        <p:spPr>
          <a:xfrm>
            <a:off x="6934200" y="2395538"/>
            <a:ext cx="1600200" cy="2095500"/>
          </a:xfrm>
          <a:prstGeom prst="rect">
            <a:avLst/>
          </a:prstGeom>
          <a:noFill/>
          <a:ln/>
        </p:spPr>
      </p:sp>
      <p:pic>
        <p:nvPicPr>
          <p:cNvPr id="7" name="Image 1" descr="preencoded.png">    </p:cNvPr>
          <p:cNvPicPr>
            <a:picLocks noChangeAspect="1"/>
          </p:cNvPicPr>
          <p:nvPr/>
        </p:nvPicPr>
        <p:blipFill>
          <a:blip r:embed="rId2"/>
          <a:srcRect l="0" r="0" t="0" b="0"/>
          <a:stretch/>
        </p:blipFill>
        <p:spPr>
          <a:xfrm>
            <a:off x="6934200" y="2395538"/>
            <a:ext cx="9525" cy="276225"/>
          </a:xfrm>
          <a:prstGeom prst="rect">
            <a:avLst/>
          </a:prstGeom>
        </p:spPr>
      </p:pic>
      <p:sp>
        <p:nvSpPr>
          <p:cNvPr id="8" name="Text 4"/>
          <p:cNvSpPr/>
          <p:nvPr/>
        </p:nvSpPr>
        <p:spPr>
          <a:xfrm>
            <a:off x="6934200" y="2719388"/>
            <a:ext cx="1600200" cy="190500"/>
          </a:xfrm>
          <a:prstGeom prst="rect">
            <a:avLst/>
          </a:prstGeom>
          <a:noFill/>
          <a:ln/>
        </p:spPr>
        <p:txBody>
          <a:bodyPr wrap="square" lIns="0" tIns="0" rIns="0" bIns="0" rtlCol="0" anchor="t"/>
          <a:lstStyle/>
          <a:p>
            <a:pPr algn="l" indent="0" marL="0">
              <a:lnSpc>
                <a:spcPts val="1425"/>
              </a:lnSpc>
              <a:buNone/>
            </a:pPr>
            <a:r>
              <a:rPr lang="en-US" sz="1033" dirty="0">
                <a:solidFill>
                  <a:srgbClr val="000000">
                    <a:alpha val="99000"/>
                  </a:srgbClr>
                </a:solidFill>
                <a:latin typeface="Roboto" pitchFamily="34" charset="0"/>
                <a:ea typeface="Roboto" pitchFamily="34" charset="-122"/>
                <a:cs typeface="Roboto" pitchFamily="34" charset="-120"/>
              </a:rPr>
              <a:t>03 · Title</a:t>
            </a:r>
            <a:endParaRPr lang="en-US" sz="1033" dirty="0"/>
          </a:p>
        </p:txBody>
      </p:sp>
      <p:sp>
        <p:nvSpPr>
          <p:cNvPr id="9" name="Text 5"/>
          <p:cNvSpPr/>
          <p:nvPr/>
        </p:nvSpPr>
        <p:spPr>
          <a:xfrm>
            <a:off x="6934200" y="2967038"/>
            <a:ext cx="1600200" cy="1524000"/>
          </a:xfrm>
          <a:prstGeom prst="rect">
            <a:avLst/>
          </a:prstGeom>
          <a:noFill/>
          <a:ln/>
        </p:spPr>
        <p:txBody>
          <a:bodyPr wrap="square" lIns="0" tIns="0" rIns="0" bIns="0" rtlCol="0" anchor="t"/>
          <a:lstStyle/>
          <a:p>
            <a:pPr algn="l" indent="0" marL="0">
              <a:lnSpc>
                <a:spcPts val="1146"/>
              </a:lnSpc>
              <a:buNone/>
            </a:pPr>
            <a:r>
              <a:rPr lang="en-US" sz="855" spc="-4" kern="0" dirty="0">
                <a:solidFill>
                  <a:srgbClr val="000000">
                    <a:alpha val="99000"/>
                  </a:srgbClr>
                </a:solidFill>
                <a:latin typeface="Roboto" pitchFamily="34" charset="0"/>
                <a:ea typeface="Roboto" pitchFamily="34" charset="-122"/>
                <a:cs typeface="Roboto" pitchFamily="34" charset="-120"/>
              </a:rPr>
              <a:t>Lorem Ipsum is simply dummy text of the printing and typesetting industry. Lorem Ipsum has been the industry's standard dummy text ever since the 1500s, when an unknown printer took a galley of type and scrambled it to make a type specimen </a:t>
            </a:r>
            <a:endParaRPr lang="en-US" sz="855" dirty="0"/>
          </a:p>
        </p:txBody>
      </p:sp>
      <p:sp>
        <p:nvSpPr>
          <p:cNvPr id="10" name="Shape 6"/>
          <p:cNvSpPr/>
          <p:nvPr/>
        </p:nvSpPr>
        <p:spPr>
          <a:xfrm>
            <a:off x="609600" y="2395538"/>
            <a:ext cx="1600200" cy="2095500"/>
          </a:xfrm>
          <a:prstGeom prst="rect">
            <a:avLst/>
          </a:prstGeom>
          <a:noFill/>
          <a:ln/>
        </p:spPr>
      </p:sp>
      <p:pic>
        <p:nvPicPr>
          <p:cNvPr id="11" name="Image 2" descr="preencoded.png">    </p:cNvPr>
          <p:cNvPicPr>
            <a:picLocks noChangeAspect="1"/>
          </p:cNvPicPr>
          <p:nvPr/>
        </p:nvPicPr>
        <p:blipFill>
          <a:blip r:embed="rId3"/>
          <a:srcRect l="0" r="0" t="0" b="0"/>
          <a:stretch/>
        </p:blipFill>
        <p:spPr>
          <a:xfrm>
            <a:off x="609600" y="2395538"/>
            <a:ext cx="9525" cy="276225"/>
          </a:xfrm>
          <a:prstGeom prst="rect">
            <a:avLst/>
          </a:prstGeom>
        </p:spPr>
      </p:pic>
      <p:sp>
        <p:nvSpPr>
          <p:cNvPr id="12" name="Text 7"/>
          <p:cNvSpPr/>
          <p:nvPr/>
        </p:nvSpPr>
        <p:spPr>
          <a:xfrm>
            <a:off x="609600" y="2719388"/>
            <a:ext cx="1600200" cy="190500"/>
          </a:xfrm>
          <a:prstGeom prst="rect">
            <a:avLst/>
          </a:prstGeom>
          <a:noFill/>
          <a:ln/>
        </p:spPr>
        <p:txBody>
          <a:bodyPr wrap="square" lIns="0" tIns="0" rIns="0" bIns="0" rtlCol="0" anchor="t"/>
          <a:lstStyle/>
          <a:p>
            <a:pPr algn="l" indent="0" marL="0">
              <a:lnSpc>
                <a:spcPts val="1425"/>
              </a:lnSpc>
              <a:buNone/>
            </a:pPr>
            <a:r>
              <a:rPr lang="en-US" sz="1033" dirty="0">
                <a:solidFill>
                  <a:srgbClr val="000000">
                    <a:alpha val="99000"/>
                  </a:srgbClr>
                </a:solidFill>
                <a:latin typeface="Roboto" pitchFamily="34" charset="0"/>
                <a:ea typeface="Roboto" pitchFamily="34" charset="-122"/>
                <a:cs typeface="Roboto" pitchFamily="34" charset="-120"/>
              </a:rPr>
              <a:t>01 · Title</a:t>
            </a:r>
            <a:endParaRPr lang="en-US" sz="1033" dirty="0"/>
          </a:p>
        </p:txBody>
      </p:sp>
      <p:sp>
        <p:nvSpPr>
          <p:cNvPr id="13" name="Text 8"/>
          <p:cNvSpPr/>
          <p:nvPr/>
        </p:nvSpPr>
        <p:spPr>
          <a:xfrm>
            <a:off x="609600" y="2967038"/>
            <a:ext cx="1600200" cy="1524000"/>
          </a:xfrm>
          <a:prstGeom prst="rect">
            <a:avLst/>
          </a:prstGeom>
          <a:noFill/>
          <a:ln/>
        </p:spPr>
        <p:txBody>
          <a:bodyPr wrap="square" lIns="0" tIns="0" rIns="0" bIns="0" rtlCol="0" anchor="t"/>
          <a:lstStyle/>
          <a:p>
            <a:pPr algn="l" indent="0" marL="0">
              <a:lnSpc>
                <a:spcPts val="1146"/>
              </a:lnSpc>
              <a:buNone/>
            </a:pPr>
            <a:r>
              <a:rPr lang="en-US" sz="855" spc="-4" kern="0" dirty="0">
                <a:solidFill>
                  <a:srgbClr val="000000">
                    <a:alpha val="99000"/>
                  </a:srgbClr>
                </a:solidFill>
                <a:latin typeface="Roboto" pitchFamily="34" charset="0"/>
                <a:ea typeface="Roboto" pitchFamily="34" charset="-122"/>
                <a:cs typeface="Roboto" pitchFamily="34" charset="-120"/>
              </a:rPr>
              <a:t>Lorem Ipsum is simply dummy text of the printing and typesetting industry. Lorem Ipsum has been the industry's standard dummy text ever since the 1500s, when an unknown printer took a galley of type and scrambled it to make a type specimen </a:t>
            </a:r>
            <a:endParaRPr lang="en-US" sz="855" dirty="0"/>
          </a:p>
        </p:txBody>
      </p:sp>
      <p:sp>
        <p:nvSpPr>
          <p:cNvPr id="14" name="Text 9"/>
          <p:cNvSpPr/>
          <p:nvPr/>
        </p:nvSpPr>
        <p:spPr>
          <a:xfrm>
            <a:off x="609600" y="3786188"/>
            <a:ext cx="1600200" cy="304800"/>
          </a:xfrm>
          <a:prstGeom prst="rect">
            <a:avLst/>
          </a:prstGeom>
          <a:noFill/>
          <a:ln/>
        </p:spPr>
        <p:txBody>
          <a:bodyPr wrap="square" lIns="0" tIns="0" rIns="0" bIns="0" rtlCol="0" anchor="t"/>
          <a:lstStyle/>
          <a:p>
            <a:pPr indent="0" marL="0">
              <a:buNone/>
            </a:pPr>
            <a:endParaRPr lang="en-US" dirty="0"/>
          </a:p>
        </p:txBody>
      </p:sp>
      <p:pic>
        <p:nvPicPr>
          <p:cNvPr id="15" name="Image 3" descr="preencoded.png">    </p:cNvPr>
          <p:cNvPicPr>
            <a:picLocks noChangeAspect="1"/>
          </p:cNvPicPr>
          <p:nvPr/>
        </p:nvPicPr>
        <p:blipFill>
          <a:blip r:embed="rId4"/>
          <a:srcRect l="0" r="0" t="0" b="0"/>
          <a:stretch/>
        </p:blipFill>
        <p:spPr>
          <a:xfrm>
            <a:off x="614363" y="2395537"/>
            <a:ext cx="7939087" cy="19050"/>
          </a:xfrm>
          <a:prstGeom prst="rect">
            <a:avLst/>
          </a:prstGeom>
        </p:spPr>
      </p:pic>
      <p:sp>
        <p:nvSpPr>
          <p:cNvPr id="16" name="Shape 10"/>
          <p:cNvSpPr/>
          <p:nvPr/>
        </p:nvSpPr>
        <p:spPr>
          <a:xfrm>
            <a:off x="547688" y="383381"/>
            <a:ext cx="2486025" cy="738188"/>
          </a:xfrm>
          <a:prstGeom prst="rect">
            <a:avLst/>
          </a:prstGeom>
          <a:noFill/>
          <a:ln/>
        </p:spPr>
      </p:sp>
      <p:sp>
        <p:nvSpPr>
          <p:cNvPr id="17" name="Text 11"/>
          <p:cNvSpPr/>
          <p:nvPr/>
        </p:nvSpPr>
        <p:spPr>
          <a:xfrm>
            <a:off x="547688" y="383381"/>
            <a:ext cx="2486025" cy="366713"/>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solidFill>
                <a:latin typeface="Roboto" pitchFamily="34" charset="0"/>
                <a:ea typeface="Roboto" pitchFamily="34" charset="-122"/>
                <a:cs typeface="Roboto" pitchFamily="34" charset="-120"/>
              </a:rPr>
              <a:t>Improvement</a:t>
            </a:r>
            <a:endParaRPr lang="en-US" sz="2494" dirty="0"/>
          </a:p>
        </p:txBody>
      </p:sp>
      <p:sp>
        <p:nvSpPr>
          <p:cNvPr id="18" name="Text 12"/>
          <p:cNvSpPr/>
          <p:nvPr/>
        </p:nvSpPr>
        <p:spPr>
          <a:xfrm>
            <a:off x="547688" y="864394"/>
            <a:ext cx="8072438" cy="257175"/>
          </a:xfrm>
          <a:prstGeom prst="rect">
            <a:avLst/>
          </a:prstGeom>
          <a:noFill/>
          <a:ln/>
        </p:spPr>
        <p:txBody>
          <a:bodyPr wrap="square" lIns="0" tIns="0" rIns="0" bIns="0" rtlCol="0" anchor="t"/>
          <a:lstStyle/>
          <a:p>
            <a:pPr algn="l" indent="0" marL="0">
              <a:lnSpc>
                <a:spcPts val="1924"/>
              </a:lnSpc>
              <a:buNone/>
            </a:pPr>
            <a:r>
              <a:rPr lang="en-US" sz="1283" spc="-28" kern="0" dirty="0">
                <a:solidFill>
                  <a:srgbClr val="000000">
                    <a:alpha val="99000"/>
                  </a:srgbClr>
                </a:solidFill>
                <a:latin typeface="Roboto" pitchFamily="34" charset="0"/>
                <a:ea typeface="Roboto" pitchFamily="34" charset="-122"/>
                <a:cs typeface="Roboto" pitchFamily="34" charset="-120"/>
              </a:rPr>
              <a:t>Add description </a:t>
            </a:r>
            <a:endParaRPr lang="en-US" sz="1283"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771900" y="2395538"/>
            <a:ext cx="1600200" cy="2247900"/>
          </a:xfrm>
          <a:prstGeom prst="rect">
            <a:avLst/>
          </a:prstGeom>
          <a:noFill/>
          <a:ln/>
        </p:spPr>
      </p:sp>
      <p:pic>
        <p:nvPicPr>
          <p:cNvPr id="3" name="Image 0" descr="preencoded.png">    </p:cNvPr>
          <p:cNvPicPr>
            <a:picLocks noChangeAspect="1"/>
          </p:cNvPicPr>
          <p:nvPr/>
        </p:nvPicPr>
        <p:blipFill>
          <a:blip r:embed="rId1"/>
          <a:srcRect l="0" r="0" t="0" b="0"/>
          <a:stretch/>
        </p:blipFill>
        <p:spPr>
          <a:xfrm>
            <a:off x="3771900" y="2395538"/>
            <a:ext cx="9525" cy="276225"/>
          </a:xfrm>
          <a:prstGeom prst="rect">
            <a:avLst/>
          </a:prstGeom>
        </p:spPr>
      </p:pic>
      <p:sp>
        <p:nvSpPr>
          <p:cNvPr id="4" name="Text 1"/>
          <p:cNvSpPr/>
          <p:nvPr/>
        </p:nvSpPr>
        <p:spPr>
          <a:xfrm>
            <a:off x="3771900" y="2719388"/>
            <a:ext cx="1600200" cy="190500"/>
          </a:xfrm>
          <a:prstGeom prst="rect">
            <a:avLst/>
          </a:prstGeom>
          <a:noFill/>
          <a:ln/>
        </p:spPr>
        <p:txBody>
          <a:bodyPr wrap="square" lIns="0" tIns="0" rIns="0" bIns="0" rtlCol="0" anchor="t"/>
          <a:lstStyle/>
          <a:p>
            <a:pPr algn="l" indent="0" marL="0">
              <a:lnSpc>
                <a:spcPts val="1425"/>
              </a:lnSpc>
              <a:buNone/>
            </a:pPr>
            <a:r>
              <a:rPr lang="en-US" sz="1033" dirty="0">
                <a:solidFill>
                  <a:srgbClr val="FFFFFF">
                    <a:alpha val="99000"/>
                  </a:srgbClr>
                </a:solidFill>
                <a:latin typeface="Roboto" pitchFamily="34" charset="0"/>
                <a:ea typeface="Roboto" pitchFamily="34" charset="-122"/>
                <a:cs typeface="Roboto" pitchFamily="34" charset="-120"/>
              </a:rPr>
              <a:t>02 ·Title</a:t>
            </a:r>
            <a:endParaRPr lang="en-US" sz="1033" dirty="0"/>
          </a:p>
        </p:txBody>
      </p:sp>
      <p:sp>
        <p:nvSpPr>
          <p:cNvPr id="5" name="Text 2"/>
          <p:cNvSpPr/>
          <p:nvPr/>
        </p:nvSpPr>
        <p:spPr>
          <a:xfrm>
            <a:off x="3771900" y="2967038"/>
            <a:ext cx="1600200" cy="1676400"/>
          </a:xfrm>
          <a:prstGeom prst="rect">
            <a:avLst/>
          </a:prstGeom>
          <a:noFill/>
          <a:ln/>
        </p:spPr>
        <p:txBody>
          <a:bodyPr wrap="square" lIns="0" tIns="0" rIns="0" bIns="0" rtlCol="0" anchor="t"/>
          <a:lstStyle/>
          <a:p>
            <a:pPr algn="l" indent="0" marL="0">
              <a:lnSpc>
                <a:spcPts val="1146"/>
              </a:lnSpc>
              <a:buNone/>
            </a:pPr>
            <a:r>
              <a:rPr lang="en-US" sz="855" spc="-4" kern="0" dirty="0">
                <a:solidFill>
                  <a:srgbClr val="FFFFFF">
                    <a:alpha val="99000"/>
                  </a:srgbClr>
                </a:solidFill>
                <a:latin typeface="Roboto" pitchFamily="34" charset="0"/>
                <a:ea typeface="Roboto" pitchFamily="34" charset="-122"/>
                <a:cs typeface="Roboto" pitchFamily="34" charset="-120"/>
              </a:rPr>
              <a:t>Lorem Ipsum is simply dummy text of the printing and typesetting industry. Lorem Ipsum has been the industry's standard dummy text ever since the 1500s, when an unknown printer took a galley of type and scrambled it to make a type specimen </a:t>
            </a:r>
            <a:endParaRPr lang="en-US" sz="855" dirty="0"/>
          </a:p>
        </p:txBody>
      </p:sp>
      <p:sp>
        <p:nvSpPr>
          <p:cNvPr id="6" name="Shape 3"/>
          <p:cNvSpPr/>
          <p:nvPr/>
        </p:nvSpPr>
        <p:spPr>
          <a:xfrm>
            <a:off x="6934200" y="2395538"/>
            <a:ext cx="1600200" cy="2095500"/>
          </a:xfrm>
          <a:prstGeom prst="rect">
            <a:avLst/>
          </a:prstGeom>
          <a:noFill/>
          <a:ln/>
        </p:spPr>
      </p:sp>
      <p:pic>
        <p:nvPicPr>
          <p:cNvPr id="7" name="Image 1" descr="preencoded.png">    </p:cNvPr>
          <p:cNvPicPr>
            <a:picLocks noChangeAspect="1"/>
          </p:cNvPicPr>
          <p:nvPr/>
        </p:nvPicPr>
        <p:blipFill>
          <a:blip r:embed="rId2"/>
          <a:srcRect l="0" r="0" t="0" b="0"/>
          <a:stretch/>
        </p:blipFill>
        <p:spPr>
          <a:xfrm>
            <a:off x="6934200" y="2395538"/>
            <a:ext cx="9525" cy="276225"/>
          </a:xfrm>
          <a:prstGeom prst="rect">
            <a:avLst/>
          </a:prstGeom>
        </p:spPr>
      </p:pic>
      <p:sp>
        <p:nvSpPr>
          <p:cNvPr id="8" name="Text 4"/>
          <p:cNvSpPr/>
          <p:nvPr/>
        </p:nvSpPr>
        <p:spPr>
          <a:xfrm>
            <a:off x="6934200" y="2719388"/>
            <a:ext cx="1600200" cy="190500"/>
          </a:xfrm>
          <a:prstGeom prst="rect">
            <a:avLst/>
          </a:prstGeom>
          <a:noFill/>
          <a:ln/>
        </p:spPr>
        <p:txBody>
          <a:bodyPr wrap="square" lIns="0" tIns="0" rIns="0" bIns="0" rtlCol="0" anchor="t"/>
          <a:lstStyle/>
          <a:p>
            <a:pPr algn="l" indent="0" marL="0">
              <a:lnSpc>
                <a:spcPts val="1425"/>
              </a:lnSpc>
              <a:buNone/>
            </a:pPr>
            <a:r>
              <a:rPr lang="en-US" sz="1033" dirty="0">
                <a:solidFill>
                  <a:srgbClr val="FFFFFF">
                    <a:alpha val="99000"/>
                  </a:srgbClr>
                </a:solidFill>
                <a:latin typeface="Roboto" pitchFamily="34" charset="0"/>
                <a:ea typeface="Roboto" pitchFamily="34" charset="-122"/>
                <a:cs typeface="Roboto" pitchFamily="34" charset="-120"/>
              </a:rPr>
              <a:t>03 · Title</a:t>
            </a:r>
            <a:endParaRPr lang="en-US" sz="1033" dirty="0"/>
          </a:p>
        </p:txBody>
      </p:sp>
      <p:sp>
        <p:nvSpPr>
          <p:cNvPr id="9" name="Text 5"/>
          <p:cNvSpPr/>
          <p:nvPr/>
        </p:nvSpPr>
        <p:spPr>
          <a:xfrm>
            <a:off x="6934200" y="2967038"/>
            <a:ext cx="1600200" cy="1524000"/>
          </a:xfrm>
          <a:prstGeom prst="rect">
            <a:avLst/>
          </a:prstGeom>
          <a:noFill/>
          <a:ln/>
        </p:spPr>
        <p:txBody>
          <a:bodyPr wrap="square" lIns="0" tIns="0" rIns="0" bIns="0" rtlCol="0" anchor="t"/>
          <a:lstStyle/>
          <a:p>
            <a:pPr algn="l" indent="0" marL="0">
              <a:lnSpc>
                <a:spcPts val="1146"/>
              </a:lnSpc>
              <a:buNone/>
            </a:pPr>
            <a:r>
              <a:rPr lang="en-US" sz="855" spc="-4" kern="0" dirty="0">
                <a:solidFill>
                  <a:srgbClr val="FFFFFF">
                    <a:alpha val="99000"/>
                  </a:srgbClr>
                </a:solidFill>
                <a:latin typeface="Roboto" pitchFamily="34" charset="0"/>
                <a:ea typeface="Roboto" pitchFamily="34" charset="-122"/>
                <a:cs typeface="Roboto" pitchFamily="34" charset="-120"/>
              </a:rPr>
              <a:t>Lorem Ipsum is simply dummy text of the printing and typesetting industry. Lorem Ipsum has been the industry's standard dummy text ever since the 1500s, when an unknown printer took a galley of type and scrambled it to make a type specimen </a:t>
            </a:r>
            <a:endParaRPr lang="en-US" sz="855" dirty="0"/>
          </a:p>
        </p:txBody>
      </p:sp>
      <p:sp>
        <p:nvSpPr>
          <p:cNvPr id="10" name="Shape 6"/>
          <p:cNvSpPr/>
          <p:nvPr/>
        </p:nvSpPr>
        <p:spPr>
          <a:xfrm>
            <a:off x="609600" y="2395538"/>
            <a:ext cx="1600200" cy="2095500"/>
          </a:xfrm>
          <a:prstGeom prst="rect">
            <a:avLst/>
          </a:prstGeom>
          <a:noFill/>
          <a:ln/>
        </p:spPr>
      </p:sp>
      <p:pic>
        <p:nvPicPr>
          <p:cNvPr id="11" name="Image 2" descr="preencoded.png">    </p:cNvPr>
          <p:cNvPicPr>
            <a:picLocks noChangeAspect="1"/>
          </p:cNvPicPr>
          <p:nvPr/>
        </p:nvPicPr>
        <p:blipFill>
          <a:blip r:embed="rId3"/>
          <a:srcRect l="0" r="0" t="0" b="0"/>
          <a:stretch/>
        </p:blipFill>
        <p:spPr>
          <a:xfrm>
            <a:off x="609600" y="2395538"/>
            <a:ext cx="9525" cy="276225"/>
          </a:xfrm>
          <a:prstGeom prst="rect">
            <a:avLst/>
          </a:prstGeom>
        </p:spPr>
      </p:pic>
      <p:sp>
        <p:nvSpPr>
          <p:cNvPr id="12" name="Text 7"/>
          <p:cNvSpPr/>
          <p:nvPr/>
        </p:nvSpPr>
        <p:spPr>
          <a:xfrm>
            <a:off x="609600" y="2719388"/>
            <a:ext cx="1600200" cy="190500"/>
          </a:xfrm>
          <a:prstGeom prst="rect">
            <a:avLst/>
          </a:prstGeom>
          <a:noFill/>
          <a:ln/>
        </p:spPr>
        <p:txBody>
          <a:bodyPr wrap="square" lIns="0" tIns="0" rIns="0" bIns="0" rtlCol="0" anchor="t"/>
          <a:lstStyle/>
          <a:p>
            <a:pPr algn="l" indent="0" marL="0">
              <a:lnSpc>
                <a:spcPts val="1425"/>
              </a:lnSpc>
              <a:buNone/>
            </a:pPr>
            <a:r>
              <a:rPr lang="en-US" sz="1033" dirty="0">
                <a:solidFill>
                  <a:srgbClr val="FFFFFF">
                    <a:alpha val="99000"/>
                  </a:srgbClr>
                </a:solidFill>
                <a:latin typeface="Roboto" pitchFamily="34" charset="0"/>
                <a:ea typeface="Roboto" pitchFamily="34" charset="-122"/>
                <a:cs typeface="Roboto" pitchFamily="34" charset="-120"/>
              </a:rPr>
              <a:t>01 · Title</a:t>
            </a:r>
            <a:endParaRPr lang="en-US" sz="1033" dirty="0"/>
          </a:p>
        </p:txBody>
      </p:sp>
      <p:sp>
        <p:nvSpPr>
          <p:cNvPr id="13" name="Text 8"/>
          <p:cNvSpPr/>
          <p:nvPr/>
        </p:nvSpPr>
        <p:spPr>
          <a:xfrm>
            <a:off x="609600" y="2967038"/>
            <a:ext cx="1600200" cy="1524000"/>
          </a:xfrm>
          <a:prstGeom prst="rect">
            <a:avLst/>
          </a:prstGeom>
          <a:noFill/>
          <a:ln/>
        </p:spPr>
        <p:txBody>
          <a:bodyPr wrap="square" lIns="0" tIns="0" rIns="0" bIns="0" rtlCol="0" anchor="t"/>
          <a:lstStyle/>
          <a:p>
            <a:pPr algn="l" indent="0" marL="0">
              <a:lnSpc>
                <a:spcPts val="1146"/>
              </a:lnSpc>
              <a:buNone/>
            </a:pPr>
            <a:r>
              <a:rPr lang="en-US" sz="855" spc="-4" kern="0" dirty="0">
                <a:solidFill>
                  <a:srgbClr val="FFFFFF">
                    <a:alpha val="99000"/>
                  </a:srgbClr>
                </a:solidFill>
                <a:latin typeface="Roboto" pitchFamily="34" charset="0"/>
                <a:ea typeface="Roboto" pitchFamily="34" charset="-122"/>
                <a:cs typeface="Roboto" pitchFamily="34" charset="-120"/>
              </a:rPr>
              <a:t>Lorem Ipsum is simply dummy text of the printing and typesetting industry. Lorem Ipsum has been the industry's standard dummy text ever since the 1500s, when an unknown printer took a galley of type and scrambled it to make a type specimen </a:t>
            </a:r>
            <a:endParaRPr lang="en-US" sz="855" dirty="0"/>
          </a:p>
        </p:txBody>
      </p:sp>
      <p:sp>
        <p:nvSpPr>
          <p:cNvPr id="14" name="Text 9"/>
          <p:cNvSpPr/>
          <p:nvPr/>
        </p:nvSpPr>
        <p:spPr>
          <a:xfrm>
            <a:off x="609600" y="3786188"/>
            <a:ext cx="1600200" cy="304800"/>
          </a:xfrm>
          <a:prstGeom prst="rect">
            <a:avLst/>
          </a:prstGeom>
          <a:noFill/>
          <a:ln/>
        </p:spPr>
        <p:txBody>
          <a:bodyPr wrap="square" lIns="0" tIns="0" rIns="0" bIns="0" rtlCol="0" anchor="t"/>
          <a:lstStyle/>
          <a:p>
            <a:pPr indent="0" marL="0">
              <a:buNone/>
            </a:pPr>
            <a:endParaRPr lang="en-US" dirty="0"/>
          </a:p>
        </p:txBody>
      </p:sp>
      <p:pic>
        <p:nvPicPr>
          <p:cNvPr id="15" name="Image 3" descr="preencoded.png">    </p:cNvPr>
          <p:cNvPicPr>
            <a:picLocks noChangeAspect="1"/>
          </p:cNvPicPr>
          <p:nvPr/>
        </p:nvPicPr>
        <p:blipFill>
          <a:blip r:embed="rId4"/>
          <a:srcRect l="0" r="0" t="0" b="0"/>
          <a:stretch/>
        </p:blipFill>
        <p:spPr>
          <a:xfrm>
            <a:off x="614363" y="2395537"/>
            <a:ext cx="7939087" cy="19050"/>
          </a:xfrm>
          <a:prstGeom prst="rect">
            <a:avLst/>
          </a:prstGeom>
        </p:spPr>
      </p:pic>
      <p:sp>
        <p:nvSpPr>
          <p:cNvPr id="16" name="Shape 10"/>
          <p:cNvSpPr/>
          <p:nvPr/>
        </p:nvSpPr>
        <p:spPr>
          <a:xfrm>
            <a:off x="547688" y="383381"/>
            <a:ext cx="2486025" cy="738188"/>
          </a:xfrm>
          <a:prstGeom prst="rect">
            <a:avLst/>
          </a:prstGeom>
          <a:noFill/>
          <a:ln/>
        </p:spPr>
      </p:sp>
      <p:sp>
        <p:nvSpPr>
          <p:cNvPr id="17" name="Text 11"/>
          <p:cNvSpPr/>
          <p:nvPr/>
        </p:nvSpPr>
        <p:spPr>
          <a:xfrm>
            <a:off x="547688" y="383381"/>
            <a:ext cx="2486025" cy="366713"/>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solidFill>
                <a:latin typeface="Roboto" pitchFamily="34" charset="0"/>
                <a:ea typeface="Roboto" pitchFamily="34" charset="-122"/>
                <a:cs typeface="Roboto" pitchFamily="34" charset="-120"/>
              </a:rPr>
              <a:t>Improvement</a:t>
            </a:r>
            <a:endParaRPr lang="en-US" sz="2494" dirty="0"/>
          </a:p>
        </p:txBody>
      </p:sp>
      <p:sp>
        <p:nvSpPr>
          <p:cNvPr id="18" name="Text 12"/>
          <p:cNvSpPr/>
          <p:nvPr/>
        </p:nvSpPr>
        <p:spPr>
          <a:xfrm>
            <a:off x="547688" y="864394"/>
            <a:ext cx="8072438" cy="257175"/>
          </a:xfrm>
          <a:prstGeom prst="rect">
            <a:avLst/>
          </a:prstGeom>
          <a:noFill/>
          <a:ln/>
        </p:spPr>
        <p:txBody>
          <a:bodyPr wrap="square" lIns="0" tIns="0" rIns="0" bIns="0" rtlCol="0" anchor="t"/>
          <a:lstStyle/>
          <a:p>
            <a:pPr algn="l" indent="0" marL="0">
              <a:lnSpc>
                <a:spcPts val="1924"/>
              </a:lnSpc>
              <a:buNone/>
            </a:pPr>
            <a:r>
              <a:rPr lang="en-US" sz="1283" spc="-28" kern="0" dirty="0">
                <a:solidFill>
                  <a:srgbClr val="FFFFFF">
                    <a:alpha val="99000"/>
                  </a:srgbClr>
                </a:solidFill>
                <a:latin typeface="Roboto" pitchFamily="34" charset="0"/>
                <a:ea typeface="Roboto" pitchFamily="34" charset="-122"/>
                <a:cs typeface="Roboto" pitchFamily="34" charset="-120"/>
              </a:rPr>
              <a:t>Add description </a:t>
            </a:r>
            <a:endParaRPr lang="en-US" sz="1283"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FFFFF"/>
          </a:solidFill>
          <a:ln/>
        </p:spPr>
      </p:sp>
      <p:sp>
        <p:nvSpPr>
          <p:cNvPr id="3" name="Shape 1"/>
          <p:cNvSpPr/>
          <p:nvPr/>
        </p:nvSpPr>
        <p:spPr>
          <a:xfrm>
            <a:off x="742950" y="1819275"/>
            <a:ext cx="3228975" cy="1200150"/>
          </a:xfrm>
          <a:prstGeom prst="rect">
            <a:avLst/>
          </a:prstGeom>
          <a:noFill/>
          <a:ln/>
        </p:spPr>
      </p:sp>
      <p:sp>
        <p:nvSpPr>
          <p:cNvPr id="4" name="Text 2"/>
          <p:cNvSpPr/>
          <p:nvPr/>
        </p:nvSpPr>
        <p:spPr>
          <a:xfrm>
            <a:off x="742950" y="1819275"/>
            <a:ext cx="3228975" cy="785813"/>
          </a:xfrm>
          <a:prstGeom prst="rect">
            <a:avLst/>
          </a:prstGeom>
          <a:noFill/>
          <a:ln/>
        </p:spPr>
        <p:txBody>
          <a:bodyPr wrap="square" lIns="0" tIns="0" rIns="0" bIns="0" rtlCol="0" anchor="t"/>
          <a:lstStyle/>
          <a:p>
            <a:pPr algn="ctr" indent="0" marL="0">
              <a:lnSpc>
                <a:spcPts val="5878"/>
              </a:lnSpc>
              <a:buNone/>
            </a:pPr>
            <a:r>
              <a:rPr lang="en-US" sz="5344" b="1" dirty="0">
                <a:solidFill>
                  <a:srgbClr val="000000">
                    <a:alpha val="99000"/>
                  </a:srgbClr>
                </a:solidFill>
                <a:latin typeface="IBM Plex Sans" pitchFamily="34" charset="0"/>
                <a:ea typeface="IBM Plex Sans" pitchFamily="34" charset="-122"/>
                <a:cs typeface="IBM Plex Sans" pitchFamily="34" charset="-120"/>
              </a:rPr>
              <a:t>XX%</a:t>
            </a:r>
            <a:endParaRPr lang="en-US" sz="5344" dirty="0"/>
          </a:p>
        </p:txBody>
      </p:sp>
      <p:sp>
        <p:nvSpPr>
          <p:cNvPr id="5" name="Text 3"/>
          <p:cNvSpPr/>
          <p:nvPr/>
        </p:nvSpPr>
        <p:spPr>
          <a:xfrm>
            <a:off x="742950" y="2652713"/>
            <a:ext cx="3228975"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Roboto" pitchFamily="34" charset="0"/>
                <a:ea typeface="Roboto" pitchFamily="34" charset="-122"/>
                <a:cs typeface="Roboto" pitchFamily="34" charset="-120"/>
              </a:rPr>
              <a:t>Of people did a thing.</a:t>
            </a:r>
            <a:endParaRPr lang="en-US" sz="2494" dirty="0"/>
          </a:p>
        </p:txBody>
      </p:sp>
      <p:sp>
        <p:nvSpPr>
          <p:cNvPr id="6" name="Shape 4"/>
          <p:cNvSpPr/>
          <p:nvPr/>
        </p:nvSpPr>
        <p:spPr>
          <a:xfrm>
            <a:off x="5167313" y="1819275"/>
            <a:ext cx="3228975" cy="1200150"/>
          </a:xfrm>
          <a:prstGeom prst="rect">
            <a:avLst/>
          </a:prstGeom>
          <a:noFill/>
          <a:ln/>
        </p:spPr>
      </p:sp>
      <p:sp>
        <p:nvSpPr>
          <p:cNvPr id="7" name="Text 5"/>
          <p:cNvSpPr/>
          <p:nvPr/>
        </p:nvSpPr>
        <p:spPr>
          <a:xfrm>
            <a:off x="5167313" y="1819275"/>
            <a:ext cx="3228975" cy="785813"/>
          </a:xfrm>
          <a:prstGeom prst="rect">
            <a:avLst/>
          </a:prstGeom>
          <a:noFill/>
          <a:ln/>
        </p:spPr>
        <p:txBody>
          <a:bodyPr wrap="square" lIns="0" tIns="0" rIns="0" bIns="0" rtlCol="0" anchor="t"/>
          <a:lstStyle/>
          <a:p>
            <a:pPr algn="ctr" indent="0" marL="0">
              <a:lnSpc>
                <a:spcPts val="5878"/>
              </a:lnSpc>
              <a:buNone/>
            </a:pPr>
            <a:r>
              <a:rPr lang="en-US" sz="5344" b="1" dirty="0">
                <a:solidFill>
                  <a:srgbClr val="000000">
                    <a:alpha val="99000"/>
                  </a:srgbClr>
                </a:solidFill>
                <a:latin typeface="IBM Plex Sans" pitchFamily="34" charset="0"/>
                <a:ea typeface="IBM Plex Sans" pitchFamily="34" charset="-122"/>
                <a:cs typeface="IBM Plex Sans" pitchFamily="34" charset="-120"/>
              </a:rPr>
              <a:t>XX%</a:t>
            </a:r>
            <a:endParaRPr lang="en-US" sz="5344" dirty="0"/>
          </a:p>
        </p:txBody>
      </p:sp>
      <p:sp>
        <p:nvSpPr>
          <p:cNvPr id="8" name="Text 6"/>
          <p:cNvSpPr/>
          <p:nvPr/>
        </p:nvSpPr>
        <p:spPr>
          <a:xfrm>
            <a:off x="5167313" y="2652713"/>
            <a:ext cx="3228975"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000000">
                    <a:alpha val="99000"/>
                  </a:srgbClr>
                </a:solidFill>
                <a:latin typeface="Roboto" pitchFamily="34" charset="0"/>
                <a:ea typeface="Roboto" pitchFamily="34" charset="-122"/>
                <a:cs typeface="Roboto" pitchFamily="34" charset="-120"/>
              </a:rPr>
              <a:t>Of people did a thing.</a:t>
            </a:r>
            <a:endParaRPr lang="en-US" sz="2494" dirty="0"/>
          </a:p>
        </p:txBody>
      </p:sp>
      <p:pic>
        <p:nvPicPr>
          <p:cNvPr id="9" name="Image 0" descr="preencoded.png">    </p:cNvPr>
          <p:cNvPicPr>
            <a:picLocks noChangeAspect="1"/>
          </p:cNvPicPr>
          <p:nvPr/>
        </p:nvPicPr>
        <p:blipFill>
          <a:blip r:embed="rId1"/>
          <a:srcRect l="0" r="0" t="0" b="0"/>
          <a:stretch/>
        </p:blipFill>
        <p:spPr>
          <a:xfrm>
            <a:off x="3790950" y="2571750"/>
            <a:ext cx="1583531" cy="175354"/>
          </a:xfrm>
          <a:prstGeom prst="rect">
            <a:avLst/>
          </a:prstGeom>
        </p:spPr>
      </p:pic>
      <p:sp>
        <p:nvSpPr>
          <p:cNvPr id="10" name="Text 7"/>
          <p:cNvSpPr/>
          <p:nvPr/>
        </p:nvSpPr>
        <p:spPr>
          <a:xfrm>
            <a:off x="3971925" y="2690813"/>
            <a:ext cx="1200150" cy="3429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SOMETHING</a:t>
            </a:r>
            <a:endParaRPr lang="en-US" sz="784" dirty="0"/>
          </a:p>
          <a:p>
            <a:pPr algn="ct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CHANGES</a:t>
            </a:r>
            <a:endParaRPr lang="en-US" sz="784" dirty="0"/>
          </a:p>
          <a:p>
            <a:pPr algn="ctr" indent="0" marL="0">
              <a:lnSpc>
                <a:spcPts val="862"/>
              </a:lnSpc>
              <a:buNone/>
            </a:pPr>
            <a:r>
              <a:rPr lang="en-US" sz="784" b="1" spc="55" kern="0" dirty="0">
                <a:solidFill>
                  <a:srgbClr val="000000">
                    <a:alpha val="99000"/>
                  </a:srgbClr>
                </a:solidFill>
                <a:latin typeface="Plus Jakarta Sans" pitchFamily="34" charset="0"/>
                <a:ea typeface="Plus Jakarta Sans" pitchFamily="34" charset="-122"/>
                <a:cs typeface="Plus Jakarta Sans" pitchFamily="34" charset="-120"/>
              </a:rPr>
              <a:t>HERE</a:t>
            </a:r>
            <a:endParaRPr lang="en-US" sz="784"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000000"/>
          </a:solidFill>
          <a:ln w="4524">
            <a:solidFill>
              <a:srgbClr val="000000"/>
            </a:solidFill>
            <a:prstDash val="solid"/>
          </a:ln>
        </p:spPr>
      </p:sp>
      <p:sp>
        <p:nvSpPr>
          <p:cNvPr id="3" name="Shape 1"/>
          <p:cNvSpPr/>
          <p:nvPr/>
        </p:nvSpPr>
        <p:spPr>
          <a:xfrm>
            <a:off x="742950" y="1819275"/>
            <a:ext cx="3228975" cy="1200150"/>
          </a:xfrm>
          <a:prstGeom prst="rect">
            <a:avLst/>
          </a:prstGeom>
          <a:noFill/>
          <a:ln/>
        </p:spPr>
      </p:sp>
      <p:sp>
        <p:nvSpPr>
          <p:cNvPr id="4" name="Text 2"/>
          <p:cNvSpPr/>
          <p:nvPr/>
        </p:nvSpPr>
        <p:spPr>
          <a:xfrm>
            <a:off x="742950" y="1819275"/>
            <a:ext cx="3228975" cy="785813"/>
          </a:xfrm>
          <a:prstGeom prst="rect">
            <a:avLst/>
          </a:prstGeom>
          <a:noFill/>
          <a:ln/>
        </p:spPr>
        <p:txBody>
          <a:bodyPr wrap="square" lIns="0" tIns="0" rIns="0" bIns="0" rtlCol="0" anchor="t"/>
          <a:lstStyle/>
          <a:p>
            <a:pPr algn="ctr" indent="0" marL="0">
              <a:lnSpc>
                <a:spcPts val="5878"/>
              </a:lnSpc>
              <a:buNone/>
            </a:pPr>
            <a:r>
              <a:rPr lang="en-US" sz="5344" b="1" dirty="0">
                <a:solidFill>
                  <a:srgbClr val="FFFFFF">
                    <a:alpha val="99000"/>
                  </a:srgbClr>
                </a:solidFill>
                <a:latin typeface="IBM Plex Sans" pitchFamily="34" charset="0"/>
                <a:ea typeface="IBM Plex Sans" pitchFamily="34" charset="-122"/>
                <a:cs typeface="IBM Plex Sans" pitchFamily="34" charset="-120"/>
              </a:rPr>
              <a:t>XX%</a:t>
            </a:r>
            <a:endParaRPr lang="en-US" sz="5344" dirty="0"/>
          </a:p>
        </p:txBody>
      </p:sp>
      <p:sp>
        <p:nvSpPr>
          <p:cNvPr id="5" name="Text 3"/>
          <p:cNvSpPr/>
          <p:nvPr/>
        </p:nvSpPr>
        <p:spPr>
          <a:xfrm>
            <a:off x="742950" y="2652713"/>
            <a:ext cx="3228975"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FFFFFF">
                    <a:alpha val="99000"/>
                  </a:srgbClr>
                </a:solidFill>
                <a:latin typeface="Roboto" pitchFamily="34" charset="0"/>
                <a:ea typeface="Roboto" pitchFamily="34" charset="-122"/>
                <a:cs typeface="Roboto" pitchFamily="34" charset="-120"/>
              </a:rPr>
              <a:t>Of people did a thing.</a:t>
            </a:r>
            <a:endParaRPr lang="en-US" sz="2494" dirty="0"/>
          </a:p>
        </p:txBody>
      </p:sp>
      <p:sp>
        <p:nvSpPr>
          <p:cNvPr id="6" name="Shape 4"/>
          <p:cNvSpPr/>
          <p:nvPr/>
        </p:nvSpPr>
        <p:spPr>
          <a:xfrm>
            <a:off x="5167313" y="1819275"/>
            <a:ext cx="3228975" cy="1200150"/>
          </a:xfrm>
          <a:prstGeom prst="rect">
            <a:avLst/>
          </a:prstGeom>
          <a:noFill/>
          <a:ln/>
        </p:spPr>
      </p:sp>
      <p:sp>
        <p:nvSpPr>
          <p:cNvPr id="7" name="Text 5"/>
          <p:cNvSpPr/>
          <p:nvPr/>
        </p:nvSpPr>
        <p:spPr>
          <a:xfrm>
            <a:off x="5167313" y="1819275"/>
            <a:ext cx="3228975" cy="785813"/>
          </a:xfrm>
          <a:prstGeom prst="rect">
            <a:avLst/>
          </a:prstGeom>
          <a:noFill/>
          <a:ln/>
        </p:spPr>
        <p:txBody>
          <a:bodyPr wrap="square" lIns="0" tIns="0" rIns="0" bIns="0" rtlCol="0" anchor="t"/>
          <a:lstStyle/>
          <a:p>
            <a:pPr algn="ctr" indent="0" marL="0">
              <a:lnSpc>
                <a:spcPts val="5878"/>
              </a:lnSpc>
              <a:buNone/>
            </a:pPr>
            <a:r>
              <a:rPr lang="en-US" sz="5344" b="1" dirty="0">
                <a:solidFill>
                  <a:srgbClr val="FFFFFF">
                    <a:alpha val="99000"/>
                  </a:srgbClr>
                </a:solidFill>
                <a:latin typeface="IBM Plex Sans" pitchFamily="34" charset="0"/>
                <a:ea typeface="IBM Plex Sans" pitchFamily="34" charset="-122"/>
                <a:cs typeface="IBM Plex Sans" pitchFamily="34" charset="-120"/>
              </a:rPr>
              <a:t>XX%</a:t>
            </a:r>
            <a:endParaRPr lang="en-US" sz="5344" dirty="0"/>
          </a:p>
        </p:txBody>
      </p:sp>
      <p:sp>
        <p:nvSpPr>
          <p:cNvPr id="8" name="Text 6"/>
          <p:cNvSpPr/>
          <p:nvPr/>
        </p:nvSpPr>
        <p:spPr>
          <a:xfrm>
            <a:off x="5167313" y="2652713"/>
            <a:ext cx="3228975" cy="366713"/>
          </a:xfrm>
          <a:prstGeom prst="rect">
            <a:avLst/>
          </a:prstGeom>
          <a:noFill/>
          <a:ln/>
        </p:spPr>
        <p:txBody>
          <a:bodyPr wrap="square" lIns="0" tIns="0" rIns="0" bIns="0" rtlCol="0" anchor="t"/>
          <a:lstStyle/>
          <a:p>
            <a:pPr algn="ctr" indent="0" marL="0">
              <a:lnSpc>
                <a:spcPts val="2743"/>
              </a:lnSpc>
              <a:buNone/>
            </a:pPr>
            <a:r>
              <a:rPr lang="en-US" sz="2494" spc="-55" kern="0" dirty="0">
                <a:solidFill>
                  <a:srgbClr val="FFFFFF">
                    <a:alpha val="99000"/>
                  </a:srgbClr>
                </a:solidFill>
                <a:latin typeface="Roboto" pitchFamily="34" charset="0"/>
                <a:ea typeface="Roboto" pitchFamily="34" charset="-122"/>
                <a:cs typeface="Roboto" pitchFamily="34" charset="-120"/>
              </a:rPr>
              <a:t>Of people did a thing.</a:t>
            </a:r>
            <a:endParaRPr lang="en-US" sz="2494" dirty="0"/>
          </a:p>
        </p:txBody>
      </p:sp>
      <p:sp>
        <p:nvSpPr>
          <p:cNvPr id="9" name="Text 7"/>
          <p:cNvSpPr/>
          <p:nvPr/>
        </p:nvSpPr>
        <p:spPr>
          <a:xfrm>
            <a:off x="3971925" y="2690813"/>
            <a:ext cx="1200150" cy="342900"/>
          </a:xfrm>
          <a:prstGeom prst="rect">
            <a:avLst/>
          </a:prstGeom>
          <a:noFill/>
          <a:ln/>
        </p:spPr>
        <p:txBody>
          <a:bodyPr wrap="square" lIns="0" tIns="0" rIns="0" bIns="0" rtlCol="0" anchor="t"/>
          <a:lstStyle/>
          <a:p>
            <a:pPr algn="ctr" indent="0" marL="0">
              <a:lnSpc>
                <a:spcPts val="862"/>
              </a:lnSpc>
              <a:buNone/>
            </a:pPr>
            <a:r>
              <a:rPr lang="en-US" sz="784" b="1" spc="55" kern="0" dirty="0">
                <a:solidFill>
                  <a:srgbClr val="FFFFFF">
                    <a:alpha val="99000"/>
                  </a:srgbClr>
                </a:solidFill>
                <a:latin typeface="Plus Jakarta Sans" pitchFamily="34" charset="0"/>
                <a:ea typeface="Plus Jakarta Sans" pitchFamily="34" charset="-122"/>
                <a:cs typeface="Plus Jakarta Sans" pitchFamily="34" charset="-120"/>
              </a:rPr>
              <a:t>SOMETHING</a:t>
            </a:r>
            <a:endParaRPr lang="en-US" sz="784" dirty="0"/>
          </a:p>
          <a:p>
            <a:pPr algn="ctr" indent="0" marL="0">
              <a:lnSpc>
                <a:spcPts val="862"/>
              </a:lnSpc>
              <a:buNone/>
            </a:pPr>
            <a:r>
              <a:rPr lang="en-US" sz="784" b="1" spc="55" kern="0" dirty="0">
                <a:solidFill>
                  <a:srgbClr val="FFFFFF">
                    <a:alpha val="99000"/>
                  </a:srgbClr>
                </a:solidFill>
                <a:latin typeface="Plus Jakarta Sans" pitchFamily="34" charset="0"/>
                <a:ea typeface="Plus Jakarta Sans" pitchFamily="34" charset="-122"/>
                <a:cs typeface="Plus Jakarta Sans" pitchFamily="34" charset="-120"/>
              </a:rPr>
              <a:t>CHANGES</a:t>
            </a:r>
            <a:endParaRPr lang="en-US" sz="784" dirty="0"/>
          </a:p>
          <a:p>
            <a:pPr algn="ctr" indent="0" marL="0">
              <a:lnSpc>
                <a:spcPts val="862"/>
              </a:lnSpc>
              <a:buNone/>
            </a:pPr>
            <a:r>
              <a:rPr lang="en-US" sz="784" b="1" spc="55" kern="0" dirty="0">
                <a:solidFill>
                  <a:srgbClr val="FFFFFF">
                    <a:alpha val="99000"/>
                  </a:srgbClr>
                </a:solidFill>
                <a:latin typeface="Plus Jakarta Sans" pitchFamily="34" charset="0"/>
                <a:ea typeface="Plus Jakarta Sans" pitchFamily="34" charset="-122"/>
                <a:cs typeface="Plus Jakarta Sans" pitchFamily="34" charset="-120"/>
              </a:rPr>
              <a:t>HERE</a:t>
            </a:r>
            <a:endParaRPr lang="en-US" sz="784" dirty="0"/>
          </a:p>
        </p:txBody>
      </p:sp>
      <p:pic>
        <p:nvPicPr>
          <p:cNvPr id="10" name="Image 0" descr="preencoded.png">    </p:cNvPr>
          <p:cNvPicPr>
            <a:picLocks noChangeAspect="1"/>
          </p:cNvPicPr>
          <p:nvPr/>
        </p:nvPicPr>
        <p:blipFill>
          <a:blip r:embed="rId1"/>
          <a:srcRect l="0" r="0" t="0" b="0"/>
          <a:stretch/>
        </p:blipFill>
        <p:spPr>
          <a:xfrm>
            <a:off x="3790950" y="2571750"/>
            <a:ext cx="1583531" cy="17535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FFFFFF"/>
          </a:solidFill>
          <a:ln w="4524">
            <a:solidFill>
              <a:srgbClr val="FFFFFF"/>
            </a:solidFill>
            <a:prstDash val="solid"/>
          </a:ln>
        </p:spPr>
      </p:sp>
      <p:sp>
        <p:nvSpPr>
          <p:cNvPr id="3" name="Shape 1"/>
          <p:cNvSpPr/>
          <p:nvPr/>
        </p:nvSpPr>
        <p:spPr>
          <a:xfrm>
            <a:off x="376238" y="1828800"/>
            <a:ext cx="2157413" cy="2214563"/>
          </a:xfrm>
          <a:prstGeom prst="rect">
            <a:avLst/>
          </a:prstGeom>
          <a:noFill/>
          <a:ln/>
        </p:spPr>
      </p:sp>
      <p:pic>
        <p:nvPicPr>
          <p:cNvPr id="4" name="Image 0" descr="preencoded.png">    </p:cNvPr>
          <p:cNvPicPr>
            <a:picLocks noChangeAspect="1"/>
          </p:cNvPicPr>
          <p:nvPr/>
        </p:nvPicPr>
        <p:blipFill>
          <a:blip r:embed="rId1"/>
          <a:srcRect l="0" r="0" t="0" b="0"/>
          <a:stretch/>
        </p:blipFill>
        <p:spPr>
          <a:xfrm>
            <a:off x="376238" y="1828800"/>
            <a:ext cx="2157413" cy="1881187"/>
          </a:xfrm>
          <a:prstGeom prst="rect">
            <a:avLst/>
          </a:prstGeom>
        </p:spPr>
      </p:pic>
      <p:sp>
        <p:nvSpPr>
          <p:cNvPr id="5" name="Text 2"/>
          <p:cNvSpPr/>
          <p:nvPr/>
        </p:nvSpPr>
        <p:spPr>
          <a:xfrm>
            <a:off x="376238" y="3757613"/>
            <a:ext cx="215741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A.</a:t>
            </a:r>
            <a:endParaRPr lang="en-US" sz="1425" dirty="0"/>
          </a:p>
        </p:txBody>
      </p:sp>
      <p:sp>
        <p:nvSpPr>
          <p:cNvPr id="6" name="Shape 3"/>
          <p:cNvSpPr/>
          <p:nvPr/>
        </p:nvSpPr>
        <p:spPr>
          <a:xfrm>
            <a:off x="3490913" y="1828800"/>
            <a:ext cx="2157413" cy="2214563"/>
          </a:xfrm>
          <a:prstGeom prst="rect">
            <a:avLst/>
          </a:prstGeom>
          <a:noFill/>
          <a:ln/>
        </p:spPr>
      </p:sp>
      <p:pic>
        <p:nvPicPr>
          <p:cNvPr id="7" name="Image 1" descr="preencoded.png">    </p:cNvPr>
          <p:cNvPicPr>
            <a:picLocks noChangeAspect="1"/>
          </p:cNvPicPr>
          <p:nvPr/>
        </p:nvPicPr>
        <p:blipFill>
          <a:blip r:embed="rId2"/>
          <a:srcRect l="0" r="0" t="0" b="0"/>
          <a:stretch/>
        </p:blipFill>
        <p:spPr>
          <a:xfrm>
            <a:off x="3490913" y="1828800"/>
            <a:ext cx="2157413" cy="1881187"/>
          </a:xfrm>
          <a:prstGeom prst="rect">
            <a:avLst/>
          </a:prstGeom>
        </p:spPr>
      </p:pic>
      <p:sp>
        <p:nvSpPr>
          <p:cNvPr id="8" name="Text 4"/>
          <p:cNvSpPr/>
          <p:nvPr/>
        </p:nvSpPr>
        <p:spPr>
          <a:xfrm>
            <a:off x="3490913" y="3757613"/>
            <a:ext cx="215741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B.</a:t>
            </a:r>
            <a:endParaRPr lang="en-US" sz="1425" dirty="0"/>
          </a:p>
        </p:txBody>
      </p:sp>
      <p:sp>
        <p:nvSpPr>
          <p:cNvPr id="9" name="Shape 5"/>
          <p:cNvSpPr/>
          <p:nvPr/>
        </p:nvSpPr>
        <p:spPr>
          <a:xfrm>
            <a:off x="6605588" y="1828800"/>
            <a:ext cx="2157413" cy="2214563"/>
          </a:xfrm>
          <a:prstGeom prst="rect">
            <a:avLst/>
          </a:prstGeom>
          <a:noFill/>
          <a:ln/>
        </p:spPr>
      </p:sp>
      <p:pic>
        <p:nvPicPr>
          <p:cNvPr id="10" name="Image 2" descr="preencoded.png">    </p:cNvPr>
          <p:cNvPicPr>
            <a:picLocks noChangeAspect="1"/>
          </p:cNvPicPr>
          <p:nvPr/>
        </p:nvPicPr>
        <p:blipFill>
          <a:blip r:embed="rId3"/>
          <a:srcRect l="0" r="0" t="0" b="0"/>
          <a:stretch/>
        </p:blipFill>
        <p:spPr>
          <a:xfrm>
            <a:off x="6605588" y="1828800"/>
            <a:ext cx="2157413" cy="1881187"/>
          </a:xfrm>
          <a:prstGeom prst="rect">
            <a:avLst/>
          </a:prstGeom>
        </p:spPr>
      </p:pic>
      <p:sp>
        <p:nvSpPr>
          <p:cNvPr id="11" name="Text 6"/>
          <p:cNvSpPr/>
          <p:nvPr/>
        </p:nvSpPr>
        <p:spPr>
          <a:xfrm>
            <a:off x="6605588" y="3757613"/>
            <a:ext cx="215741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000000">
                    <a:alpha val="99000"/>
                  </a:srgbClr>
                </a:solidFill>
                <a:latin typeface="Roboto" pitchFamily="34" charset="0"/>
                <a:ea typeface="Roboto" pitchFamily="34" charset="-122"/>
                <a:cs typeface="Roboto" pitchFamily="34" charset="-120"/>
              </a:rPr>
              <a:t>C.</a:t>
            </a:r>
            <a:endParaRPr lang="en-US" sz="1425" dirty="0"/>
          </a:p>
        </p:txBody>
      </p:sp>
      <p:sp>
        <p:nvSpPr>
          <p:cNvPr id="12" name="Shape 7"/>
          <p:cNvSpPr/>
          <p:nvPr/>
        </p:nvSpPr>
        <p:spPr>
          <a:xfrm>
            <a:off x="376238" y="595313"/>
            <a:ext cx="4148137" cy="733425"/>
          </a:xfrm>
          <a:prstGeom prst="rect">
            <a:avLst/>
          </a:prstGeom>
          <a:noFill/>
          <a:ln/>
        </p:spPr>
      </p:sp>
      <p:sp>
        <p:nvSpPr>
          <p:cNvPr id="13" name="Text 8"/>
          <p:cNvSpPr/>
          <p:nvPr/>
        </p:nvSpPr>
        <p:spPr>
          <a:xfrm>
            <a:off x="376238" y="595313"/>
            <a:ext cx="4148137"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000000">
                    <a:alpha val="99000"/>
                  </a:srgbClr>
                </a:solidFill>
                <a:latin typeface="Roboto" pitchFamily="34" charset="0"/>
                <a:ea typeface="Roboto" pitchFamily="34" charset="-122"/>
                <a:cs typeface="Roboto" pitchFamily="34" charset="-120"/>
              </a:rPr>
              <a:t>Which direction resonated with you the most?</a:t>
            </a:r>
            <a:endParaRPr lang="en-US" sz="2494"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000000"/>
          </a:solidFill>
          <a:ln w="4524">
            <a:solidFill>
              <a:srgbClr val="000000"/>
            </a:solidFill>
            <a:prstDash val="solid"/>
          </a:ln>
        </p:spPr>
      </p:sp>
      <p:sp>
        <p:nvSpPr>
          <p:cNvPr id="3" name="Shape 1"/>
          <p:cNvSpPr/>
          <p:nvPr/>
        </p:nvSpPr>
        <p:spPr>
          <a:xfrm>
            <a:off x="376238" y="1828800"/>
            <a:ext cx="2157413" cy="2214563"/>
          </a:xfrm>
          <a:prstGeom prst="rect">
            <a:avLst/>
          </a:prstGeom>
          <a:noFill/>
          <a:ln/>
        </p:spPr>
      </p:sp>
      <p:pic>
        <p:nvPicPr>
          <p:cNvPr id="4" name="Image 0" descr="preencoded.png">    </p:cNvPr>
          <p:cNvPicPr>
            <a:picLocks noChangeAspect="1"/>
          </p:cNvPicPr>
          <p:nvPr/>
        </p:nvPicPr>
        <p:blipFill>
          <a:blip r:embed="rId1"/>
          <a:srcRect l="0" r="0" t="0" b="0"/>
          <a:stretch/>
        </p:blipFill>
        <p:spPr>
          <a:xfrm>
            <a:off x="376238" y="1828800"/>
            <a:ext cx="2157413" cy="1881187"/>
          </a:xfrm>
          <a:prstGeom prst="rect">
            <a:avLst/>
          </a:prstGeom>
        </p:spPr>
      </p:pic>
      <p:sp>
        <p:nvSpPr>
          <p:cNvPr id="5" name="Text 2"/>
          <p:cNvSpPr/>
          <p:nvPr/>
        </p:nvSpPr>
        <p:spPr>
          <a:xfrm>
            <a:off x="376238" y="3757613"/>
            <a:ext cx="215741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A.</a:t>
            </a:r>
            <a:endParaRPr lang="en-US" sz="1425" dirty="0"/>
          </a:p>
        </p:txBody>
      </p:sp>
      <p:sp>
        <p:nvSpPr>
          <p:cNvPr id="6" name="Shape 3"/>
          <p:cNvSpPr/>
          <p:nvPr/>
        </p:nvSpPr>
        <p:spPr>
          <a:xfrm>
            <a:off x="3490913" y="1828800"/>
            <a:ext cx="2157413" cy="2214563"/>
          </a:xfrm>
          <a:prstGeom prst="rect">
            <a:avLst/>
          </a:prstGeom>
          <a:noFill/>
          <a:ln/>
        </p:spPr>
      </p:sp>
      <p:pic>
        <p:nvPicPr>
          <p:cNvPr id="7" name="Image 1" descr="preencoded.png">    </p:cNvPr>
          <p:cNvPicPr>
            <a:picLocks noChangeAspect="1"/>
          </p:cNvPicPr>
          <p:nvPr/>
        </p:nvPicPr>
        <p:blipFill>
          <a:blip r:embed="rId2"/>
          <a:srcRect l="0" r="0" t="0" b="0"/>
          <a:stretch/>
        </p:blipFill>
        <p:spPr>
          <a:xfrm>
            <a:off x="3490913" y="1828800"/>
            <a:ext cx="2157413" cy="1881187"/>
          </a:xfrm>
          <a:prstGeom prst="rect">
            <a:avLst/>
          </a:prstGeom>
        </p:spPr>
      </p:pic>
      <p:sp>
        <p:nvSpPr>
          <p:cNvPr id="8" name="Text 4"/>
          <p:cNvSpPr/>
          <p:nvPr/>
        </p:nvSpPr>
        <p:spPr>
          <a:xfrm>
            <a:off x="3490913" y="3757613"/>
            <a:ext cx="215741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B.</a:t>
            </a:r>
            <a:endParaRPr lang="en-US" sz="1425" dirty="0"/>
          </a:p>
        </p:txBody>
      </p:sp>
      <p:sp>
        <p:nvSpPr>
          <p:cNvPr id="9" name="Shape 5"/>
          <p:cNvSpPr/>
          <p:nvPr/>
        </p:nvSpPr>
        <p:spPr>
          <a:xfrm>
            <a:off x="6605588" y="1828800"/>
            <a:ext cx="2157413" cy="2214563"/>
          </a:xfrm>
          <a:prstGeom prst="rect">
            <a:avLst/>
          </a:prstGeom>
          <a:noFill/>
          <a:ln/>
        </p:spPr>
      </p:sp>
      <p:pic>
        <p:nvPicPr>
          <p:cNvPr id="10" name="Image 2" descr="preencoded.png">    </p:cNvPr>
          <p:cNvPicPr>
            <a:picLocks noChangeAspect="1"/>
          </p:cNvPicPr>
          <p:nvPr/>
        </p:nvPicPr>
        <p:blipFill>
          <a:blip r:embed="rId3"/>
          <a:srcRect l="0" r="0" t="0" b="0"/>
          <a:stretch/>
        </p:blipFill>
        <p:spPr>
          <a:xfrm>
            <a:off x="6605588" y="1828800"/>
            <a:ext cx="2157413" cy="1881187"/>
          </a:xfrm>
          <a:prstGeom prst="rect">
            <a:avLst/>
          </a:prstGeom>
        </p:spPr>
      </p:pic>
      <p:sp>
        <p:nvSpPr>
          <p:cNvPr id="11" name="Text 6"/>
          <p:cNvSpPr/>
          <p:nvPr/>
        </p:nvSpPr>
        <p:spPr>
          <a:xfrm>
            <a:off x="6605588" y="3757613"/>
            <a:ext cx="2157413" cy="285750"/>
          </a:xfrm>
          <a:prstGeom prst="rect">
            <a:avLst/>
          </a:prstGeom>
          <a:noFill/>
          <a:ln/>
        </p:spPr>
        <p:txBody>
          <a:bodyPr wrap="square" lIns="0" tIns="0" rIns="0" bIns="0" rtlCol="0" anchor="t"/>
          <a:lstStyle/>
          <a:p>
            <a:pPr algn="l" indent="0" marL="0">
              <a:lnSpc>
                <a:spcPts val="2138"/>
              </a:lnSpc>
              <a:buNone/>
            </a:pPr>
            <a:r>
              <a:rPr lang="en-US" sz="1425" b="1" spc="100" kern="0" dirty="0">
                <a:solidFill>
                  <a:srgbClr val="FFFFFF">
                    <a:alpha val="99000"/>
                  </a:srgbClr>
                </a:solidFill>
                <a:latin typeface="Roboto" pitchFamily="34" charset="0"/>
                <a:ea typeface="Roboto" pitchFamily="34" charset="-122"/>
                <a:cs typeface="Roboto" pitchFamily="34" charset="-120"/>
              </a:rPr>
              <a:t>C.</a:t>
            </a:r>
            <a:endParaRPr lang="en-US" sz="1425" dirty="0"/>
          </a:p>
        </p:txBody>
      </p:sp>
      <p:sp>
        <p:nvSpPr>
          <p:cNvPr id="12" name="Shape 7"/>
          <p:cNvSpPr/>
          <p:nvPr/>
        </p:nvSpPr>
        <p:spPr>
          <a:xfrm>
            <a:off x="376238" y="595313"/>
            <a:ext cx="4148137" cy="733425"/>
          </a:xfrm>
          <a:prstGeom prst="rect">
            <a:avLst/>
          </a:prstGeom>
          <a:noFill/>
          <a:ln/>
        </p:spPr>
      </p:sp>
      <p:sp>
        <p:nvSpPr>
          <p:cNvPr id="13" name="Text 8"/>
          <p:cNvSpPr/>
          <p:nvPr/>
        </p:nvSpPr>
        <p:spPr>
          <a:xfrm>
            <a:off x="376238" y="595313"/>
            <a:ext cx="4148137" cy="733425"/>
          </a:xfrm>
          <a:prstGeom prst="rect">
            <a:avLst/>
          </a:prstGeom>
          <a:noFill/>
          <a:ln/>
        </p:spPr>
        <p:txBody>
          <a:bodyPr wrap="square" lIns="0" tIns="0" rIns="0" bIns="0" rtlCol="0" anchor="t"/>
          <a:lstStyle/>
          <a:p>
            <a:pPr algn="l" indent="0" marL="0">
              <a:lnSpc>
                <a:spcPts val="2743"/>
              </a:lnSpc>
              <a:buNone/>
            </a:pPr>
            <a:r>
              <a:rPr lang="en-US" sz="2494" spc="-55" kern="0" dirty="0">
                <a:solidFill>
                  <a:srgbClr val="FFFFFF">
                    <a:alpha val="99000"/>
                  </a:srgbClr>
                </a:solidFill>
                <a:latin typeface="Roboto" pitchFamily="34" charset="0"/>
                <a:ea typeface="Roboto" pitchFamily="34" charset="-122"/>
                <a:cs typeface="Roboto" pitchFamily="34" charset="-120"/>
              </a:rPr>
              <a:t>Which direction resonated with you the most?</a:t>
            </a:r>
            <a:endParaRPr lang="en-US" sz="2494"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28575" y="142875"/>
            <a:ext cx="8963025" cy="4814888"/>
          </a:xfrm>
          <a:prstGeom prst="roundRect">
            <a:avLst>
              <a:gd name="adj" fmla="val 2849"/>
            </a:avLst>
          </a:prstGeom>
          <a:solidFill>
            <a:srgbClr val="000000"/>
          </a:solidFill>
          <a:ln w="4524">
            <a:solidFill>
              <a:srgbClr val="000000"/>
            </a:solidFill>
            <a:prstDash val="solid"/>
          </a:ln>
        </p:spPr>
      </p:sp>
      <p:sp>
        <p:nvSpPr>
          <p:cNvPr id="3" name="Shape 1"/>
          <p:cNvSpPr/>
          <p:nvPr/>
        </p:nvSpPr>
        <p:spPr>
          <a:xfrm>
            <a:off x="3109913" y="1609725"/>
            <a:ext cx="1452563" cy="3429000"/>
          </a:xfrm>
          <a:prstGeom prst="rect">
            <a:avLst/>
          </a:prstGeom>
          <a:noFill/>
          <a:ln w="4524">
            <a:solidFill>
              <a:srgbClr val="E3E1DA"/>
            </a:solidFill>
            <a:prstDash val="solid"/>
          </a:ln>
        </p:spPr>
      </p:sp>
      <p:pic>
        <p:nvPicPr>
          <p:cNvPr id="4" name="Image 0" descr="preencoded.png">    </p:cNvPr>
          <p:cNvPicPr>
            <a:picLocks noChangeAspect="1"/>
          </p:cNvPicPr>
          <p:nvPr/>
        </p:nvPicPr>
        <p:blipFill>
          <a:blip r:embed="rId1"/>
          <a:srcRect l="0" r="0" t="0" b="0"/>
          <a:stretch/>
        </p:blipFill>
        <p:spPr>
          <a:xfrm>
            <a:off x="3109913" y="1609725"/>
            <a:ext cx="1457325" cy="233362"/>
          </a:xfrm>
          <a:prstGeom prst="rect">
            <a:avLst/>
          </a:prstGeom>
        </p:spPr>
      </p:pic>
      <p:sp>
        <p:nvSpPr>
          <p:cNvPr id="5" name="Shape 2"/>
          <p:cNvSpPr/>
          <p:nvPr/>
        </p:nvSpPr>
        <p:spPr>
          <a:xfrm>
            <a:off x="3109913" y="1838325"/>
            <a:ext cx="1452563" cy="3200400"/>
          </a:xfrm>
          <a:prstGeom prst="rect">
            <a:avLst/>
          </a:prstGeom>
          <a:noFill/>
          <a:ln/>
        </p:spPr>
      </p:sp>
      <p:pic>
        <p:nvPicPr>
          <p:cNvPr id="6" name="Image 1" descr="preencoded.png">    </p:cNvPr>
          <p:cNvPicPr>
            <a:picLocks noChangeAspect="1"/>
          </p:cNvPicPr>
          <p:nvPr/>
        </p:nvPicPr>
        <p:blipFill>
          <a:blip r:embed="rId2"/>
          <a:srcRect l="0" r="-656" t="0" b="2455"/>
          <a:stretch/>
        </p:blipFill>
        <p:spPr>
          <a:xfrm>
            <a:off x="3109913" y="1838325"/>
            <a:ext cx="731044" cy="3121819"/>
          </a:xfrm>
          <a:prstGeom prst="rect">
            <a:avLst/>
          </a:prstGeom>
        </p:spPr>
      </p:pic>
      <p:pic>
        <p:nvPicPr>
          <p:cNvPr id="7" name="Image 2" descr="preencoded.png">    </p:cNvPr>
          <p:cNvPicPr>
            <a:picLocks noChangeAspect="1"/>
          </p:cNvPicPr>
          <p:nvPr/>
        </p:nvPicPr>
        <p:blipFill>
          <a:blip r:embed="rId3"/>
          <a:srcRect l="0" r="-656" t="0" b="2455"/>
          <a:stretch/>
        </p:blipFill>
        <p:spPr>
          <a:xfrm>
            <a:off x="3836194" y="1838325"/>
            <a:ext cx="731044" cy="3121819"/>
          </a:xfrm>
          <a:prstGeom prst="rect">
            <a:avLst/>
          </a:prstGeom>
        </p:spPr>
      </p:pic>
      <p:sp>
        <p:nvSpPr>
          <p:cNvPr id="8" name="Shape 3"/>
          <p:cNvSpPr/>
          <p:nvPr/>
        </p:nvSpPr>
        <p:spPr>
          <a:xfrm>
            <a:off x="209550" y="1609725"/>
            <a:ext cx="1452563" cy="3429000"/>
          </a:xfrm>
          <a:prstGeom prst="rect">
            <a:avLst/>
          </a:prstGeom>
          <a:noFill/>
          <a:ln w="4524">
            <a:solidFill>
              <a:srgbClr val="E3E1DA"/>
            </a:solidFill>
            <a:prstDash val="solid"/>
          </a:ln>
        </p:spPr>
      </p:sp>
      <p:pic>
        <p:nvPicPr>
          <p:cNvPr id="9" name="Image 3" descr="preencoded.png">    </p:cNvPr>
          <p:cNvPicPr>
            <a:picLocks noChangeAspect="1"/>
          </p:cNvPicPr>
          <p:nvPr/>
        </p:nvPicPr>
        <p:blipFill>
          <a:blip r:embed="rId4"/>
          <a:srcRect l="0" r="0" t="0" b="0"/>
          <a:stretch/>
        </p:blipFill>
        <p:spPr>
          <a:xfrm>
            <a:off x="209550" y="1609725"/>
            <a:ext cx="1457325" cy="233362"/>
          </a:xfrm>
          <a:prstGeom prst="rect">
            <a:avLst/>
          </a:prstGeom>
        </p:spPr>
      </p:pic>
      <p:sp>
        <p:nvSpPr>
          <p:cNvPr id="10" name="Shape 4"/>
          <p:cNvSpPr/>
          <p:nvPr/>
        </p:nvSpPr>
        <p:spPr>
          <a:xfrm>
            <a:off x="209550" y="1838325"/>
            <a:ext cx="1452563" cy="3200400"/>
          </a:xfrm>
          <a:prstGeom prst="rect">
            <a:avLst/>
          </a:prstGeom>
          <a:noFill/>
          <a:ln/>
        </p:spPr>
      </p:sp>
      <p:pic>
        <p:nvPicPr>
          <p:cNvPr id="11" name="Image 4" descr="preencoded.png">    </p:cNvPr>
          <p:cNvPicPr>
            <a:picLocks noChangeAspect="1"/>
          </p:cNvPicPr>
          <p:nvPr/>
        </p:nvPicPr>
        <p:blipFill>
          <a:blip r:embed="rId5"/>
          <a:srcRect l="0" r="-656" t="0" b="2455"/>
          <a:stretch/>
        </p:blipFill>
        <p:spPr>
          <a:xfrm>
            <a:off x="209550" y="1838325"/>
            <a:ext cx="731044" cy="3121819"/>
          </a:xfrm>
          <a:prstGeom prst="rect">
            <a:avLst/>
          </a:prstGeom>
        </p:spPr>
      </p:pic>
      <p:pic>
        <p:nvPicPr>
          <p:cNvPr id="12" name="Image 5" descr="preencoded.png">    </p:cNvPr>
          <p:cNvPicPr>
            <a:picLocks noChangeAspect="1"/>
          </p:cNvPicPr>
          <p:nvPr/>
        </p:nvPicPr>
        <p:blipFill>
          <a:blip r:embed="rId6"/>
          <a:srcRect l="0" r="-656" t="0" b="2455"/>
          <a:stretch/>
        </p:blipFill>
        <p:spPr>
          <a:xfrm>
            <a:off x="935831" y="1838325"/>
            <a:ext cx="731044" cy="3121819"/>
          </a:xfrm>
          <a:prstGeom prst="rect">
            <a:avLst/>
          </a:prstGeom>
        </p:spPr>
      </p:pic>
      <p:sp>
        <p:nvSpPr>
          <p:cNvPr id="13" name="Shape 5"/>
          <p:cNvSpPr/>
          <p:nvPr/>
        </p:nvSpPr>
        <p:spPr>
          <a:xfrm>
            <a:off x="4562475" y="1609725"/>
            <a:ext cx="1447800" cy="3429000"/>
          </a:xfrm>
          <a:prstGeom prst="rect">
            <a:avLst/>
          </a:prstGeom>
          <a:noFill/>
          <a:ln w="4524">
            <a:solidFill>
              <a:srgbClr val="E3E1DA"/>
            </a:solidFill>
            <a:prstDash val="solid"/>
          </a:ln>
        </p:spPr>
      </p:sp>
      <p:pic>
        <p:nvPicPr>
          <p:cNvPr id="14" name="Image 6" descr="preencoded.png">    </p:cNvPr>
          <p:cNvPicPr>
            <a:picLocks noChangeAspect="1"/>
          </p:cNvPicPr>
          <p:nvPr/>
        </p:nvPicPr>
        <p:blipFill>
          <a:blip r:embed="rId7"/>
          <a:srcRect l="0" r="0" t="0" b="0"/>
          <a:stretch/>
        </p:blipFill>
        <p:spPr>
          <a:xfrm>
            <a:off x="4562475" y="1609725"/>
            <a:ext cx="1452563" cy="233362"/>
          </a:xfrm>
          <a:prstGeom prst="rect">
            <a:avLst/>
          </a:prstGeom>
        </p:spPr>
      </p:pic>
      <p:sp>
        <p:nvSpPr>
          <p:cNvPr id="15" name="Shape 6"/>
          <p:cNvSpPr/>
          <p:nvPr/>
        </p:nvSpPr>
        <p:spPr>
          <a:xfrm>
            <a:off x="4562475" y="1838325"/>
            <a:ext cx="1447800" cy="3200400"/>
          </a:xfrm>
          <a:prstGeom prst="rect">
            <a:avLst/>
          </a:prstGeom>
          <a:noFill/>
          <a:ln/>
        </p:spPr>
      </p:sp>
      <p:pic>
        <p:nvPicPr>
          <p:cNvPr id="16" name="Image 7" descr="preencoded.png">    </p:cNvPr>
          <p:cNvPicPr>
            <a:picLocks noChangeAspect="1"/>
          </p:cNvPicPr>
          <p:nvPr/>
        </p:nvPicPr>
        <p:blipFill>
          <a:blip r:embed="rId8"/>
          <a:srcRect l="0" r="-658" t="0" b="2455"/>
          <a:stretch/>
        </p:blipFill>
        <p:spPr>
          <a:xfrm>
            <a:off x="4562475" y="1838325"/>
            <a:ext cx="728663" cy="3121819"/>
          </a:xfrm>
          <a:prstGeom prst="rect">
            <a:avLst/>
          </a:prstGeom>
        </p:spPr>
      </p:pic>
      <p:pic>
        <p:nvPicPr>
          <p:cNvPr id="17" name="Image 8" descr="preencoded.png">    </p:cNvPr>
          <p:cNvPicPr>
            <a:picLocks noChangeAspect="1"/>
          </p:cNvPicPr>
          <p:nvPr/>
        </p:nvPicPr>
        <p:blipFill>
          <a:blip r:embed="rId9"/>
          <a:srcRect l="0" r="-658" t="0" b="2455"/>
          <a:stretch/>
        </p:blipFill>
        <p:spPr>
          <a:xfrm>
            <a:off x="5286375" y="1838325"/>
            <a:ext cx="728663" cy="3121819"/>
          </a:xfrm>
          <a:prstGeom prst="rect">
            <a:avLst/>
          </a:prstGeom>
        </p:spPr>
      </p:pic>
      <p:sp>
        <p:nvSpPr>
          <p:cNvPr id="18" name="Shape 7"/>
          <p:cNvSpPr/>
          <p:nvPr/>
        </p:nvSpPr>
        <p:spPr>
          <a:xfrm>
            <a:off x="1662113" y="1609725"/>
            <a:ext cx="1447800" cy="3429000"/>
          </a:xfrm>
          <a:prstGeom prst="rect">
            <a:avLst/>
          </a:prstGeom>
          <a:noFill/>
          <a:ln w="4524">
            <a:solidFill>
              <a:srgbClr val="E3E1DA"/>
            </a:solidFill>
            <a:prstDash val="solid"/>
          </a:ln>
        </p:spPr>
      </p:sp>
      <p:pic>
        <p:nvPicPr>
          <p:cNvPr id="19" name="Image 9" descr="preencoded.png">    </p:cNvPr>
          <p:cNvPicPr>
            <a:picLocks noChangeAspect="1"/>
          </p:cNvPicPr>
          <p:nvPr/>
        </p:nvPicPr>
        <p:blipFill>
          <a:blip r:embed="rId10"/>
          <a:srcRect l="0" r="0" t="0" b="0"/>
          <a:stretch/>
        </p:blipFill>
        <p:spPr>
          <a:xfrm>
            <a:off x="1662113" y="1609725"/>
            <a:ext cx="1452563" cy="233362"/>
          </a:xfrm>
          <a:prstGeom prst="rect">
            <a:avLst/>
          </a:prstGeom>
        </p:spPr>
      </p:pic>
      <p:sp>
        <p:nvSpPr>
          <p:cNvPr id="20" name="Shape 8"/>
          <p:cNvSpPr/>
          <p:nvPr/>
        </p:nvSpPr>
        <p:spPr>
          <a:xfrm>
            <a:off x="1662113" y="1838325"/>
            <a:ext cx="1447800" cy="3200400"/>
          </a:xfrm>
          <a:prstGeom prst="rect">
            <a:avLst/>
          </a:prstGeom>
          <a:noFill/>
          <a:ln/>
        </p:spPr>
      </p:sp>
      <p:pic>
        <p:nvPicPr>
          <p:cNvPr id="21" name="Image 10" descr="preencoded.png">    </p:cNvPr>
          <p:cNvPicPr>
            <a:picLocks noChangeAspect="1"/>
          </p:cNvPicPr>
          <p:nvPr/>
        </p:nvPicPr>
        <p:blipFill>
          <a:blip r:embed="rId11"/>
          <a:srcRect l="0" r="-658" t="0" b="2455"/>
          <a:stretch/>
        </p:blipFill>
        <p:spPr>
          <a:xfrm>
            <a:off x="1662113" y="1838325"/>
            <a:ext cx="728663" cy="3121819"/>
          </a:xfrm>
          <a:prstGeom prst="rect">
            <a:avLst/>
          </a:prstGeom>
        </p:spPr>
      </p:pic>
      <p:pic>
        <p:nvPicPr>
          <p:cNvPr id="22" name="Image 11" descr="preencoded.png">    </p:cNvPr>
          <p:cNvPicPr>
            <a:picLocks noChangeAspect="1"/>
          </p:cNvPicPr>
          <p:nvPr/>
        </p:nvPicPr>
        <p:blipFill>
          <a:blip r:embed="rId12"/>
          <a:srcRect l="0" r="-658" t="0" b="2455"/>
          <a:stretch/>
        </p:blipFill>
        <p:spPr>
          <a:xfrm>
            <a:off x="2386013" y="1838325"/>
            <a:ext cx="728663" cy="3121819"/>
          </a:xfrm>
          <a:prstGeom prst="rect">
            <a:avLst/>
          </a:prstGeom>
        </p:spPr>
      </p:pic>
      <p:sp>
        <p:nvSpPr>
          <p:cNvPr id="23" name="Shape 9"/>
          <p:cNvSpPr/>
          <p:nvPr/>
        </p:nvSpPr>
        <p:spPr>
          <a:xfrm>
            <a:off x="6010275" y="1609725"/>
            <a:ext cx="1452563" cy="3429000"/>
          </a:xfrm>
          <a:prstGeom prst="rect">
            <a:avLst/>
          </a:prstGeom>
          <a:noFill/>
          <a:ln w="4524">
            <a:solidFill>
              <a:srgbClr val="E3E1DA"/>
            </a:solidFill>
            <a:prstDash val="solid"/>
          </a:ln>
        </p:spPr>
      </p:sp>
      <p:pic>
        <p:nvPicPr>
          <p:cNvPr id="24" name="Image 12" descr="preencoded.png">    </p:cNvPr>
          <p:cNvPicPr>
            <a:picLocks noChangeAspect="1"/>
          </p:cNvPicPr>
          <p:nvPr/>
        </p:nvPicPr>
        <p:blipFill>
          <a:blip r:embed="rId13"/>
          <a:srcRect l="0" r="0" t="0" b="0"/>
          <a:stretch/>
        </p:blipFill>
        <p:spPr>
          <a:xfrm>
            <a:off x="6010275" y="1609725"/>
            <a:ext cx="1457325" cy="233362"/>
          </a:xfrm>
          <a:prstGeom prst="rect">
            <a:avLst/>
          </a:prstGeom>
        </p:spPr>
      </p:pic>
      <p:sp>
        <p:nvSpPr>
          <p:cNvPr id="25" name="Shape 10"/>
          <p:cNvSpPr/>
          <p:nvPr/>
        </p:nvSpPr>
        <p:spPr>
          <a:xfrm>
            <a:off x="6010275" y="1838325"/>
            <a:ext cx="1452563" cy="3200400"/>
          </a:xfrm>
          <a:prstGeom prst="rect">
            <a:avLst/>
          </a:prstGeom>
          <a:noFill/>
          <a:ln/>
        </p:spPr>
      </p:sp>
      <p:pic>
        <p:nvPicPr>
          <p:cNvPr id="26" name="Image 13" descr="preencoded.png">    </p:cNvPr>
          <p:cNvPicPr>
            <a:picLocks noChangeAspect="1"/>
          </p:cNvPicPr>
          <p:nvPr/>
        </p:nvPicPr>
        <p:blipFill>
          <a:blip r:embed="rId14"/>
          <a:srcRect l="0" r="-656" t="0" b="2455"/>
          <a:stretch/>
        </p:blipFill>
        <p:spPr>
          <a:xfrm>
            <a:off x="6010275" y="1838325"/>
            <a:ext cx="731044" cy="3121819"/>
          </a:xfrm>
          <a:prstGeom prst="rect">
            <a:avLst/>
          </a:prstGeom>
        </p:spPr>
      </p:pic>
      <p:pic>
        <p:nvPicPr>
          <p:cNvPr id="27" name="Image 14" descr="preencoded.png">    </p:cNvPr>
          <p:cNvPicPr>
            <a:picLocks noChangeAspect="1"/>
          </p:cNvPicPr>
          <p:nvPr/>
        </p:nvPicPr>
        <p:blipFill>
          <a:blip r:embed="rId15"/>
          <a:srcRect l="0" r="-656" t="0" b="2455"/>
          <a:stretch/>
        </p:blipFill>
        <p:spPr>
          <a:xfrm>
            <a:off x="6736556" y="1838325"/>
            <a:ext cx="731044" cy="3121819"/>
          </a:xfrm>
          <a:prstGeom prst="rect">
            <a:avLst/>
          </a:prstGeom>
        </p:spPr>
      </p:pic>
      <p:sp>
        <p:nvSpPr>
          <p:cNvPr id="28" name="Shape 11"/>
          <p:cNvSpPr/>
          <p:nvPr/>
        </p:nvSpPr>
        <p:spPr>
          <a:xfrm>
            <a:off x="7462838" y="1609725"/>
            <a:ext cx="1447800" cy="3429000"/>
          </a:xfrm>
          <a:prstGeom prst="rect">
            <a:avLst/>
          </a:prstGeom>
          <a:noFill/>
          <a:ln w="4524">
            <a:solidFill>
              <a:srgbClr val="E3E1DA"/>
            </a:solidFill>
            <a:prstDash val="solid"/>
          </a:ln>
        </p:spPr>
      </p:sp>
      <p:pic>
        <p:nvPicPr>
          <p:cNvPr id="29" name="Image 15" descr="preencoded.png">    </p:cNvPr>
          <p:cNvPicPr>
            <a:picLocks noChangeAspect="1"/>
          </p:cNvPicPr>
          <p:nvPr/>
        </p:nvPicPr>
        <p:blipFill>
          <a:blip r:embed="rId16"/>
          <a:srcRect l="0" r="0" t="0" b="0"/>
          <a:stretch/>
        </p:blipFill>
        <p:spPr>
          <a:xfrm>
            <a:off x="7462838" y="1609725"/>
            <a:ext cx="1452563" cy="233362"/>
          </a:xfrm>
          <a:prstGeom prst="rect">
            <a:avLst/>
          </a:prstGeom>
        </p:spPr>
      </p:pic>
      <p:sp>
        <p:nvSpPr>
          <p:cNvPr id="30" name="Shape 12"/>
          <p:cNvSpPr/>
          <p:nvPr/>
        </p:nvSpPr>
        <p:spPr>
          <a:xfrm>
            <a:off x="7462838" y="1838325"/>
            <a:ext cx="1447800" cy="3200400"/>
          </a:xfrm>
          <a:prstGeom prst="rect">
            <a:avLst/>
          </a:prstGeom>
          <a:noFill/>
          <a:ln/>
        </p:spPr>
      </p:sp>
      <p:pic>
        <p:nvPicPr>
          <p:cNvPr id="31" name="Image 16" descr="preencoded.png">    </p:cNvPr>
          <p:cNvPicPr>
            <a:picLocks noChangeAspect="1"/>
          </p:cNvPicPr>
          <p:nvPr/>
        </p:nvPicPr>
        <p:blipFill>
          <a:blip r:embed="rId17"/>
          <a:srcRect l="0" r="-39726" t="0" b="2455"/>
          <a:stretch/>
        </p:blipFill>
        <p:spPr>
          <a:xfrm>
            <a:off x="7462838" y="1838325"/>
            <a:ext cx="728663" cy="3121819"/>
          </a:xfrm>
          <a:prstGeom prst="rect">
            <a:avLst/>
          </a:prstGeom>
        </p:spPr>
      </p:pic>
      <p:pic>
        <p:nvPicPr>
          <p:cNvPr id="32" name="Image 17" descr="preencoded.png">    </p:cNvPr>
          <p:cNvPicPr>
            <a:picLocks noChangeAspect="1"/>
          </p:cNvPicPr>
          <p:nvPr/>
        </p:nvPicPr>
        <p:blipFill>
          <a:blip r:embed="rId18"/>
          <a:srcRect l="0" r="-39726" t="0" b="2455"/>
          <a:stretch/>
        </p:blipFill>
        <p:spPr>
          <a:xfrm>
            <a:off x="8186738" y="1838325"/>
            <a:ext cx="728663" cy="3121819"/>
          </a:xfrm>
          <a:prstGeom prst="rect">
            <a:avLst/>
          </a:prstGeom>
        </p:spPr>
      </p:pic>
      <p:pic>
        <p:nvPicPr>
          <p:cNvPr id="33" name="Image 18" descr="preencoded.png">    </p:cNvPr>
          <p:cNvPicPr>
            <a:picLocks noChangeAspect="1"/>
          </p:cNvPicPr>
          <p:nvPr/>
        </p:nvPicPr>
        <p:blipFill>
          <a:blip r:embed="rId19"/>
          <a:srcRect l="0" r="0" t="0" b="0"/>
          <a:stretch/>
        </p:blipFill>
        <p:spPr>
          <a:xfrm>
            <a:off x="3109913" y="1304925"/>
            <a:ext cx="2905125" cy="309563"/>
          </a:xfrm>
          <a:prstGeom prst="rect">
            <a:avLst/>
          </a:prstGeom>
        </p:spPr>
      </p:pic>
      <p:pic>
        <p:nvPicPr>
          <p:cNvPr id="34" name="Image 19" descr="preencoded.png">    </p:cNvPr>
          <p:cNvPicPr>
            <a:picLocks noChangeAspect="1"/>
          </p:cNvPicPr>
          <p:nvPr/>
        </p:nvPicPr>
        <p:blipFill>
          <a:blip r:embed="rId20"/>
          <a:srcRect l="0" r="0" t="0" b="0"/>
          <a:stretch/>
        </p:blipFill>
        <p:spPr>
          <a:xfrm>
            <a:off x="209550" y="1304925"/>
            <a:ext cx="2905125" cy="309563"/>
          </a:xfrm>
          <a:prstGeom prst="rect">
            <a:avLst/>
          </a:prstGeom>
        </p:spPr>
      </p:pic>
      <p:pic>
        <p:nvPicPr>
          <p:cNvPr id="35" name="Image 20" descr="preencoded.png">    </p:cNvPr>
          <p:cNvPicPr>
            <a:picLocks noChangeAspect="1"/>
          </p:cNvPicPr>
          <p:nvPr/>
        </p:nvPicPr>
        <p:blipFill>
          <a:blip r:embed="rId21"/>
          <a:srcRect l="0" r="0" t="0" b="0"/>
          <a:stretch/>
        </p:blipFill>
        <p:spPr>
          <a:xfrm>
            <a:off x="6010275" y="1304925"/>
            <a:ext cx="2905125" cy="309563"/>
          </a:xfrm>
          <a:prstGeom prst="rect">
            <a:avLst/>
          </a:prstGeom>
        </p:spPr>
      </p:pic>
      <p:pic>
        <p:nvPicPr>
          <p:cNvPr id="36" name="Image 21" descr="preencoded.png">    </p:cNvPr>
          <p:cNvPicPr>
            <a:picLocks noChangeAspect="1"/>
          </p:cNvPicPr>
          <p:nvPr/>
        </p:nvPicPr>
        <p:blipFill>
          <a:blip r:embed="rId22"/>
          <a:srcRect l="0" r="0" t="0" b="0"/>
          <a:stretch/>
        </p:blipFill>
        <p:spPr>
          <a:xfrm>
            <a:off x="209550" y="2143125"/>
            <a:ext cx="723900" cy="342900"/>
          </a:xfrm>
          <a:prstGeom prst="rect">
            <a:avLst/>
          </a:prstGeom>
        </p:spPr>
      </p:pic>
      <p:pic>
        <p:nvPicPr>
          <p:cNvPr id="37" name="Image 22" descr="preencoded.png">    </p:cNvPr>
          <p:cNvPicPr>
            <a:picLocks noChangeAspect="1"/>
          </p:cNvPicPr>
          <p:nvPr/>
        </p:nvPicPr>
        <p:blipFill>
          <a:blip r:embed="rId23"/>
          <a:srcRect l="0" r="0" t="0" b="0"/>
          <a:stretch/>
        </p:blipFill>
        <p:spPr>
          <a:xfrm>
            <a:off x="933450" y="2486025"/>
            <a:ext cx="1452563" cy="342900"/>
          </a:xfrm>
          <a:prstGeom prst="rect">
            <a:avLst/>
          </a:prstGeom>
        </p:spPr>
      </p:pic>
      <p:pic>
        <p:nvPicPr>
          <p:cNvPr id="38" name="Image 23" descr="preencoded.png">    </p:cNvPr>
          <p:cNvPicPr>
            <a:picLocks noChangeAspect="1"/>
          </p:cNvPicPr>
          <p:nvPr/>
        </p:nvPicPr>
        <p:blipFill>
          <a:blip r:embed="rId24"/>
          <a:srcRect l="0" r="0" t="0" b="0"/>
          <a:stretch/>
        </p:blipFill>
        <p:spPr>
          <a:xfrm>
            <a:off x="2386013" y="2828925"/>
            <a:ext cx="2176463" cy="342900"/>
          </a:xfrm>
          <a:prstGeom prst="rect">
            <a:avLst/>
          </a:prstGeom>
        </p:spPr>
      </p:pic>
      <p:pic>
        <p:nvPicPr>
          <p:cNvPr id="39" name="Image 24" descr="preencoded.png">    </p:cNvPr>
          <p:cNvPicPr>
            <a:picLocks noChangeAspect="1"/>
          </p:cNvPicPr>
          <p:nvPr/>
        </p:nvPicPr>
        <p:blipFill>
          <a:blip r:embed="rId25"/>
          <a:srcRect l="0" r="0" t="0" b="0"/>
          <a:stretch/>
        </p:blipFill>
        <p:spPr>
          <a:xfrm>
            <a:off x="3833812" y="3200400"/>
            <a:ext cx="1452563" cy="342900"/>
          </a:xfrm>
          <a:prstGeom prst="rect">
            <a:avLst/>
          </a:prstGeom>
        </p:spPr>
      </p:pic>
      <p:pic>
        <p:nvPicPr>
          <p:cNvPr id="40" name="Image 25" descr="preencoded.png">    </p:cNvPr>
          <p:cNvPicPr>
            <a:picLocks noChangeAspect="1"/>
          </p:cNvPicPr>
          <p:nvPr/>
        </p:nvPicPr>
        <p:blipFill>
          <a:blip r:embed="rId26"/>
          <a:srcRect l="0" r="0" t="0" b="0"/>
          <a:stretch/>
        </p:blipFill>
        <p:spPr>
          <a:xfrm>
            <a:off x="4562475" y="3543300"/>
            <a:ext cx="2900363" cy="342900"/>
          </a:xfrm>
          <a:prstGeom prst="rect">
            <a:avLst/>
          </a:prstGeom>
        </p:spPr>
      </p:pic>
      <p:pic>
        <p:nvPicPr>
          <p:cNvPr id="41" name="Image 26" descr="preencoded.png">    </p:cNvPr>
          <p:cNvPicPr>
            <a:picLocks noChangeAspect="1"/>
          </p:cNvPicPr>
          <p:nvPr/>
        </p:nvPicPr>
        <p:blipFill>
          <a:blip r:embed="rId27"/>
          <a:srcRect l="0" r="0" t="0" b="0"/>
          <a:stretch/>
        </p:blipFill>
        <p:spPr>
          <a:xfrm>
            <a:off x="6010275" y="3886200"/>
            <a:ext cx="2176463" cy="342900"/>
          </a:xfrm>
          <a:prstGeom prst="rect">
            <a:avLst/>
          </a:prstGeom>
        </p:spPr>
      </p:pic>
      <p:pic>
        <p:nvPicPr>
          <p:cNvPr id="42" name="Image 27" descr="preencoded.png">    </p:cNvPr>
          <p:cNvPicPr>
            <a:picLocks noChangeAspect="1"/>
          </p:cNvPicPr>
          <p:nvPr/>
        </p:nvPicPr>
        <p:blipFill>
          <a:blip r:embed="rId28"/>
          <a:srcRect l="0" r="0" t="0" b="0"/>
          <a:stretch/>
        </p:blipFill>
        <p:spPr>
          <a:xfrm>
            <a:off x="7462838" y="4229100"/>
            <a:ext cx="1447800" cy="342900"/>
          </a:xfrm>
          <a:prstGeom prst="rect">
            <a:avLst/>
          </a:prstGeom>
        </p:spPr>
      </p:pic>
      <p:pic>
        <p:nvPicPr>
          <p:cNvPr id="43" name="Image 28" descr="preencoded.png">    </p:cNvPr>
          <p:cNvPicPr>
            <a:picLocks noChangeAspect="1"/>
          </p:cNvPicPr>
          <p:nvPr/>
        </p:nvPicPr>
        <p:blipFill>
          <a:blip r:embed="rId29"/>
          <a:srcRect l="0" r="0" t="0" b="0"/>
          <a:stretch/>
        </p:blipFill>
        <p:spPr>
          <a:xfrm>
            <a:off x="2295525" y="2809875"/>
            <a:ext cx="373540" cy="876872"/>
          </a:xfrm>
          <a:prstGeom prst="rect">
            <a:avLst/>
          </a:prstGeom>
        </p:spPr>
      </p:pic>
      <p:pic>
        <p:nvPicPr>
          <p:cNvPr id="44" name="Image 29" descr="preencoded.png">    </p:cNvPr>
          <p:cNvPicPr>
            <a:picLocks noChangeAspect="1"/>
          </p:cNvPicPr>
          <p:nvPr/>
        </p:nvPicPr>
        <p:blipFill>
          <a:blip r:embed="rId30"/>
          <a:srcRect l="0" r="0" t="0" b="0"/>
          <a:stretch/>
        </p:blipFill>
        <p:spPr>
          <a:xfrm>
            <a:off x="4495800" y="3524250"/>
            <a:ext cx="373707" cy="876872"/>
          </a:xfrm>
          <a:prstGeom prst="rect">
            <a:avLst/>
          </a:prstGeom>
        </p:spPr>
      </p:pic>
      <p:pic>
        <p:nvPicPr>
          <p:cNvPr id="45" name="Image 30" descr="preencoded.png">    </p:cNvPr>
          <p:cNvPicPr>
            <a:picLocks noChangeAspect="1"/>
          </p:cNvPicPr>
          <p:nvPr/>
        </p:nvPicPr>
        <p:blipFill>
          <a:blip r:embed="rId31"/>
          <a:srcRect l="0" r="0" t="0" b="0"/>
          <a:stretch/>
        </p:blipFill>
        <p:spPr>
          <a:xfrm>
            <a:off x="6777038" y="3867150"/>
            <a:ext cx="372852" cy="1081660"/>
          </a:xfrm>
          <a:prstGeom prst="rect">
            <a:avLst/>
          </a:prstGeom>
        </p:spPr>
      </p:pic>
      <p:pic>
        <p:nvPicPr>
          <p:cNvPr id="46" name="Image 31" descr="preencoded.png">    </p:cNvPr>
          <p:cNvPicPr>
            <a:picLocks noChangeAspect="1"/>
          </p:cNvPicPr>
          <p:nvPr/>
        </p:nvPicPr>
        <p:blipFill>
          <a:blip r:embed="rId32"/>
          <a:srcRect l="0" r="0" t="0" b="0"/>
          <a:stretch/>
        </p:blipFill>
        <p:spPr>
          <a:xfrm>
            <a:off x="8353425" y="4552950"/>
            <a:ext cx="375307" cy="414910"/>
          </a:xfrm>
          <a:prstGeom prst="rect">
            <a:avLst/>
          </a:prstGeom>
        </p:spPr>
      </p:pic>
      <p:sp>
        <p:nvSpPr>
          <p:cNvPr id="47" name="Shape 13"/>
          <p:cNvSpPr/>
          <p:nvPr/>
        </p:nvSpPr>
        <p:spPr>
          <a:xfrm>
            <a:off x="376238" y="778669"/>
            <a:ext cx="4148137" cy="366713"/>
          </a:xfrm>
          <a:prstGeom prst="rect">
            <a:avLst/>
          </a:prstGeom>
          <a:noFill/>
          <a:ln/>
        </p:spPr>
      </p:sp>
      <p:sp>
        <p:nvSpPr>
          <p:cNvPr id="48" name="Text 14"/>
          <p:cNvSpPr/>
          <p:nvPr/>
        </p:nvSpPr>
        <p:spPr>
          <a:xfrm>
            <a:off x="376238" y="778669"/>
            <a:ext cx="4148137" cy="366713"/>
          </a:xfrm>
          <a:prstGeom prst="rect">
            <a:avLst/>
          </a:prstGeom>
          <a:noFill/>
          <a:ln/>
        </p:spPr>
        <p:txBody>
          <a:bodyPr wrap="square" lIns="0" tIns="0" rIns="0" bIns="0" rtlCol="0" anchor="t"/>
          <a:lstStyle/>
          <a:p>
            <a:pPr algn="l" indent="0" marL="0">
              <a:lnSpc>
                <a:spcPts val="2743"/>
              </a:lnSpc>
              <a:buNone/>
            </a:pPr>
            <a:r>
              <a:rPr lang="en-US" sz="2494" spc="-55" kern="0" dirty="0">
                <a:solidFill>
                  <a:srgbClr val="FFFFFF">
                    <a:alpha val="99000"/>
                  </a:srgbClr>
                </a:solidFill>
                <a:latin typeface="Roboto" pitchFamily="34" charset="0"/>
                <a:ea typeface="Roboto" pitchFamily="34" charset="-122"/>
                <a:cs typeface="Roboto" pitchFamily="34" charset="-120"/>
              </a:rPr>
              <a:t>Project roadmap</a:t>
            </a:r>
            <a:endParaRPr lang="en-US" sz="2494"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name="Slide 5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76238" y="778669"/>
            <a:ext cx="4148137" cy="366713"/>
          </a:xfrm>
          <a:prstGeom prst="rect">
            <a:avLst/>
          </a:prstGeom>
          <a:noFill/>
          <a:ln/>
        </p:spPr>
      </p:sp>
      <p:sp>
        <p:nvSpPr>
          <p:cNvPr id="3" name="Text 1"/>
          <p:cNvSpPr/>
          <p:nvPr/>
        </p:nvSpPr>
        <p:spPr>
          <a:xfrm>
            <a:off x="376238" y="778669"/>
            <a:ext cx="4148137" cy="366713"/>
          </a:xfrm>
          <a:prstGeom prst="rect">
            <a:avLst/>
          </a:prstGeom>
          <a:noFill/>
          <a:ln/>
        </p:spPr>
        <p:txBody>
          <a:bodyPr wrap="square" lIns="0" tIns="0" rIns="0" bIns="0" rtlCol="0" anchor="t"/>
          <a:lstStyle/>
          <a:p>
            <a:pPr algn="l" indent="0" marL="0">
              <a:lnSpc>
                <a:spcPts val="2743"/>
              </a:lnSpc>
              <a:buNone/>
            </a:pPr>
            <a:r>
              <a:rPr lang="en-US" sz="2494" spc="-55" kern="0" dirty="0">
                <a:solidFill>
                  <a:srgbClr val="FFFFFF">
                    <a:alpha val="99000"/>
                  </a:srgbClr>
                </a:solidFill>
                <a:latin typeface="Roboto" pitchFamily="34" charset="0"/>
                <a:ea typeface="Roboto" pitchFamily="34" charset="-122"/>
                <a:cs typeface="Roboto" pitchFamily="34" charset="-120"/>
              </a:rPr>
              <a:t>Project roadmap</a:t>
            </a:r>
            <a:endParaRPr lang="en-US" sz="2494" dirty="0"/>
          </a:p>
        </p:txBody>
      </p:sp>
      <p:sp>
        <p:nvSpPr>
          <p:cNvPr id="4" name="Text 2"/>
          <p:cNvSpPr/>
          <p:nvPr/>
        </p:nvSpPr>
        <p:spPr>
          <a:xfrm>
            <a:off x="376238" y="1809750"/>
            <a:ext cx="6805613" cy="257175"/>
          </a:xfrm>
          <a:prstGeom prst="rect">
            <a:avLst/>
          </a:prstGeom>
          <a:noFill/>
          <a:ln/>
        </p:spPr>
        <p:txBody>
          <a:bodyPr wrap="square" lIns="0" tIns="0" rIns="0" bIns="0" rtlCol="0" anchor="t"/>
          <a:lstStyle/>
          <a:p>
            <a:pPr algn="l" indent="0" marL="0">
              <a:lnSpc>
                <a:spcPts val="1924"/>
              </a:lnSpc>
              <a:buNone/>
            </a:pPr>
            <a:r>
              <a:rPr lang="en-US" sz="1283" u="sng" spc="-28" kern="0" dirty="0">
                <a:solidFill>
                  <a:srgbClr val="FFFFFF">
                    <a:alpha val="99000"/>
                  </a:srgbClr>
                </a:solid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https://miro.com/app/board/uXjVHLRKfUE=/</a:t>
            </a:r>
            <a:endParaRPr lang="en-US" sz="1283"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714500" y="1850231"/>
            <a:ext cx="5715000" cy="1447800"/>
          </a:xfrm>
          <a:prstGeom prst="rect">
            <a:avLst/>
          </a:prstGeom>
          <a:noFill/>
          <a:ln/>
        </p:spPr>
      </p:sp>
      <p:sp>
        <p:nvSpPr>
          <p:cNvPr id="3" name="Text 1"/>
          <p:cNvSpPr/>
          <p:nvPr/>
        </p:nvSpPr>
        <p:spPr>
          <a:xfrm>
            <a:off x="1714500" y="1850231"/>
            <a:ext cx="5715000" cy="1095375"/>
          </a:xfrm>
          <a:prstGeom prst="rect">
            <a:avLst/>
          </a:prstGeom>
          <a:noFill/>
          <a:ln/>
        </p:spPr>
        <p:txBody>
          <a:bodyPr wrap="square" lIns="0" tIns="0" rIns="0" bIns="0" rtlCol="0" anchor="t"/>
          <a:lstStyle/>
          <a:p>
            <a:pPr algn="ctr" indent="0" marL="0">
              <a:lnSpc>
                <a:spcPts val="4104"/>
              </a:lnSpc>
              <a:buNone/>
            </a:pPr>
            <a:r>
              <a:rPr lang="en-US" sz="3420" b="1" spc="-68" kern="0" dirty="0">
                <a:solidFill>
                  <a:srgbClr val="000000"/>
                </a:solidFill>
                <a:latin typeface="Inter" pitchFamily="34" charset="0"/>
                <a:ea typeface="Inter" pitchFamily="34" charset="-122"/>
                <a:cs typeface="Inter" pitchFamily="34" charset="-120"/>
              </a:rPr>
              <a:t>Questions or new ideas?</a:t>
            </a:r>
            <a:endParaRPr lang="en-US" sz="3420" dirty="0"/>
          </a:p>
          <a:p>
            <a:pPr algn="ctr" indent="0" marL="0">
              <a:lnSpc>
                <a:spcPts val="4104"/>
              </a:lnSpc>
              <a:buNone/>
            </a:pPr>
            <a:r>
              <a:rPr lang="en-US" sz="3420" b="1" spc="-68" kern="0" dirty="0">
                <a:solidFill>
                  <a:srgbClr val="000000"/>
                </a:solidFill>
                <a:latin typeface="Inter" pitchFamily="34" charset="0"/>
                <a:ea typeface="Inter" pitchFamily="34" charset="-122"/>
                <a:cs typeface="Inter" pitchFamily="34" charset="-120"/>
              </a:rPr>
              <a:t>Thanks!</a:t>
            </a:r>
            <a:endParaRPr lang="en-US" sz="3420" dirty="0"/>
          </a:p>
        </p:txBody>
      </p:sp>
      <p:sp>
        <p:nvSpPr>
          <p:cNvPr id="4" name="Text 2"/>
          <p:cNvSpPr/>
          <p:nvPr/>
        </p:nvSpPr>
        <p:spPr>
          <a:xfrm>
            <a:off x="1714500" y="3059906"/>
            <a:ext cx="5715000" cy="238125"/>
          </a:xfrm>
          <a:prstGeom prst="rect">
            <a:avLst/>
          </a:prstGeom>
          <a:noFill/>
          <a:ln/>
        </p:spPr>
        <p:txBody>
          <a:bodyPr wrap="square" lIns="0" tIns="0" rIns="0" bIns="0" rtlCol="0" anchor="t"/>
          <a:lstStyle/>
          <a:p>
            <a:pPr algn="ctr" indent="0" marL="0">
              <a:lnSpc>
                <a:spcPts val="1795"/>
              </a:lnSpc>
              <a:buNone/>
            </a:pPr>
            <a:r>
              <a:rPr lang="en-US" sz="1283" spc="-13" kern="0" dirty="0">
                <a:solidFill>
                  <a:srgbClr val="000000">
                    <a:alpha val="99000"/>
                  </a:srgbClr>
                </a:solidFill>
                <a:latin typeface="Inter" pitchFamily="34" charset="0"/>
                <a:ea typeface="Inter" pitchFamily="34" charset="-122"/>
                <a:cs typeface="Inter" pitchFamily="34" charset="-120"/>
              </a:rPr>
              <a:t>email@cochlear.ai</a:t>
            </a:r>
            <a:endParaRPr lang="en-US" sz="1283" dirty="0"/>
          </a:p>
        </p:txBody>
      </p:sp>
      <p:sp>
        <p:nvSpPr>
          <p:cNvPr id="5" name="Text 3"/>
          <p:cNvSpPr/>
          <p:nvPr/>
        </p:nvSpPr>
        <p:spPr>
          <a:xfrm>
            <a:off x="1714500" y="4414838"/>
            <a:ext cx="5715000" cy="152400"/>
          </a:xfrm>
          <a:prstGeom prst="rect">
            <a:avLst/>
          </a:prstGeom>
          <a:noFill/>
          <a:ln/>
        </p:spPr>
        <p:txBody>
          <a:bodyPr wrap="square" lIns="0" tIns="0" rIns="0" bIns="0" rtlCol="0" anchor="t"/>
          <a:lstStyle/>
          <a:p>
            <a:pPr algn="ctr" indent="0" marL="0">
              <a:lnSpc>
                <a:spcPts val="1146"/>
              </a:lnSpc>
              <a:buNone/>
            </a:pPr>
            <a:r>
              <a:rPr lang="en-US" sz="855" u="sng" spc="-4" kern="0" dirty="0">
                <a:solidFill>
                  <a:srgbClr val="4B68FF">
                    <a:alpha val="99000"/>
                  </a:srgbClr>
                </a:solidFill>
                <a:latin typeface="Inter" pitchFamily="34" charset="0"/>
                <a:ea typeface="Inter" pitchFamily="34" charset="-122"/>
                <a:cs typeface="Inter" pitchFamily="34" charset="-120"/>
              </a:rPr>
              <a:t>Project link</a:t>
            </a:r>
            <a:endParaRPr lang="en-US" sz="855" dirty="0"/>
          </a:p>
        </p:txBody>
      </p:sp>
      <p:pic>
        <p:nvPicPr>
          <p:cNvPr id="6" name="Image 0" descr="preencoded.png">    </p:cNvPr>
          <p:cNvPicPr>
            <a:picLocks noChangeAspect="1"/>
          </p:cNvPicPr>
          <p:nvPr/>
        </p:nvPicPr>
        <p:blipFill>
          <a:blip r:embed="rId1"/>
          <a:srcRect l="0" r="0" t="0" b="0"/>
          <a:stretch/>
        </p:blipFill>
        <p:spPr>
          <a:xfrm>
            <a:off x="4114800" y="828675"/>
            <a:ext cx="825503" cy="171450"/>
          </a:xfrm>
          <a:prstGeom prst="rect">
            <a:avLst/>
          </a:prstGeom>
        </p:spPr>
      </p:pic>
      <p:pic>
        <p:nvPicPr>
          <p:cNvPr id="7" name="Image 1" descr="preencoded.png">    </p:cNvPr>
          <p:cNvPicPr>
            <a:picLocks noChangeAspect="1"/>
          </p:cNvPicPr>
          <p:nvPr/>
        </p:nvPicPr>
        <p:blipFill>
          <a:blip r:embed="rId2"/>
          <a:srcRect l="0" r="0" t="0" b="0"/>
          <a:stretch/>
        </p:blipFill>
        <p:spPr>
          <a:xfrm>
            <a:off x="4114800" y="828675"/>
            <a:ext cx="158753" cy="17145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1714500" y="1850231"/>
            <a:ext cx="5715000" cy="1447800"/>
          </a:xfrm>
          <a:prstGeom prst="rect">
            <a:avLst/>
          </a:prstGeom>
          <a:noFill/>
          <a:ln/>
        </p:spPr>
      </p:sp>
      <p:sp>
        <p:nvSpPr>
          <p:cNvPr id="3" name="Text 1"/>
          <p:cNvSpPr/>
          <p:nvPr/>
        </p:nvSpPr>
        <p:spPr>
          <a:xfrm>
            <a:off x="1714500" y="1850231"/>
            <a:ext cx="5715000" cy="1095375"/>
          </a:xfrm>
          <a:prstGeom prst="rect">
            <a:avLst/>
          </a:prstGeom>
          <a:noFill/>
          <a:ln/>
        </p:spPr>
        <p:txBody>
          <a:bodyPr wrap="square" lIns="0" tIns="0" rIns="0" bIns="0" rtlCol="0" anchor="t"/>
          <a:lstStyle/>
          <a:p>
            <a:pPr algn="ctr" indent="0" marL="0">
              <a:lnSpc>
                <a:spcPts val="4104"/>
              </a:lnSpc>
              <a:buNone/>
            </a:pPr>
            <a:r>
              <a:rPr lang="en-US" sz="3420" b="1" spc="-68" kern="0" dirty="0">
                <a:solidFill>
                  <a:srgbClr val="000000"/>
                </a:solidFill>
                <a:latin typeface="Inter" pitchFamily="34" charset="0"/>
                <a:ea typeface="Inter" pitchFamily="34" charset="-122"/>
                <a:cs typeface="Inter" pitchFamily="34" charset="-120"/>
              </a:rPr>
              <a:t>Questions or new ideas?</a:t>
            </a:r>
            <a:endParaRPr lang="en-US" sz="3420" dirty="0"/>
          </a:p>
          <a:p>
            <a:pPr algn="ctr" indent="0" marL="0">
              <a:lnSpc>
                <a:spcPts val="4104"/>
              </a:lnSpc>
              <a:buNone/>
            </a:pPr>
            <a:r>
              <a:rPr lang="en-US" sz="3420" b="1" spc="-68" kern="0" dirty="0">
                <a:solidFill>
                  <a:srgbClr val="000000"/>
                </a:solidFill>
                <a:latin typeface="Inter" pitchFamily="34" charset="0"/>
                <a:ea typeface="Inter" pitchFamily="34" charset="-122"/>
                <a:cs typeface="Inter" pitchFamily="34" charset="-120"/>
              </a:rPr>
              <a:t>Thanks!</a:t>
            </a:r>
            <a:endParaRPr lang="en-US" sz="3420" dirty="0"/>
          </a:p>
        </p:txBody>
      </p:sp>
      <p:sp>
        <p:nvSpPr>
          <p:cNvPr id="4" name="Text 2"/>
          <p:cNvSpPr/>
          <p:nvPr/>
        </p:nvSpPr>
        <p:spPr>
          <a:xfrm>
            <a:off x="1714500" y="3059906"/>
            <a:ext cx="5715000" cy="238125"/>
          </a:xfrm>
          <a:prstGeom prst="rect">
            <a:avLst/>
          </a:prstGeom>
          <a:noFill/>
          <a:ln/>
        </p:spPr>
        <p:txBody>
          <a:bodyPr wrap="square" lIns="0" tIns="0" rIns="0" bIns="0" rtlCol="0" anchor="t"/>
          <a:lstStyle/>
          <a:p>
            <a:pPr algn="ctr" indent="0" marL="0">
              <a:lnSpc>
                <a:spcPts val="1795"/>
              </a:lnSpc>
              <a:buNone/>
            </a:pPr>
            <a:r>
              <a:rPr lang="en-US" sz="1283" spc="-13" kern="0" dirty="0">
                <a:solidFill>
                  <a:srgbClr val="FFFFFF">
                    <a:alpha val="99000"/>
                  </a:srgbClr>
                </a:solidFill>
                <a:latin typeface="Inter" pitchFamily="34" charset="0"/>
                <a:ea typeface="Inter" pitchFamily="34" charset="-122"/>
                <a:cs typeface="Inter" pitchFamily="34" charset="-120"/>
              </a:rPr>
              <a:t>email@cochlear.ai</a:t>
            </a:r>
            <a:endParaRPr lang="en-US" sz="1283" dirty="0"/>
          </a:p>
        </p:txBody>
      </p:sp>
      <p:sp>
        <p:nvSpPr>
          <p:cNvPr id="5" name="Text 3"/>
          <p:cNvSpPr/>
          <p:nvPr/>
        </p:nvSpPr>
        <p:spPr>
          <a:xfrm>
            <a:off x="1714500" y="4414838"/>
            <a:ext cx="5715000" cy="152400"/>
          </a:xfrm>
          <a:prstGeom prst="rect">
            <a:avLst/>
          </a:prstGeom>
          <a:noFill/>
          <a:ln/>
        </p:spPr>
        <p:txBody>
          <a:bodyPr wrap="square" lIns="0" tIns="0" rIns="0" bIns="0" rtlCol="0" anchor="t"/>
          <a:lstStyle/>
          <a:p>
            <a:pPr algn="ctr" indent="0" marL="0">
              <a:lnSpc>
                <a:spcPts val="1146"/>
              </a:lnSpc>
              <a:buNone/>
            </a:pPr>
            <a:r>
              <a:rPr lang="en-US" sz="855" u="sng" spc="-4" kern="0" dirty="0">
                <a:solidFill>
                  <a:srgbClr val="4B68FF">
                    <a:alpha val="99000"/>
                  </a:srgbClr>
                </a:solidFill>
                <a:latin typeface="Inter" pitchFamily="34" charset="0"/>
                <a:ea typeface="Inter" pitchFamily="34" charset="-122"/>
                <a:cs typeface="Inter" pitchFamily="34" charset="-120"/>
              </a:rPr>
              <a:t>Project link</a:t>
            </a:r>
            <a:endParaRPr lang="en-US" sz="855" dirty="0"/>
          </a:p>
        </p:txBody>
      </p:sp>
      <p:pic>
        <p:nvPicPr>
          <p:cNvPr id="6" name="Image 0" descr="preencoded.png">    </p:cNvPr>
          <p:cNvPicPr>
            <a:picLocks noChangeAspect="1"/>
          </p:cNvPicPr>
          <p:nvPr/>
        </p:nvPicPr>
        <p:blipFill>
          <a:blip r:embed="rId1"/>
          <a:srcRect l="0" r="0" t="0" b="0"/>
          <a:stretch/>
        </p:blipFill>
        <p:spPr>
          <a:xfrm>
            <a:off x="4114800" y="828675"/>
            <a:ext cx="825503" cy="171450"/>
          </a:xfrm>
          <a:prstGeom prst="rect">
            <a:avLst/>
          </a:prstGeom>
        </p:spPr>
      </p:pic>
      <p:pic>
        <p:nvPicPr>
          <p:cNvPr id="7" name="Image 1" descr="preencoded.png">    </p:cNvPr>
          <p:cNvPicPr>
            <a:picLocks noChangeAspect="1"/>
          </p:cNvPicPr>
          <p:nvPr/>
        </p:nvPicPr>
        <p:blipFill>
          <a:blip r:embed="rId2"/>
          <a:srcRect l="0" r="0" t="0" b="0"/>
          <a:stretch/>
        </p:blipFill>
        <p:spPr>
          <a:xfrm>
            <a:off x="4114800" y="828675"/>
            <a:ext cx="158753" cy="171450"/>
          </a:xfrm>
          <a:prstGeom prst="rect">
            <a:avLst/>
          </a:prstGeom>
        </p:spPr>
      </p:pic>
      <p:pic>
        <p:nvPicPr>
          <p:cNvPr id="8" name="Image 2" descr="preencoded.png">    </p:cNvPr>
          <p:cNvPicPr>
            <a:picLocks noChangeAspect="1"/>
          </p:cNvPicPr>
          <p:nvPr/>
        </p:nvPicPr>
        <p:blipFill>
          <a:blip r:embed="rId3"/>
          <a:srcRect l="0" r="0" t="0" b="0"/>
          <a:stretch/>
        </p:blipFill>
        <p:spPr>
          <a:xfrm>
            <a:off x="4114800" y="828675"/>
            <a:ext cx="825503" cy="171450"/>
          </a:xfrm>
          <a:prstGeom prst="rect">
            <a:avLst/>
          </a:prstGeom>
        </p:spPr>
      </p:pic>
      <p:pic>
        <p:nvPicPr>
          <p:cNvPr id="9" name="Image 3" descr="preencoded.png">    </p:cNvPr>
          <p:cNvPicPr>
            <a:picLocks noChangeAspect="1"/>
          </p:cNvPicPr>
          <p:nvPr/>
        </p:nvPicPr>
        <p:blipFill>
          <a:blip r:embed="rId4"/>
          <a:srcRect l="0" r="0" t="0" b="0"/>
          <a:stretch/>
        </p:blipFill>
        <p:spPr>
          <a:xfrm>
            <a:off x="4114800" y="828675"/>
            <a:ext cx="158753" cy="1714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2026-06-01T18:26:32Z</dcterms:created>
  <dcterms:modified xsi:type="dcterms:W3CDTF">2026-06-01T18:26:32Z</dcterms:modified>
</cp:coreProperties>
</file>