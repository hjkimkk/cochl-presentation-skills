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27048" y="1371600"/>
            <a:ext cx="576072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900" b="1" i="0">
                <a:solidFill>
                  <a:srgbClr val="FFFFFF"/>
                </a:solidFill>
                <a:latin typeface="Century Gothic"/>
              </a:rPr>
              <a:t>Machines That Can </a:t>
            </a:r>
            <a:r>
              <a:rPr sz="3900" b="1" i="0">
                <a:solidFill>
                  <a:srgbClr val="832BFB"/>
                </a:solidFill>
                <a:latin typeface="Century Gothic"/>
              </a:rPr>
              <a:t>Hear</a:t>
            </a:r>
          </a:p>
        </p:txBody>
      </p:sp>
      <p:sp>
        <p:nvSpPr>
          <p:cNvPr id="4" name="Rectangle 3"/>
          <p:cNvSpPr/>
          <p:nvPr/>
        </p:nvSpPr>
        <p:spPr>
          <a:xfrm>
            <a:off x="1572768" y="2331720"/>
            <a:ext cx="731520" cy="27432"/>
          </a:xfrm>
          <a:prstGeom prst="rect">
            <a:avLst/>
          </a:prstGeom>
          <a:gradFill rotWithShape="1">
            <a:gsLst>
              <a:gs pos="0">
                <a:srgbClr val="832BFB"/>
              </a:gs>
              <a:gs pos="100000">
                <a:srgbClr val="2F80ED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72768" y="2487168"/>
            <a:ext cx="562356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FFFFFF"/>
                </a:solidFill>
                <a:latin typeface="Century Gothic"/>
              </a:rPr>
              <a:t>Cochl.Sense: sound AI that recognizes 30+ sound events through a Cloud API and an Edge SDK.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72768" y="3291840"/>
            <a:ext cx="182880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00" b="0" i="0">
                <a:solidFill>
                  <a:srgbClr val="8B9BB4"/>
                </a:solidFill>
                <a:latin typeface="Roboto"/>
              </a:rPr>
              <a:t>PRODUCT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72768" y="3456432"/>
            <a:ext cx="2103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FFFFFF"/>
                </a:solidFill>
                <a:latin typeface="Roboto"/>
              </a:rPr>
              <a:t>Cochl.Sense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35808" y="3291840"/>
            <a:ext cx="182880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00" b="0" i="0">
                <a:solidFill>
                  <a:srgbClr val="8B9BB4"/>
                </a:solidFill>
                <a:latin typeface="Roboto"/>
              </a:rPr>
              <a:t>AUDIENCE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35808" y="3456432"/>
            <a:ext cx="2103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FFFFFF"/>
                </a:solidFill>
                <a:latin typeface="Roboto"/>
              </a:rPr>
              <a:t>Seed / Series A investors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30368" y="3291840"/>
            <a:ext cx="182880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00" b="0" i="0">
                <a:solidFill>
                  <a:srgbClr val="8B9BB4"/>
                </a:solidFill>
                <a:latin typeface="Roboto"/>
              </a:rPr>
              <a:t>WEB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30368" y="3456432"/>
            <a:ext cx="2103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FFFFFF"/>
                </a:solidFill>
                <a:latin typeface="Roboto"/>
              </a:rPr>
              <a:t>www.cochl.ai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2768" y="3986784"/>
            <a:ext cx="923544" cy="21031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 i="0">
                <a:solidFill>
                  <a:srgbClr val="832BFB"/>
                </a:solidFill>
                <a:latin typeface="Century Gothic"/>
              </a:rP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80467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0" i="0">
                <a:solidFill>
                  <a:srgbClr val="000000"/>
                </a:solidFill>
                <a:latin typeface="Century Gothic"/>
              </a:rPr>
              <a:t>Today's machines are </a:t>
            </a:r>
            <a:r>
              <a:rPr sz="2700" b="0" i="0">
                <a:solidFill>
                  <a:srgbClr val="832BFB"/>
                </a:solidFill>
                <a:latin typeface="Century Gothic"/>
              </a:rPr>
              <a:t>deaf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2499360" cy="2103120"/>
          </a:xfrm>
          <a:prstGeom prst="roundRect">
            <a:avLst>
              <a:gd name="adj" fmla="val 6000"/>
            </a:avLst>
          </a:prstGeom>
          <a:solidFill>
            <a:srgbClr val="0F2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2499360" cy="36576"/>
          </a:xfrm>
          <a:prstGeom prst="rect">
            <a:avLst/>
          </a:prstGeom>
          <a:gradFill rotWithShape="1">
            <a:gsLst>
              <a:gs pos="0">
                <a:srgbClr val="832BFB"/>
              </a:gs>
              <a:gs pos="100000">
                <a:srgbClr val="2F80ED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322320" y="1417320"/>
            <a:ext cx="2499360" cy="2103120"/>
          </a:xfrm>
          <a:prstGeom prst="roundRect">
            <a:avLst>
              <a:gd name="adj" fmla="val 6000"/>
            </a:avLst>
          </a:prstGeom>
          <a:solidFill>
            <a:srgbClr val="0F2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322320" y="1417320"/>
            <a:ext cx="2499360" cy="36576"/>
          </a:xfrm>
          <a:prstGeom prst="rect">
            <a:avLst/>
          </a:prstGeom>
          <a:gradFill rotWithShape="1">
            <a:gsLst>
              <a:gs pos="0">
                <a:srgbClr val="832BFB"/>
              </a:gs>
              <a:gs pos="100000">
                <a:srgbClr val="2F80ED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096000" y="1417320"/>
            <a:ext cx="2499360" cy="2103120"/>
          </a:xfrm>
          <a:prstGeom prst="roundRect">
            <a:avLst>
              <a:gd name="adj" fmla="val 6000"/>
            </a:avLst>
          </a:prstGeom>
          <a:solidFill>
            <a:srgbClr val="0F2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0" y="1417320"/>
            <a:ext cx="2499360" cy="36576"/>
          </a:xfrm>
          <a:prstGeom prst="rect">
            <a:avLst/>
          </a:prstGeom>
          <a:gradFill rotWithShape="1">
            <a:gsLst>
              <a:gs pos="0">
                <a:srgbClr val="832BFB"/>
              </a:gs>
              <a:gs pos="100000">
                <a:srgbClr val="2F80ED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00200"/>
            <a:ext cx="2133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 i="0">
                <a:solidFill>
                  <a:srgbClr val="A08BFF"/>
                </a:solidFill>
                <a:latin typeface="Century Gothic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057400"/>
            <a:ext cx="2133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Century Gothic"/>
              </a:rPr>
              <a:t>Blind to sound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377440"/>
            <a:ext cx="2133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FFFFFF"/>
                </a:solidFill>
                <a:latin typeface="Roboto"/>
              </a:rPr>
              <a:t>Cameras and sensors capture what a device sees, yet it cannot tell a smoke alarm from a dropped glass.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05200" y="1600200"/>
            <a:ext cx="2133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 i="0">
                <a:solidFill>
                  <a:srgbClr val="A08BFF"/>
                </a:solidFill>
                <a:latin typeface="Century Gothic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5200" y="2057400"/>
            <a:ext cx="2133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Century Gothic"/>
              </a:rPr>
              <a:t>Late to react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05200" y="2377440"/>
            <a:ext cx="2133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FFFFFF"/>
                </a:solidFill>
                <a:latin typeface="Roboto"/>
              </a:rPr>
              <a:t>Sound is often the first sign of trouble. Without hearing, devices respond late or not at all.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8880" y="1600200"/>
            <a:ext cx="2133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 i="0">
                <a:solidFill>
                  <a:srgbClr val="A08BFF"/>
                </a:solidFill>
                <a:latin typeface="Century Gothic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8880" y="2057400"/>
            <a:ext cx="2133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Century Gothic"/>
              </a:rPr>
              <a:t>Hearing is hard to build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8880" y="2377440"/>
            <a:ext cx="2133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FFFFFF"/>
                </a:solidFill>
                <a:latin typeface="Roboto"/>
              </a:rPr>
              <a:t>Teams wanting audio awareness must develop sound AI from scratch, a detour from their own product.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749039"/>
            <a:ext cx="8046720" cy="731520"/>
          </a:xfrm>
          <a:prstGeom prst="roundRect">
            <a:avLst>
              <a:gd name="adj" fmla="val 10000"/>
            </a:avLst>
          </a:prstGeom>
          <a:solidFill>
            <a:srgbClr val="0F2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840480"/>
            <a:ext cx="7589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FFFFFF"/>
                </a:solidFill>
                <a:latin typeface="Roboto"/>
              </a:rPr>
              <a:t>Sound carries information that no other sensor captures, and most devices ignore it.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160520"/>
            <a:ext cx="75895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A08BFF"/>
                </a:solidFill>
                <a:latin typeface="Roboto"/>
              </a:rPr>
              <a:t>The missing sense in connected hardware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773168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00" b="0" i="0">
                <a:solidFill>
                  <a:srgbClr val="666666"/>
                </a:solidFill>
                <a:latin typeface="Roboto"/>
              </a:rPr>
              <a:t>Cochl.Sense — Investor Deck ·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914400"/>
            <a:ext cx="91440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000" b="1" i="0">
                <a:solidFill>
                  <a:srgbClr val="15294A"/>
                </a:solidFill>
                <a:latin typeface="Century Gothic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78308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entury Gothic"/>
              </a:rPr>
              <a:t>The </a:t>
            </a:r>
            <a:r>
              <a:rPr sz="3000" b="1" i="0">
                <a:solidFill>
                  <a:srgbClr val="A08BFF"/>
                </a:solidFill>
                <a:latin typeface="Century Gothic"/>
              </a:rPr>
              <a:t>answer</a:t>
            </a:r>
            <a:r>
              <a:rPr sz="3000" b="1" i="0">
                <a:solidFill>
                  <a:srgbClr val="FFFFFF"/>
                </a:solidFill>
                <a:latin typeface="Century Gothic"/>
              </a:rPr>
              <a:t>: hearing for devices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297680" y="2606040"/>
            <a:ext cx="548640" cy="27432"/>
          </a:xfrm>
          <a:prstGeom prst="rect">
            <a:avLst/>
          </a:prstGeom>
          <a:gradFill rotWithShape="1">
            <a:gsLst>
              <a:gs pos="0">
                <a:srgbClr val="832BFB"/>
              </a:gs>
              <a:gs pos="100000">
                <a:srgbClr val="2F80ED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7889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B9BB4"/>
                </a:solidFill>
                <a:latin typeface="Roboto"/>
              </a:rPr>
              <a:t>Cochl gives machines the ability to recognize what they hear.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 i="0">
                <a:solidFill>
                  <a:srgbClr val="832BFB"/>
                </a:solidFill>
                <a:latin typeface="Century Gothic"/>
              </a:rPr>
              <a:t>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80467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0" i="0">
                <a:solidFill>
                  <a:srgbClr val="000000"/>
                </a:solidFill>
                <a:latin typeface="Century Gothic"/>
              </a:rPr>
              <a:t>Cochl.Sense makes </a:t>
            </a:r>
            <a:r>
              <a:rPr sz="2700" b="0" i="0">
                <a:solidFill>
                  <a:srgbClr val="832BFB"/>
                </a:solidFill>
                <a:latin typeface="Century Gothic"/>
              </a:rPr>
              <a:t>hearing a feature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1805940" cy="2468880"/>
          </a:xfrm>
          <a:prstGeom prst="roundRect">
            <a:avLst>
              <a:gd name="adj" fmla="val 6000"/>
            </a:avLst>
          </a:prstGeom>
          <a:solidFill>
            <a:srgbClr val="0F2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805940" cy="36576"/>
          </a:xfrm>
          <a:prstGeom prst="rect">
            <a:avLst/>
          </a:prstGeom>
          <a:gradFill rotWithShape="1">
            <a:gsLst>
              <a:gs pos="0">
                <a:srgbClr val="832BFB"/>
              </a:gs>
              <a:gs pos="100000">
                <a:srgbClr val="2F80ED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628900" y="1417320"/>
            <a:ext cx="1805940" cy="2468880"/>
          </a:xfrm>
          <a:prstGeom prst="roundRect">
            <a:avLst>
              <a:gd name="adj" fmla="val 6000"/>
            </a:avLst>
          </a:prstGeom>
          <a:solidFill>
            <a:srgbClr val="0F2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628900" y="1417320"/>
            <a:ext cx="1805940" cy="36576"/>
          </a:xfrm>
          <a:prstGeom prst="rect">
            <a:avLst/>
          </a:prstGeom>
          <a:gradFill rotWithShape="1">
            <a:gsLst>
              <a:gs pos="0">
                <a:srgbClr val="832BFB"/>
              </a:gs>
              <a:gs pos="100000">
                <a:srgbClr val="2F80ED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09159" y="1417320"/>
            <a:ext cx="1805940" cy="2468880"/>
          </a:xfrm>
          <a:prstGeom prst="roundRect">
            <a:avLst>
              <a:gd name="adj" fmla="val 6000"/>
            </a:avLst>
          </a:prstGeom>
          <a:solidFill>
            <a:srgbClr val="0F2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09159" y="1417320"/>
            <a:ext cx="1805940" cy="36576"/>
          </a:xfrm>
          <a:prstGeom prst="rect">
            <a:avLst/>
          </a:prstGeom>
          <a:gradFill rotWithShape="1">
            <a:gsLst>
              <a:gs pos="0">
                <a:srgbClr val="832BFB"/>
              </a:gs>
              <a:gs pos="100000">
                <a:srgbClr val="2F80ED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789419" y="1417320"/>
            <a:ext cx="1805940" cy="2468880"/>
          </a:xfrm>
          <a:prstGeom prst="roundRect">
            <a:avLst>
              <a:gd name="adj" fmla="val 6000"/>
            </a:avLst>
          </a:prstGeom>
          <a:solidFill>
            <a:srgbClr val="0F2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789419" y="1417320"/>
            <a:ext cx="1805940" cy="36576"/>
          </a:xfrm>
          <a:prstGeom prst="rect">
            <a:avLst/>
          </a:prstGeom>
          <a:gradFill rotWithShape="1">
            <a:gsLst>
              <a:gs pos="0">
                <a:srgbClr val="832BFB"/>
              </a:gs>
              <a:gs pos="100000">
                <a:srgbClr val="2F80ED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600200"/>
            <a:ext cx="147675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6B4EFF"/>
                </a:solidFill>
                <a:latin typeface="Century Gothic"/>
              </a:rPr>
              <a:t>01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" y="2121408"/>
            <a:ext cx="365760" cy="27432"/>
          </a:xfrm>
          <a:prstGeom prst="rect">
            <a:avLst/>
          </a:prstGeom>
          <a:gradFill rotWithShape="1">
            <a:gsLst>
              <a:gs pos="0">
                <a:srgbClr val="832BFB"/>
              </a:gs>
              <a:gs pos="100000">
                <a:srgbClr val="2F80ED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2286000"/>
            <a:ext cx="14767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Century Gothic"/>
              </a:rPr>
              <a:t>Sound recognition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2651760"/>
            <a:ext cx="1476756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FFFFFF"/>
                </a:solidFill>
                <a:latin typeface="Roboto"/>
              </a:rPr>
              <a:t>Recognizes 30+ sound events, ready to use.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93492" y="1600200"/>
            <a:ext cx="147675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6B4EFF"/>
                </a:solidFill>
                <a:latin typeface="Century Gothic"/>
              </a:rPr>
              <a:t>02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93492" y="2121408"/>
            <a:ext cx="365760" cy="27432"/>
          </a:xfrm>
          <a:prstGeom prst="rect">
            <a:avLst/>
          </a:prstGeom>
          <a:gradFill rotWithShape="1">
            <a:gsLst>
              <a:gs pos="0">
                <a:srgbClr val="832BFB"/>
              </a:gs>
              <a:gs pos="100000">
                <a:srgbClr val="2F80ED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93492" y="2286000"/>
            <a:ext cx="14767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Century Gothic"/>
              </a:rPr>
              <a:t>Cloud 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93492" y="2651760"/>
            <a:ext cx="1476756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FFFFFF"/>
                </a:solidFill>
                <a:latin typeface="Roboto"/>
              </a:rPr>
              <a:t>Adds hearing to connected products through a simple API call.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73751" y="1600200"/>
            <a:ext cx="147675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6B4EFF"/>
                </a:solidFill>
                <a:latin typeface="Century Gothic"/>
              </a:rPr>
              <a:t>03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73751" y="2121408"/>
            <a:ext cx="365760" cy="27432"/>
          </a:xfrm>
          <a:prstGeom prst="rect">
            <a:avLst/>
          </a:prstGeom>
          <a:gradFill rotWithShape="1">
            <a:gsLst>
              <a:gs pos="0">
                <a:srgbClr val="832BFB"/>
              </a:gs>
              <a:gs pos="100000">
                <a:srgbClr val="2F80ED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73751" y="2286000"/>
            <a:ext cx="14767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Century Gothic"/>
              </a:rPr>
              <a:t>Edge SDK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73751" y="2651760"/>
            <a:ext cx="1476756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FFFFFF"/>
                </a:solidFill>
                <a:latin typeface="Roboto"/>
              </a:rPr>
              <a:t>Runs recognition on the device itself, close to the sound.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54011" y="1600200"/>
            <a:ext cx="147675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6B4EFF"/>
                </a:solidFill>
                <a:latin typeface="Century Gothic"/>
              </a:rPr>
              <a:t>04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54011" y="2121408"/>
            <a:ext cx="365760" cy="27432"/>
          </a:xfrm>
          <a:prstGeom prst="rect">
            <a:avLst/>
          </a:prstGeom>
          <a:gradFill rotWithShape="1">
            <a:gsLst>
              <a:gs pos="0">
                <a:srgbClr val="832BFB"/>
              </a:gs>
              <a:gs pos="100000">
                <a:srgbClr val="2F80ED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54011" y="2286000"/>
            <a:ext cx="14767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Century Gothic"/>
              </a:rPr>
              <a:t>Field-proven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54011" y="2651760"/>
            <a:ext cx="1476756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FFFFFF"/>
                </a:solidFill>
                <a:latin typeface="Roboto"/>
              </a:rPr>
              <a:t>In use across smart home, automotive and safety.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773168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00" b="0" i="0">
                <a:solidFill>
                  <a:srgbClr val="666666"/>
                </a:solidFill>
                <a:latin typeface="Roboto"/>
              </a:rPr>
              <a:t>Cochl.Sense — Investor Deck ·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 i="0">
                <a:solidFill>
                  <a:srgbClr val="832BFB"/>
                </a:solidFill>
                <a:latin typeface="Century Gothic"/>
              </a:rPr>
              <a:t>MARKET AND TRACTION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80467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0" i="0">
                <a:solidFill>
                  <a:srgbClr val="000000"/>
                </a:solidFill>
                <a:latin typeface="Century Gothic"/>
              </a:rPr>
              <a:t>The </a:t>
            </a:r>
            <a:r>
              <a:rPr sz="2700" b="0" i="0">
                <a:solidFill>
                  <a:srgbClr val="832BFB"/>
                </a:solidFill>
                <a:latin typeface="Century Gothic"/>
              </a:rPr>
              <a:t>numbers</a:t>
            </a:r>
            <a:r>
              <a:rPr sz="2700" b="0" i="0">
                <a:solidFill>
                  <a:srgbClr val="000000"/>
                </a:solidFill>
                <a:latin typeface="Century Gothic"/>
              </a:rPr>
              <a:t> investors will ask for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2499360" cy="1371600"/>
          </a:xfrm>
          <a:prstGeom prst="roundRect">
            <a:avLst>
              <a:gd name="adj" fmla="val 8000"/>
            </a:avLst>
          </a:prstGeom>
          <a:solidFill>
            <a:srgbClr val="0F2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72768"/>
            <a:ext cx="2133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1" u="sng">
                <a:solidFill>
                  <a:srgbClr val="A08BFF"/>
                </a:solidFill>
                <a:latin typeface="Century Gothic"/>
              </a:rPr>
              <a:t>[NEEDS INPUT]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2133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00" b="0" i="0">
                <a:solidFill>
                  <a:srgbClr val="8B9BB4"/>
                </a:solidFill>
                <a:latin typeface="Roboto"/>
              </a:rPr>
              <a:t>Pending verified research — do not present without a sourced figure.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2133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FFFFFF"/>
                </a:solidFill>
                <a:latin typeface="Roboto"/>
              </a:rPr>
              <a:t>Total addressable market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22320" y="1371600"/>
            <a:ext cx="2499360" cy="1371600"/>
          </a:xfrm>
          <a:prstGeom prst="roundRect">
            <a:avLst>
              <a:gd name="adj" fmla="val 8000"/>
            </a:avLst>
          </a:prstGeom>
          <a:solidFill>
            <a:srgbClr val="0F2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05200" y="1572768"/>
            <a:ext cx="2133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1" u="sng">
                <a:solidFill>
                  <a:srgbClr val="A08BFF"/>
                </a:solidFill>
                <a:latin typeface="Century Gothic"/>
              </a:rPr>
              <a:t>[NEEDS INPUT]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05200" y="2011680"/>
            <a:ext cx="2133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00" b="0" i="0">
                <a:solidFill>
                  <a:srgbClr val="8B9BB4"/>
                </a:solidFill>
                <a:latin typeface="Roboto"/>
              </a:rPr>
              <a:t>Pending verified research — do not present without a sourced figure.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05200" y="2286000"/>
            <a:ext cx="2133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FFFFFF"/>
                </a:solidFill>
                <a:latin typeface="Roboto"/>
              </a:rPr>
              <a:t>Annual recurring revenue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96000" y="1371600"/>
            <a:ext cx="2499360" cy="1371600"/>
          </a:xfrm>
          <a:prstGeom prst="roundRect">
            <a:avLst>
              <a:gd name="adj" fmla="val 8000"/>
            </a:avLst>
          </a:prstGeom>
          <a:solidFill>
            <a:srgbClr val="0F2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78880" y="1572768"/>
            <a:ext cx="2133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1" u="sng">
                <a:solidFill>
                  <a:srgbClr val="A08BFF"/>
                </a:solidFill>
                <a:latin typeface="Century Gothic"/>
              </a:rPr>
              <a:t>[NEEDS INPUT]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8880" y="2011680"/>
            <a:ext cx="2133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00" b="0" i="0">
                <a:solidFill>
                  <a:srgbClr val="8B9BB4"/>
                </a:solidFill>
                <a:latin typeface="Roboto"/>
              </a:rPr>
              <a:t>Pending verified research — do not present without a sourced figure.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8880" y="2286000"/>
            <a:ext cx="2133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FFFFFF"/>
                </a:solidFill>
                <a:latin typeface="Roboto"/>
              </a:rPr>
              <a:t>Paying customers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880360"/>
            <a:ext cx="2499360" cy="1371600"/>
          </a:xfrm>
          <a:prstGeom prst="roundRect">
            <a:avLst>
              <a:gd name="adj" fmla="val 8000"/>
            </a:avLst>
          </a:prstGeom>
          <a:solidFill>
            <a:srgbClr val="0F2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081528"/>
            <a:ext cx="2133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1" u="sng">
                <a:solidFill>
                  <a:srgbClr val="A08BFF"/>
                </a:solidFill>
                <a:latin typeface="Century Gothic"/>
              </a:rPr>
              <a:t>[NEEDS INPUT]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520439"/>
            <a:ext cx="2133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00" b="0" i="0">
                <a:solidFill>
                  <a:srgbClr val="8B9BB4"/>
                </a:solidFill>
                <a:latin typeface="Roboto"/>
              </a:rPr>
              <a:t>Pending verified research — do not present without a sourced figure.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94760"/>
            <a:ext cx="2133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FFFFFF"/>
                </a:solidFill>
                <a:latin typeface="Roboto"/>
              </a:rPr>
              <a:t>Year-over-year growth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22320" y="2880360"/>
            <a:ext cx="2499360" cy="1371600"/>
          </a:xfrm>
          <a:prstGeom prst="roundRect">
            <a:avLst>
              <a:gd name="adj" fmla="val 8000"/>
            </a:avLst>
          </a:prstGeom>
          <a:solidFill>
            <a:srgbClr val="0F2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05200" y="3081528"/>
            <a:ext cx="2133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1" u="sng">
                <a:solidFill>
                  <a:srgbClr val="A08BFF"/>
                </a:solidFill>
                <a:latin typeface="Century Gothic"/>
              </a:rPr>
              <a:t>[NEEDS INPUT]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05200" y="3520439"/>
            <a:ext cx="2133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00" b="0" i="0">
                <a:solidFill>
                  <a:srgbClr val="8B9BB4"/>
                </a:solidFill>
                <a:latin typeface="Roboto"/>
              </a:rPr>
              <a:t>Pending verified research — do not present without a sourced figure.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05200" y="3794760"/>
            <a:ext cx="2133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FFFFFF"/>
                </a:solidFill>
                <a:latin typeface="Roboto"/>
              </a:rPr>
              <a:t>Active deployments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96000" y="2880360"/>
            <a:ext cx="2499360" cy="1371600"/>
          </a:xfrm>
          <a:prstGeom prst="roundRect">
            <a:avLst>
              <a:gd name="adj" fmla="val 8000"/>
            </a:avLst>
          </a:prstGeom>
          <a:solidFill>
            <a:srgbClr val="0F2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78880" y="3108960"/>
            <a:ext cx="2133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 i="0">
                <a:solidFill>
                  <a:srgbClr val="6B4EFF"/>
                </a:solidFill>
                <a:latin typeface="Century Gothic"/>
              </a:rPr>
              <a:t>30+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78880" y="3657600"/>
            <a:ext cx="2133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FFFFFF"/>
                </a:solidFill>
                <a:latin typeface="Roboto"/>
              </a:rPr>
              <a:t>Sound events in the model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78880" y="3886200"/>
            <a:ext cx="2133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8B9BB4"/>
                </a:solidFill>
                <a:latin typeface="Roboto"/>
              </a:rPr>
              <a:t>Cloud API and Edge SDK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480560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666666"/>
                </a:solidFill>
                <a:latin typeface="Roboto"/>
              </a:rPr>
              <a:t>Figures marked [NEEDS INPUT] are awaiting verified input and must be sourced before presenting.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773168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00" b="0" i="0">
                <a:solidFill>
                  <a:srgbClr val="666666"/>
                </a:solidFill>
                <a:latin typeface="Roboto"/>
              </a:rPr>
              <a:t>Cochl.Sense — Investor Deck ·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 i="0">
                <a:solidFill>
                  <a:srgbClr val="832BFB"/>
                </a:solidFill>
                <a:latin typeface="Century Gothic"/>
              </a:rPr>
              <a:t>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80467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0" i="0">
                <a:solidFill>
                  <a:srgbClr val="000000"/>
                </a:solidFill>
                <a:latin typeface="Century Gothic"/>
              </a:rPr>
              <a:t>Where hearing already </a:t>
            </a:r>
            <a:r>
              <a:rPr sz="2700" b="0" i="0">
                <a:solidFill>
                  <a:srgbClr val="832BFB"/>
                </a:solidFill>
                <a:latin typeface="Century Gothic"/>
              </a:rPr>
              <a:t>pays off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2499360" cy="2834640"/>
          </a:xfrm>
          <a:prstGeom prst="roundRect">
            <a:avLst>
              <a:gd name="adj" fmla="val 6000"/>
            </a:avLst>
          </a:prstGeom>
          <a:solidFill>
            <a:srgbClr val="0F2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2499360" cy="36576"/>
          </a:xfrm>
          <a:prstGeom prst="rect">
            <a:avLst/>
          </a:prstGeom>
          <a:gradFill rotWithShape="1">
            <a:gsLst>
              <a:gs pos="0">
                <a:srgbClr val="832BFB"/>
              </a:gs>
              <a:gs pos="100000">
                <a:srgbClr val="2F80ED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322320" y="1417320"/>
            <a:ext cx="2499360" cy="2834640"/>
          </a:xfrm>
          <a:prstGeom prst="roundRect">
            <a:avLst>
              <a:gd name="adj" fmla="val 6000"/>
            </a:avLst>
          </a:prstGeom>
          <a:solidFill>
            <a:srgbClr val="0F2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322320" y="1417320"/>
            <a:ext cx="2499360" cy="36576"/>
          </a:xfrm>
          <a:prstGeom prst="rect">
            <a:avLst/>
          </a:prstGeom>
          <a:gradFill rotWithShape="1">
            <a:gsLst>
              <a:gs pos="0">
                <a:srgbClr val="832BFB"/>
              </a:gs>
              <a:gs pos="100000">
                <a:srgbClr val="2F80ED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096000" y="1417320"/>
            <a:ext cx="2499360" cy="2834640"/>
          </a:xfrm>
          <a:prstGeom prst="roundRect">
            <a:avLst>
              <a:gd name="adj" fmla="val 6000"/>
            </a:avLst>
          </a:prstGeom>
          <a:solidFill>
            <a:srgbClr val="0F2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0" y="1417320"/>
            <a:ext cx="2499360" cy="36576"/>
          </a:xfrm>
          <a:prstGeom prst="rect">
            <a:avLst/>
          </a:prstGeom>
          <a:gradFill rotWithShape="1">
            <a:gsLst>
              <a:gs pos="0">
                <a:srgbClr val="832BFB"/>
              </a:gs>
              <a:gs pos="100000">
                <a:srgbClr val="2F80ED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600200"/>
            <a:ext cx="1005840" cy="20116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832BFB"/>
              </a:gs>
              <a:gs pos="100000">
                <a:srgbClr val="2F80ED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627632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Roboto"/>
              </a:rPr>
              <a:t>SMART HOME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920240"/>
            <a:ext cx="2133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Century Gothic"/>
              </a:rPr>
              <a:t>A home that listens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286000"/>
            <a:ext cx="2133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FFFFFF"/>
                </a:solidFill>
                <a:latin typeface="Roboto"/>
              </a:rPr>
              <a:t>A sound event occurs in the house.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670048"/>
            <a:ext cx="2133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FFFFFF"/>
                </a:solidFill>
                <a:latin typeface="Roboto"/>
              </a:rPr>
              <a:t>Cochl.Sense classifies it as it happens.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108960"/>
            <a:ext cx="2225040" cy="548640"/>
          </a:xfrm>
          <a:prstGeom prst="roundRect">
            <a:avLst>
              <a:gd name="adj" fmla="val 10000"/>
            </a:avLst>
          </a:prstGeom>
          <a:solidFill>
            <a:srgbClr val="1B2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172968"/>
            <a:ext cx="2042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1">
                <a:solidFill>
                  <a:srgbClr val="FFFFFF"/>
                </a:solidFill>
                <a:latin typeface="Roboto"/>
              </a:rPr>
              <a:t>The home responds with no one watching.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05200" y="1600200"/>
            <a:ext cx="1005840" cy="20116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832BFB"/>
              </a:gs>
              <a:gs pos="100000">
                <a:srgbClr val="2F80ED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05200" y="1627632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Roboto"/>
              </a:rPr>
              <a:t>AUTOMOTIVE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05200" y="1920240"/>
            <a:ext cx="2133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Century Gothic"/>
              </a:rPr>
              <a:t>A cabin that notices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5200" y="2286000"/>
            <a:ext cx="2133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FFFFFF"/>
                </a:solidFill>
                <a:latin typeface="Roboto"/>
              </a:rPr>
              <a:t>The vehicle is surrounded by sound cues.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05200" y="2670048"/>
            <a:ext cx="2133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FFFFFF"/>
                </a:solidFill>
                <a:latin typeface="Roboto"/>
              </a:rPr>
              <a:t>The Edge SDK recognizes them locally.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59480" y="3108960"/>
            <a:ext cx="2225040" cy="548640"/>
          </a:xfrm>
          <a:prstGeom prst="roundRect">
            <a:avLst>
              <a:gd name="adj" fmla="val 10000"/>
            </a:avLst>
          </a:prstGeom>
          <a:solidFill>
            <a:srgbClr val="1B2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50920" y="3172968"/>
            <a:ext cx="2042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1">
                <a:solidFill>
                  <a:srgbClr val="FFFFFF"/>
                </a:solidFill>
                <a:latin typeface="Roboto"/>
              </a:rPr>
              <a:t>The car reacts to what it hears.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78880" y="1600200"/>
            <a:ext cx="1005840" cy="20116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832BFB"/>
              </a:gs>
              <a:gs pos="100000">
                <a:srgbClr val="2F80ED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78880" y="1627632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Roboto"/>
              </a:rPr>
              <a:t>SAFETY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78880" y="1920240"/>
            <a:ext cx="2133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Century Gothic"/>
              </a:rPr>
              <a:t>A space that raises the alarm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78880" y="2286000"/>
            <a:ext cx="2133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FFFFFF"/>
                </a:solidFill>
                <a:latin typeface="Roboto"/>
              </a:rPr>
              <a:t>A critical sound occurs in a monitored area.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78880" y="2670048"/>
            <a:ext cx="2133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FFFFFF"/>
                </a:solidFill>
                <a:latin typeface="Roboto"/>
              </a:rPr>
              <a:t>Cochl.Sense recognizes it in real time.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33160" y="3108960"/>
            <a:ext cx="2225040" cy="548640"/>
          </a:xfrm>
          <a:prstGeom prst="roundRect">
            <a:avLst>
              <a:gd name="adj" fmla="val 10000"/>
            </a:avLst>
          </a:prstGeom>
          <a:solidFill>
            <a:srgbClr val="1B2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24600" y="3172968"/>
            <a:ext cx="2042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1">
                <a:solidFill>
                  <a:srgbClr val="FFFFFF"/>
                </a:solidFill>
                <a:latin typeface="Roboto"/>
              </a:rPr>
              <a:t>Alerts go out before anyone checks a screen.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434840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666666"/>
                </a:solidFill>
                <a:latin typeface="Roboto"/>
              </a:rPr>
              <a:t>Illustrative scenarios across the three segments where Cochl.Sense is proven.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773168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00" b="0" i="0">
                <a:solidFill>
                  <a:srgbClr val="666666"/>
                </a:solidFill>
                <a:latin typeface="Roboto"/>
              </a:rPr>
              <a:t>Cochl.Sense — Investor Deck ·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86868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entury Gothic"/>
              </a:rPr>
              <a:t>Help us put an </a:t>
            </a:r>
            <a:r>
              <a:rPr sz="3000" b="1" i="0">
                <a:solidFill>
                  <a:srgbClr val="832BFB"/>
                </a:solidFill>
                <a:latin typeface="Century Gothic"/>
              </a:rPr>
              <a:t>ear</a:t>
            </a:r>
            <a:r>
              <a:rPr sz="3000" b="1" i="0">
                <a:solidFill>
                  <a:srgbClr val="FFFFFF"/>
                </a:solidFill>
                <a:latin typeface="Century Gothic"/>
              </a:rPr>
              <a:t> on every machine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2A2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74519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Century Gothic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Century Gothic"/>
              </a:rPr>
              <a:t>The round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0604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DDDDDD"/>
                </a:solidFill>
                <a:latin typeface="Roboto"/>
              </a:rPr>
              <a:t>Raise size: </a:t>
            </a:r>
            <a:r>
              <a:rPr sz="900" b="0" i="1" u="sng">
                <a:solidFill>
                  <a:srgbClr val="A08BFF"/>
                </a:solidFill>
                <a:latin typeface="Roboto"/>
              </a:rPr>
              <a:t>[NEEDS INPUT]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79" y="1783080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2A2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874519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Century Gothic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286000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Century Gothic"/>
              </a:rPr>
              <a:t>Use of funds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60604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DDDDDD"/>
                </a:solidFill>
                <a:latin typeface="Roboto"/>
              </a:rPr>
              <a:t>Allocation: </a:t>
            </a:r>
            <a:r>
              <a:rPr sz="900" b="0" i="1" u="sng">
                <a:solidFill>
                  <a:srgbClr val="A08BFF"/>
                </a:solidFill>
                <a:latin typeface="Roboto"/>
              </a:rPr>
              <a:t>[NEEDS INPUT]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19" y="1783080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2A2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799" y="1874519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Century Gothic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799" y="2286000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Century Gothic"/>
              </a:rPr>
              <a:t>Milestones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799" y="260604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DDDDDD"/>
                </a:solidFill>
                <a:latin typeface="Roboto"/>
              </a:rPr>
              <a:t>Next-stage targets: </a:t>
            </a:r>
            <a:r>
              <a:rPr sz="900" b="0" i="1" u="sng">
                <a:solidFill>
                  <a:srgbClr val="A08BFF"/>
                </a:solidFill>
                <a:latin typeface="Roboto"/>
              </a:rPr>
              <a:t>[NEEDS INPUT]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52044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entury Gothic"/>
              </a:rPr>
              <a:t>Devices act on what they perceive; sound is the missing input.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160520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B0B0C0"/>
                </a:solidFill>
                <a:latin typeface="Roboto"/>
              </a:rPr>
              <a:t>contact@cochl.ai · www.cochl.ai · San Francisco, CA, USA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