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27048" y="1371600"/>
            <a:ext cx="5367528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900" b="1">
                <a:solidFill>
                  <a:srgbClr val="FFFFFF"/>
                </a:solidFill>
                <a:latin typeface="Century Gothic"/>
              </a:rPr>
              <a:t>Devices that </a:t>
            </a:r>
            <a:r>
              <a:rPr sz="3900" b="1">
                <a:solidFill>
                  <a:srgbClr val="832BFB"/>
                </a:solidFill>
                <a:latin typeface="Century Gothic"/>
              </a:rPr>
              <a:t>hear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2768" y="2487168"/>
            <a:ext cx="562356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entury Gothic"/>
              </a:rPr>
              <a:t>Cochl.Sense: sound AI that recognizes 30+ sound events, delivered as a Cloud API and an Edge SDK. Investor presentation for seed and Series A.</a:t>
            </a:r>
          </a:p>
        </p:txBody>
      </p:sp>
      <p:pic>
        <p:nvPicPr>
          <p:cNvPr id="5" name="Picture 4" descr="_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2768" y="3986784"/>
            <a:ext cx="923544" cy="2103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35024" y="667512"/>
            <a:ext cx="714146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>
                <a:solidFill>
                  <a:srgbClr val="000000"/>
                </a:solidFill>
                <a:latin typeface="Century Gothic"/>
              </a:rPr>
              <a:t>Machines can’t </a:t>
            </a:r>
            <a:r>
              <a:rPr sz="2700" b="0">
                <a:solidFill>
                  <a:srgbClr val="832BFB"/>
                </a:solidFill>
                <a:latin typeface="Century Gothic"/>
              </a:rPr>
              <a:t>hear</a:t>
            </a:r>
            <a:r>
              <a:rPr sz="2700" b="0">
                <a:solidFill>
                  <a:srgbClr val="000000"/>
                </a:solidFill>
                <a:latin typeface="Century Gothic"/>
              </a:rPr>
              <a:t> today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35024" y="1600200"/>
            <a:ext cx="233172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BD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35024" y="1600200"/>
            <a:ext cx="2331720" cy="45720"/>
          </a:xfrm>
          <a:prstGeom prst="rect">
            <a:avLst/>
          </a:prstGeom>
          <a:solidFill>
            <a:srgbClr val="832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72184" y="1783080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832BFB"/>
                </a:solidFill>
                <a:latin typeface="Century Gothic"/>
              </a:rPr>
              <a:t>Blind to sound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2184" y="2148840"/>
            <a:ext cx="2057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Roboto"/>
              </a:rPr>
              <a:t>Devices see, touch and measure, yet miss the sound events that signal what is happening around them.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04487" y="1600200"/>
            <a:ext cx="233172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BD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904487" y="1600200"/>
            <a:ext cx="2331720" cy="45720"/>
          </a:xfrm>
          <a:prstGeom prst="rect">
            <a:avLst/>
          </a:prstGeom>
          <a:solidFill>
            <a:srgbClr val="832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41648" y="1783080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832BFB"/>
                </a:solidFill>
                <a:latin typeface="Century Gothic"/>
              </a:rPr>
              <a:t>Context is lost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41648" y="2148840"/>
            <a:ext cx="2057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Roboto"/>
              </a:rPr>
              <a:t>Without hearing, a device cannot tell a glass break from a doorbell or a siren from traffic.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73952" y="1600200"/>
            <a:ext cx="233172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BD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73952" y="1600200"/>
            <a:ext cx="2331720" cy="45720"/>
          </a:xfrm>
          <a:prstGeom prst="rect">
            <a:avLst/>
          </a:prstGeom>
          <a:solidFill>
            <a:srgbClr val="832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11112" y="1783080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832BFB"/>
                </a:solidFill>
                <a:latin typeface="Century Gothic"/>
              </a:rPr>
              <a:t>Hard to add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1112" y="2148840"/>
            <a:ext cx="2057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Roboto"/>
              </a:rPr>
              <a:t>Building sound recognition in-house demands specialist data and models that most product teams lack.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35024" y="3429000"/>
            <a:ext cx="7635240" cy="868680"/>
          </a:xfrm>
          <a:prstGeom prst="roundRect">
            <a:avLst>
              <a:gd name="adj" fmla="val 8000"/>
            </a:avLst>
          </a:prstGeom>
          <a:solidFill>
            <a:srgbClr val="EBD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17904" y="3520440"/>
            <a:ext cx="7269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Century Gothic"/>
              </a:rPr>
              <a:t>Sound carries information that cameras and motion sensors cannot see.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17904" y="3931920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832BFB"/>
                </a:solidFill>
                <a:latin typeface="Roboto"/>
              </a:rPr>
              <a:t>Market evidence on the cost of devices that cannot hear: NEEDS INPUT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" y="47365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Roboto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097280"/>
            <a:ext cx="731520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0" b="1">
                <a:solidFill>
                  <a:srgbClr val="4A3A6B"/>
                </a:solidFill>
                <a:latin typeface="Century Gothi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57400"/>
            <a:ext cx="73152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1">
                <a:solidFill>
                  <a:srgbClr val="832BFB"/>
                </a:solidFill>
                <a:latin typeface="Century Gothic"/>
              </a:rPr>
              <a:t>Hearing</a:t>
            </a:r>
            <a:r>
              <a:rPr sz="4000" b="1">
                <a:solidFill>
                  <a:srgbClr val="FFFFFF"/>
                </a:solidFill>
                <a:latin typeface="Century Gothic"/>
              </a:rPr>
              <a:t> for every device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017520"/>
            <a:ext cx="914400" cy="36576"/>
          </a:xfrm>
          <a:prstGeom prst="rect">
            <a:avLst/>
          </a:prstGeom>
          <a:solidFill>
            <a:srgbClr val="832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EBDDFF"/>
                </a:solidFill>
                <a:latin typeface="Roboto"/>
              </a:rPr>
              <a:t>Cochl.Sense gives machines the ability to recognize sound.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35024" y="667512"/>
            <a:ext cx="714146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>
                <a:solidFill>
                  <a:srgbClr val="000000"/>
                </a:solidFill>
                <a:latin typeface="Century Gothic"/>
              </a:rPr>
              <a:t>Cochl.Sense: one </a:t>
            </a:r>
            <a:r>
              <a:rPr sz="2700" b="0">
                <a:solidFill>
                  <a:srgbClr val="832BFB"/>
                </a:solidFill>
                <a:latin typeface="Century Gothic"/>
              </a:rPr>
              <a:t>sound 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35024" y="1911095"/>
            <a:ext cx="475488" cy="475488"/>
          </a:xfrm>
          <a:prstGeom prst="roundRect">
            <a:avLst>
              <a:gd name="adj" fmla="val 8000"/>
            </a:avLst>
          </a:prstGeom>
          <a:solidFill>
            <a:srgbClr val="832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35024" y="1911095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entury Gothic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5024" y="2615184"/>
            <a:ext cx="20025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00000"/>
                </a:solidFill>
                <a:latin typeface="Roboto"/>
              </a:rPr>
              <a:t>Recognizes 30+ sound events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5024" y="2926080"/>
            <a:ext cx="2002536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Roboto"/>
              </a:rPr>
              <a:t>A single model family that identifies a broad set of everyday and safety-relevant sounds.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04487" y="1911095"/>
            <a:ext cx="475488" cy="475488"/>
          </a:xfrm>
          <a:prstGeom prst="roundRect">
            <a:avLst>
              <a:gd name="adj" fmla="val 8000"/>
            </a:avLst>
          </a:prstGeom>
          <a:solidFill>
            <a:srgbClr val="832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04487" y="1911095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entury Gothic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04487" y="2615184"/>
            <a:ext cx="20025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00000"/>
                </a:solidFill>
                <a:latin typeface="Roboto"/>
              </a:rPr>
              <a:t>Cloud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04487" y="2926080"/>
            <a:ext cx="2002536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Roboto"/>
              </a:rPr>
              <a:t>Send audio, receive sound events. Add hearing to a product without managing models.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73952" y="1911095"/>
            <a:ext cx="475488" cy="475488"/>
          </a:xfrm>
          <a:prstGeom prst="roundRect">
            <a:avLst>
              <a:gd name="adj" fmla="val 8000"/>
            </a:avLst>
          </a:prstGeom>
          <a:solidFill>
            <a:srgbClr val="832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911095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entury Gothic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2615184"/>
            <a:ext cx="20025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00000"/>
                </a:solidFill>
                <a:latin typeface="Roboto"/>
              </a:rPr>
              <a:t>Edge SDK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2926080"/>
            <a:ext cx="2002536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Roboto"/>
              </a:rPr>
              <a:t>Run recognition on the device itself for low-latency, private, always-on listening.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" y="47365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Roboto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35024" y="667512"/>
            <a:ext cx="714146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>
                <a:solidFill>
                  <a:srgbClr val="000000"/>
                </a:solidFill>
                <a:latin typeface="Century Gothic"/>
              </a:rPr>
              <a:t>The product </a:t>
            </a:r>
            <a:r>
              <a:rPr sz="2700" b="0">
                <a:solidFill>
                  <a:srgbClr val="832BFB"/>
                </a:solidFill>
                <a:latin typeface="Century Gothic"/>
              </a:rPr>
              <a:t>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35024" y="1874519"/>
            <a:ext cx="2002536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600" b="1">
                <a:solidFill>
                  <a:srgbClr val="832BFB"/>
                </a:solidFill>
                <a:latin typeface="Century Gothic"/>
              </a:rPr>
              <a:t>30+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35024" y="2624328"/>
            <a:ext cx="20025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00000"/>
                </a:solidFill>
                <a:latin typeface="Roboto"/>
              </a:rPr>
              <a:t>Sound events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5024" y="2926080"/>
            <a:ext cx="2002536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Roboto"/>
              </a:rPr>
              <a:t>Cochl.Sense recognizes more than thirty distinct sound events.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04487" y="1874519"/>
            <a:ext cx="2002536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600" b="1">
                <a:solidFill>
                  <a:srgbClr val="832BFB"/>
                </a:solidFill>
                <a:latin typeface="Century Gothic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04487" y="2624328"/>
            <a:ext cx="20025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00000"/>
                </a:solidFill>
                <a:latin typeface="Roboto"/>
              </a:rPr>
              <a:t>Ways to deploy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04487" y="2926080"/>
            <a:ext cx="2002536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Roboto"/>
              </a:rPr>
              <a:t>Cloud API for fast integration, Edge SDK for on-device recognition.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3952" y="1874519"/>
            <a:ext cx="2002536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600" b="1">
                <a:solidFill>
                  <a:srgbClr val="832BFB"/>
                </a:solidFill>
                <a:latin typeface="Century Gothic"/>
              </a:rPr>
              <a:t>TBD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2624328"/>
            <a:ext cx="20025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00000"/>
                </a:solidFill>
                <a:latin typeface="Roboto"/>
              </a:rPr>
              <a:t>Recognition 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2926080"/>
            <a:ext cx="2002536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Roboto"/>
              </a:rPr>
              <a:t>NEEDS INPUT: validated accuracy figure and test conditions.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" y="47365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Roboto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35024" y="667512"/>
            <a:ext cx="714146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>
                <a:solidFill>
                  <a:srgbClr val="000000"/>
                </a:solidFill>
                <a:latin typeface="Century Gothic"/>
              </a:rPr>
              <a:t>Proven in </a:t>
            </a:r>
            <a:r>
              <a:rPr sz="2700" b="0">
                <a:solidFill>
                  <a:srgbClr val="832BFB"/>
                </a:solidFill>
                <a:latin typeface="Century Gothic"/>
              </a:rPr>
              <a:t>three</a:t>
            </a:r>
            <a:r>
              <a:rPr sz="2700" b="0">
                <a:solidFill>
                  <a:srgbClr val="000000"/>
                </a:solidFill>
                <a:latin typeface="Century Gothic"/>
              </a:rPr>
              <a:t> markets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35024" y="1463040"/>
            <a:ext cx="233172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BD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472184" y="1627632"/>
            <a:ext cx="1051560" cy="219456"/>
          </a:xfrm>
          <a:prstGeom prst="roundRect">
            <a:avLst>
              <a:gd name="adj" fmla="val 8000"/>
            </a:avLst>
          </a:prstGeom>
          <a:solidFill>
            <a:srgbClr val="832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72184" y="1627632"/>
            <a:ext cx="10515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Roboto"/>
              </a:rPr>
              <a:t>SMART HOME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2184" y="1965960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Century Gothic"/>
              </a:rPr>
              <a:t>Home that listens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6192" y="2395728"/>
            <a:ext cx="19202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Roboto"/>
              </a:rPr>
              <a:t>Device hears a sound event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36192" y="2871216"/>
            <a:ext cx="19202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Roboto"/>
              </a:rPr>
              <a:t>Cochl.Sense classifies 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72184" y="3346704"/>
            <a:ext cx="2057400" cy="411480"/>
          </a:xfrm>
          <a:prstGeom prst="roundRect">
            <a:avLst>
              <a:gd name="adj" fmla="val 8000"/>
            </a:avLst>
          </a:prstGeom>
          <a:solidFill>
            <a:srgbClr val="EBDDFF"/>
          </a:solidFill>
          <a:ln w="9525">
            <a:solidFill>
              <a:srgbClr val="832B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36192" y="3346704"/>
            <a:ext cx="19202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832BFB"/>
                </a:solidFill>
                <a:latin typeface="Roboto"/>
              </a:rPr>
              <a:t>NEEDS INPUT: deployment proof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36192" y="3822191"/>
            <a:ext cx="19202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Roboto"/>
              </a:rPr>
              <a:t>Home responds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04487" y="1463040"/>
            <a:ext cx="233172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BD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041648" y="1627632"/>
            <a:ext cx="1051560" cy="219456"/>
          </a:xfrm>
          <a:prstGeom prst="roundRect">
            <a:avLst>
              <a:gd name="adj" fmla="val 8000"/>
            </a:avLst>
          </a:prstGeom>
          <a:solidFill>
            <a:srgbClr val="832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41648" y="1627632"/>
            <a:ext cx="10515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Roboto"/>
              </a:rPr>
              <a:t>AUTOMOTIVE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41648" y="1965960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Century Gothic"/>
              </a:rPr>
              <a:t>Cabin and road awareness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05655" y="2395728"/>
            <a:ext cx="19202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Roboto"/>
              </a:rPr>
              <a:t>Vehicle hears outside sound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05655" y="2871216"/>
            <a:ext cx="19202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Roboto"/>
              </a:rPr>
              <a:t>Cochl.Sense classifies 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41648" y="3346704"/>
            <a:ext cx="2057400" cy="411480"/>
          </a:xfrm>
          <a:prstGeom prst="roundRect">
            <a:avLst>
              <a:gd name="adj" fmla="val 8000"/>
            </a:avLst>
          </a:prstGeom>
          <a:solidFill>
            <a:srgbClr val="EBDDFF"/>
          </a:solidFill>
          <a:ln w="9525">
            <a:solidFill>
              <a:srgbClr val="832B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05655" y="3346704"/>
            <a:ext cx="19202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832BFB"/>
                </a:solidFill>
                <a:latin typeface="Roboto"/>
              </a:rPr>
              <a:t>NEEDS INPUT: deployment proof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05655" y="3822191"/>
            <a:ext cx="19202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Roboto"/>
              </a:rPr>
              <a:t>Driver is alerted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73952" y="1463040"/>
            <a:ext cx="233172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BD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611112" y="1627632"/>
            <a:ext cx="1051560" cy="219456"/>
          </a:xfrm>
          <a:prstGeom prst="roundRect">
            <a:avLst>
              <a:gd name="adj" fmla="val 8000"/>
            </a:avLst>
          </a:prstGeom>
          <a:solidFill>
            <a:srgbClr val="832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11112" y="1627632"/>
            <a:ext cx="10515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Roboto"/>
              </a:rPr>
              <a:t>SAFETY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11112" y="1965960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Century Gothic"/>
              </a:rPr>
              <a:t>Alerts that matter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2395728"/>
            <a:ext cx="19202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Roboto"/>
              </a:rPr>
              <a:t>Sensor hears a safety sound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2871216"/>
            <a:ext cx="19202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Roboto"/>
              </a:rPr>
              <a:t>Cochl.Sense classifies it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11112" y="3346704"/>
            <a:ext cx="2057400" cy="411480"/>
          </a:xfrm>
          <a:prstGeom prst="roundRect">
            <a:avLst>
              <a:gd name="adj" fmla="val 8000"/>
            </a:avLst>
          </a:prstGeom>
          <a:solidFill>
            <a:srgbClr val="EBDDFF"/>
          </a:solidFill>
          <a:ln w="9525">
            <a:solidFill>
              <a:srgbClr val="832B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3346704"/>
            <a:ext cx="19202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832BFB"/>
                </a:solidFill>
                <a:latin typeface="Roboto"/>
              </a:rPr>
              <a:t>NEEDS INPUT: deployment proof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3822191"/>
            <a:ext cx="19202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Roboto"/>
              </a:rPr>
              <a:t>Responder is notified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5176" y="47365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Roboto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35024" y="667512"/>
            <a:ext cx="714146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>
                <a:solidFill>
                  <a:srgbClr val="000000"/>
                </a:solidFill>
                <a:latin typeface="Century Gothic"/>
              </a:rPr>
              <a:t>Traction and </a:t>
            </a:r>
            <a:r>
              <a:rPr sz="2700" b="0">
                <a:solidFill>
                  <a:srgbClr val="832BFB"/>
                </a:solidFill>
                <a:latin typeface="Century Gothic"/>
              </a:rPr>
              <a:t>market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35024" y="1463040"/>
            <a:ext cx="233172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BD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72184" y="1572768"/>
            <a:ext cx="2057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832BFB"/>
                </a:solidFill>
                <a:latin typeface="Century Gothic"/>
              </a:rPr>
              <a:t>30+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72184" y="212140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00000"/>
                </a:solidFill>
                <a:latin typeface="Roboto"/>
              </a:rPr>
              <a:t>Sound events recognized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04487" y="1463040"/>
            <a:ext cx="233172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BD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41648" y="1572768"/>
            <a:ext cx="2057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832BFB"/>
                </a:solidFill>
                <a:latin typeface="Century Gothic"/>
              </a:rPr>
              <a:t>TBD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41648" y="212140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00000"/>
                </a:solidFill>
                <a:latin typeface="Roboto"/>
              </a:rPr>
              <a:t>Market size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41648" y="2377440"/>
            <a:ext cx="2057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Roboto"/>
              </a:rPr>
              <a:t>NEEDS INPUT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73952" y="1463040"/>
            <a:ext cx="233172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BD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11112" y="1572768"/>
            <a:ext cx="2057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832BFB"/>
                </a:solidFill>
                <a:latin typeface="Century Gothic"/>
              </a:rPr>
              <a:t>TBD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11112" y="212140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00000"/>
                </a:solidFill>
                <a:latin typeface="Roboto"/>
              </a:rPr>
              <a:t>Revenue / ARR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11112" y="2377440"/>
            <a:ext cx="2057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Roboto"/>
              </a:rPr>
              <a:t>NEEDS INPUT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35024" y="2926080"/>
            <a:ext cx="233172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BD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72184" y="3035808"/>
            <a:ext cx="2057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832BFB"/>
                </a:solidFill>
                <a:latin typeface="Century Gothic"/>
              </a:rPr>
              <a:t>TBD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72184" y="35844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00000"/>
                </a:solidFill>
                <a:latin typeface="Roboto"/>
              </a:rPr>
              <a:t>Customers and partners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72184" y="3840480"/>
            <a:ext cx="2057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Roboto"/>
              </a:rPr>
              <a:t>NEEDS INPUT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04487" y="2926080"/>
            <a:ext cx="233172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BD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41648" y="3035808"/>
            <a:ext cx="2057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832BFB"/>
                </a:solidFill>
                <a:latin typeface="Century Gothic"/>
              </a:rPr>
              <a:t>TBD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41648" y="35844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00000"/>
                </a:solidFill>
                <a:latin typeface="Roboto"/>
              </a:rPr>
              <a:t>Recognition accuracy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41648" y="3840480"/>
            <a:ext cx="2057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Roboto"/>
              </a:rPr>
              <a:t>NEEDS INPUT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73952" y="2926080"/>
            <a:ext cx="233172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BD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11112" y="3035808"/>
            <a:ext cx="2057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832BFB"/>
                </a:solidFill>
                <a:latin typeface="Century Gothic"/>
              </a:rPr>
              <a:t>TBD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11112" y="35844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00000"/>
                </a:solidFill>
                <a:latin typeface="Roboto"/>
              </a:rPr>
              <a:t>Inference latency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11112" y="3840480"/>
            <a:ext cx="2057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Roboto"/>
              </a:rPr>
              <a:t>NEEDS INPUT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176" y="47365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Roboto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1874519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entury Gothic"/>
              </a:rPr>
              <a:t>Let’s give machines </a:t>
            </a:r>
            <a:r>
              <a:rPr sz="2800" b="1">
                <a:solidFill>
                  <a:srgbClr val="832BFB"/>
                </a:solidFill>
                <a:latin typeface="Century Gothic"/>
              </a:rPr>
              <a:t>hearing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578608"/>
            <a:ext cx="54864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EBDDFF"/>
                </a:solidFill>
                <a:latin typeface="Roboto"/>
              </a:rPr>
              <a:t>contact@cochl.ai  |  www.cochl.ai  |  San Francisco, CA, USA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017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EBDDFF"/>
                </a:solidFill>
                <a:latin typeface="Roboto"/>
              </a:rPr>
              <a:t>Round size and use of funds: NEEDS INPUT</a:t>
            </a:r>
          </a:p>
        </p:txBody>
      </p:sp>
      <p:pic>
        <p:nvPicPr>
          <p:cNvPr id="6" name="Picture 5" descr="_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7368" y="3904487"/>
            <a:ext cx="969264" cy="2194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