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048" y="1234440"/>
            <a:ext cx="536752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900" b="1" i="0">
                <a:solidFill>
                  <a:srgbClr val="FFFFFF"/>
                </a:solidFill>
                <a:latin typeface="Century Gothic"/>
              </a:rPr>
              <a:t>Cochl gives machines </a:t>
            </a:r>
            <a:r>
              <a:rPr sz="3900" b="1" i="0">
                <a:solidFill>
                  <a:srgbClr val="832BFB"/>
                </a:solidFill>
                <a:latin typeface="Century Gothic"/>
              </a:rPr>
              <a:t>hearing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572768" y="2377440"/>
            <a:ext cx="91440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2542032"/>
            <a:ext cx="5623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Century Gothic"/>
              </a:rPr>
              <a:t>Cochl.Sense is sound AI that recognizes 30+ sound events, delivered as a Cloud API and an Edge SDK.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333756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8B9BB4"/>
                </a:solidFill>
                <a:latin typeface="Roboto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entury Gothic"/>
              </a:rPr>
              <a:t>Seed / Series A investors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333756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8B9BB4"/>
                </a:solidFill>
                <a:latin typeface="Roboto"/>
              </a:rPr>
              <a:t>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entury Gothic"/>
              </a:rPr>
              <a:t>Investor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333756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8B9BB4"/>
                </a:solidFill>
                <a:latin typeface="Roboto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entury Gothic"/>
              </a:rPr>
              <a:t>2026-10</a:t>
            </a:r>
          </a:p>
        </p:txBody>
      </p:sp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986784"/>
            <a:ext cx="923544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5176" y="47365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Roboto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114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ourier New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667512"/>
            <a:ext cx="7141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Machines are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deaf</a:t>
            </a:r>
            <a:r>
              <a:rPr sz="2700" b="0" i="0">
                <a:solidFill>
                  <a:srgbClr val="000000"/>
                </a:solidFill>
                <a:latin typeface="Century Gothic"/>
              </a:rPr>
              <a:t> to the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024" y="1463040"/>
            <a:ext cx="2240280" cy="155448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5024" y="1463040"/>
            <a:ext cx="224028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2184" y="16276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Vision-only senses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196596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Devices see and read text, yet ignore the sounds that signal what is happening around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4487" y="1463040"/>
            <a:ext cx="2240280" cy="155448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04487" y="1463040"/>
            <a:ext cx="224028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16276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Critical events go unheard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196596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Glass breaking, alarms and impacts pass unnoticed unless a person is listening.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3952" y="1463040"/>
            <a:ext cx="2240280" cy="155448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3952" y="1463040"/>
            <a:ext cx="224028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6276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No sound 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196596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Teams have no ready-made way to add reliable hearing to a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5024" y="3246120"/>
            <a:ext cx="7141464" cy="950976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35024" y="3246120"/>
            <a:ext cx="36576" cy="9509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3375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333333"/>
                </a:solidFill>
                <a:latin typeface="Roboto"/>
              </a:rPr>
              <a:t>Hearing is the missing sense in connected devices.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3931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4B68FF"/>
                </a:solidFill>
                <a:latin typeface="Roboto"/>
              </a:rPr>
              <a:t>[NEEDS INPUT]</a:t>
            </a:r>
            <a:r>
              <a:rPr sz="900" b="0" i="0">
                <a:solidFill>
                  <a:srgbClr val="333333"/>
                </a:solidFill>
                <a:latin typeface="Roboto"/>
              </a:rPr>
              <a:t> Market size of the sound-awareness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13632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Pending verified research — do not present without a sourced figure.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0" b="1" i="0">
                <a:solidFill>
                  <a:srgbClr val="4A3A66"/>
                </a:solidFill>
                <a:latin typeface="Century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488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The </a:t>
            </a:r>
            <a:r>
              <a:rPr sz="3600" b="1" i="0">
                <a:solidFill>
                  <a:srgbClr val="832BFB"/>
                </a:solidFill>
                <a:latin typeface="Century Gothic"/>
              </a:rPr>
              <a:t>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2926080"/>
            <a:ext cx="54864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9C9D4"/>
                </a:solidFill>
                <a:latin typeface="Century Gothic"/>
              </a:rPr>
              <a:t>Give every device a sense of hearing.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5176" y="47365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Roboto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114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ourier New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667512"/>
            <a:ext cx="7141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Cochl.Sense adds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hearing</a:t>
            </a:r>
            <a:r>
              <a:rPr sz="2700" b="0" i="0">
                <a:solidFill>
                  <a:srgbClr val="000000"/>
                </a:solidFill>
                <a:latin typeface="Century Gothic"/>
              </a:rPr>
              <a:t> to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188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Roboto"/>
              </a:rPr>
              <a:t>One sound AI platform, two ways to deploy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5024" y="1737360"/>
            <a:ext cx="1645920" cy="219456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5024" y="1737360"/>
            <a:ext cx="164592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2" y="18745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832BFB"/>
                </a:solidFill>
                <a:latin typeface="Century Gothic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4752" y="2377440"/>
            <a:ext cx="365760" cy="228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248716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30+ sound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880360"/>
            <a:ext cx="14447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Recognizes a broad library of everyday and safety-critical sounds.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1" y="1737360"/>
            <a:ext cx="1645920" cy="219456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36391" y="1737360"/>
            <a:ext cx="164592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8745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832BFB"/>
                </a:solidFill>
                <a:latin typeface="Century Gothic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377440"/>
            <a:ext cx="365760" cy="228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48716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Cloud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880360"/>
            <a:ext cx="14447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Send audio, receive recognized sound events in your own application.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737360"/>
            <a:ext cx="1645920" cy="219456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737360"/>
            <a:ext cx="164592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18745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832BFB"/>
                </a:solidFill>
                <a:latin typeface="Century Gothic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7488" y="2377440"/>
            <a:ext cx="365760" cy="228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248716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Edge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880360"/>
            <a:ext cx="14447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Run recognition on the device itself, close to the sensor.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39128" y="1737360"/>
            <a:ext cx="1645920" cy="219456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39128" y="1737360"/>
            <a:ext cx="164592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6" y="18745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832BFB"/>
                </a:solidFill>
                <a:latin typeface="Century Gothic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8856" y="2377440"/>
            <a:ext cx="365760" cy="228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248716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Built for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2880360"/>
            <a:ext cx="14447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Drops into smart home, automotive and safety offerings.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5176" y="47365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Roboto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114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ourier New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667512"/>
            <a:ext cx="7141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Proven across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three</a:t>
            </a:r>
            <a:r>
              <a:rPr sz="2700" b="0" i="0">
                <a:solidFill>
                  <a:srgbClr val="000000"/>
                </a:solidFill>
                <a:latin typeface="Century Gothic"/>
              </a:rPr>
              <a:t>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87451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 i="0">
                <a:solidFill>
                  <a:srgbClr val="333333"/>
                </a:solidFill>
                <a:latin typeface="Segoe UI Emoj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2615184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Smart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926080"/>
            <a:ext cx="20025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Cochl.Sense lets home devices react to the sounds of daily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4487" y="187451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 i="0">
                <a:solidFill>
                  <a:srgbClr val="333333"/>
                </a:solidFill>
                <a:latin typeface="Segoe UI Emoji"/>
              </a:rPr>
              <a:t>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615184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Automotive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2926080"/>
            <a:ext cx="20025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In-vehicle systems can notice sounds the driver and cameras miss.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87451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 i="0">
                <a:solidFill>
                  <a:srgbClr val="333333"/>
                </a:solidFill>
                <a:latin typeface="Segoe UI Emoji"/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15184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926080"/>
            <a:ext cx="20025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Safety products detect alarming sounds as they happen.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5176" y="47365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Roboto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114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ourier New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667512"/>
            <a:ext cx="7141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A platform you can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deploy</a:t>
            </a:r>
            <a:r>
              <a:rPr sz="2700" b="0" i="0">
                <a:solidFill>
                  <a:srgbClr val="000000"/>
                </a:solidFill>
                <a:latin typeface="Century Gothic"/>
              </a:rPr>
              <a:t> anywhere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024" y="1554480"/>
            <a:ext cx="3474720" cy="265176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5024" y="1554480"/>
            <a:ext cx="347472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17904" y="17373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F80ED"/>
                </a:solidFill>
                <a:latin typeface="Century Gothic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21945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832BFB"/>
                </a:solidFill>
                <a:latin typeface="Roboto"/>
              </a:rPr>
              <a:t>▸ </a:t>
            </a:r>
            <a:r>
              <a:rPr sz="900" b="0" i="0">
                <a:solidFill>
                  <a:srgbClr val="333333"/>
                </a:solidFill>
                <a:latin typeface="Roboto"/>
              </a:rPr>
              <a:t>Sound AI recognizing 30+ sound events</a:t>
            </a:r>
          </a:p>
          <a:p>
            <a:r>
              <a:rPr sz="900" b="0" i="0">
                <a:solidFill>
                  <a:srgbClr val="832BFB"/>
                </a:solidFill>
                <a:latin typeface="Roboto"/>
              </a:rPr>
              <a:t>▸ </a:t>
            </a:r>
            <a:r>
              <a:rPr sz="900" b="0" i="0">
                <a:solidFill>
                  <a:srgbClr val="333333"/>
                </a:solidFill>
                <a:latin typeface="Roboto"/>
              </a:rPr>
              <a:t>Cloud API for server-side integration</a:t>
            </a:r>
          </a:p>
          <a:p>
            <a:r>
              <a:rPr sz="900" b="0" i="0">
                <a:solidFill>
                  <a:srgbClr val="832BFB"/>
                </a:solidFill>
                <a:latin typeface="Roboto"/>
              </a:rPr>
              <a:t>▸ </a:t>
            </a:r>
            <a:r>
              <a:rPr sz="900" b="0" i="0">
                <a:solidFill>
                  <a:srgbClr val="333333"/>
                </a:solidFill>
                <a:latin typeface="Roboto"/>
              </a:rPr>
              <a:t>Edge SDK for on-device inference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2624" y="1554480"/>
            <a:ext cx="3474720" cy="2651760"/>
          </a:xfrm>
          <a:prstGeom prst="rect">
            <a:avLst/>
          </a:prstGeom>
          <a:solidFill>
            <a:srgbClr val="FAF8FF"/>
          </a:solidFill>
          <a:ln w="9525">
            <a:solidFill>
              <a:srgbClr val="E6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92624" y="1554480"/>
            <a:ext cx="347472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7373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832BFB"/>
                </a:solidFill>
                <a:latin typeface="Century Gothic"/>
              </a:rPr>
              <a:t>Traction &amp;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21945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832BFB"/>
                </a:solidFill>
                <a:latin typeface="Roboto"/>
              </a:rPr>
              <a:t>▸ </a:t>
            </a:r>
            <a:r>
              <a:rPr sz="900" b="0" i="0">
                <a:solidFill>
                  <a:srgbClr val="333333"/>
                </a:solidFill>
                <a:latin typeface="Roboto"/>
              </a:rPr>
              <a:t>Customers in smart home, automotive, safety</a:t>
            </a:r>
          </a:p>
          <a:p>
            <a:r>
              <a:rPr sz="900" b="0" i="0">
                <a:solidFill>
                  <a:srgbClr val="832BFB"/>
                </a:solidFill>
                <a:latin typeface="Roboto"/>
              </a:rPr>
              <a:t>▸ </a:t>
            </a:r>
            <a:r>
              <a:rPr sz="900" b="0" i="0">
                <a:solidFill>
                  <a:srgbClr val="333333"/>
                </a:solidFill>
                <a:latin typeface="Roboto"/>
              </a:rPr>
              <a:t>Named customers: </a:t>
            </a:r>
            <a:r>
              <a:rPr sz="900" b="0" i="1">
                <a:solidFill>
                  <a:srgbClr val="4B68FF"/>
                </a:solidFill>
                <a:latin typeface="Roboto"/>
              </a:rPr>
              <a:t>[NEEDS INPUT]</a:t>
            </a:r>
          </a:p>
          <a:p>
            <a:r>
              <a:rPr sz="900" b="0" i="0">
                <a:solidFill>
                  <a:srgbClr val="832BFB"/>
                </a:solidFill>
                <a:latin typeface="Roboto"/>
              </a:rPr>
              <a:t>▸ </a:t>
            </a:r>
            <a:r>
              <a:rPr sz="900" b="0" i="0">
                <a:solidFill>
                  <a:srgbClr val="333333"/>
                </a:solidFill>
                <a:latin typeface="Roboto"/>
              </a:rPr>
              <a:t>Certifications and awards: </a:t>
            </a:r>
            <a:r>
              <a:rPr sz="900" b="0" i="1">
                <a:solidFill>
                  <a:srgbClr val="4B68FF"/>
                </a:solidFill>
                <a:latin typeface="Roboto"/>
              </a:rPr>
              <a:t>[NEEDS INPUT]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0" b="1" i="0">
                <a:solidFill>
                  <a:srgbClr val="4A3A66"/>
                </a:solidFill>
                <a:latin typeface="Century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488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The </a:t>
            </a:r>
            <a:r>
              <a:rPr sz="3600" b="1" i="0">
                <a:solidFill>
                  <a:srgbClr val="832BFB"/>
                </a:solidFill>
                <a:latin typeface="Century Gothic"/>
              </a:rPr>
              <a:t>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2926080"/>
            <a:ext cx="548640" cy="36576"/>
          </a:xfrm>
          <a:prstGeom prst="rect">
            <a:avLst/>
          </a:prstGeom>
          <a:solidFill>
            <a:srgbClr val="832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9C9D4"/>
                </a:solidFill>
                <a:latin typeface="Century Gothic"/>
              </a:rPr>
              <a:t>What investors need to size the business.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5176" y="47365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Roboto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114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ourier New"/>
              </a:rP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667512"/>
            <a:ext cx="7141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The numbers that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1">
                <a:solidFill>
                  <a:srgbClr val="4B68FF"/>
                </a:solidFill>
                <a:latin typeface="Century Gothic"/>
              </a:rPr>
              <a:t>[NEEDS INPUT]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23774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834640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3127248"/>
            <a:ext cx="20025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Total addressable market for sound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1">
                <a:solidFill>
                  <a:srgbClr val="4B68FF"/>
                </a:solidFill>
                <a:latin typeface="Century Gothic"/>
              </a:rPr>
              <a:t>[NEEDS INPUT]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23774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2834640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3127248"/>
            <a:ext cx="20025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Revenue or ARR to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1">
                <a:solidFill>
                  <a:srgbClr val="4B68FF"/>
                </a:solidFill>
                <a:latin typeface="Century Gothic"/>
              </a:rPr>
              <a:t>[NEEDS INPUT]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774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834640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Roboto"/>
              </a:rPr>
              <a:t>The 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127248"/>
            <a:ext cx="20025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Roboto"/>
              </a:rPr>
              <a:t>Round size and use of funds.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entury Gothic"/>
              </a:rPr>
              <a:t>Let us build the </a:t>
            </a:r>
            <a:r>
              <a:rPr sz="2700" b="1" i="0">
                <a:solidFill>
                  <a:srgbClr val="832BFB"/>
                </a:solidFill>
                <a:latin typeface="Century Gothic"/>
              </a:rPr>
              <a:t>hearing</a:t>
            </a:r>
            <a:r>
              <a:rPr sz="2700" b="1" i="0">
                <a:solidFill>
                  <a:srgbClr val="FFFFFF"/>
                </a:solidFill>
                <a:latin typeface="Century Gothic"/>
              </a:rPr>
              <a:t> layer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BDDFF"/>
                </a:solidFill>
                <a:latin typeface="Roboto"/>
              </a:rPr>
              <a:t>Seed / Series A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1691640"/>
            <a:ext cx="2057400" cy="1234440"/>
          </a:xfrm>
          <a:prstGeom prst="rect">
            <a:avLst/>
          </a:prstGeom>
          <a:solidFill>
            <a:srgbClr val="2A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Roboto"/>
              </a:rPr>
              <a:t>Intro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D8D0E8"/>
                </a:solidFill>
                <a:latin typeface="Roboto"/>
              </a:rPr>
              <a:t>Walk through the vision and the market.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91640"/>
            <a:ext cx="2057400" cy="1234440"/>
          </a:xfrm>
          <a:prstGeom prst="rect">
            <a:avLst/>
          </a:prstGeom>
          <a:solidFill>
            <a:srgbClr val="2A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Roboto"/>
              </a:rPr>
              <a:t>Product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D8D0E8"/>
                </a:solidFill>
                <a:latin typeface="Roboto"/>
              </a:rPr>
              <a:t>See Cochl.Sense recognize live sound.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691640"/>
            <a:ext cx="2057400" cy="1234440"/>
          </a:xfrm>
          <a:prstGeom prst="rect">
            <a:avLst/>
          </a:prstGeom>
          <a:solidFill>
            <a:srgbClr val="2A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783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945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Roboto"/>
              </a:rPr>
              <a:t>Diligence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46888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D8D0E8"/>
                </a:solidFill>
                <a:latin typeface="Roboto"/>
              </a:rPr>
              <a:t>Metrics, customers and roadmap.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entury Gothic"/>
              </a:rPr>
              <a:t>Machines that can hear are the next interface.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BDDFF"/>
                </a:solidFill>
                <a:latin typeface="Roboto"/>
              </a:rPr>
              <a:t>Intro  →  Demo  →  Diligence  →  Terms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BDDFF"/>
                </a:solidFill>
                <a:latin typeface="Roboto"/>
              </a:rPr>
              <a:t>contact@cochl.ai  ·  www.cochl.ai  ·  San Francisco, CA, USA</a:t>
            </a:r>
          </a:p>
        </p:txBody>
      </p:sp>
      <p:pic>
        <p:nvPicPr>
          <p:cNvPr id="20" name="Picture 19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4434840"/>
            <a:ext cx="969264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