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9144000" cy="5143500"/>
  <p:notesSz cx="5143500" cy="9144000"/>
  <p:embeddedFontLst>
    <p:embeddedFont>
      <p:font typeface="IBM Plex Sans"/>
      <p:regular r:id="rId61"/>
    </p:embeddedFont>
    <p:embeddedFont>
      <p:font typeface="Roboto"/>
      <p:regular r:id="rId62"/>
    </p:embeddedFont>
    <p:embeddedFont>
      <p:font typeface="Public Sans"/>
      <p:regular r:id="rId63"/>
    </p:embeddedFont>
    <p:embeddedFont>
      <p:font typeface="Plus Jakarta Sans"/>
      <p:regular r:id="rId64"/>
    </p:embeddedFont>
    <p:embeddedFont>
      <p:font typeface="Lora"/>
      <p:regular r:id="rId65"/>
    </p:embeddedFont>
    <p:embeddedFont>
      <p:font typeface="Inter"/>
      <p:regular r:id="rId66"/>
    </p:embeddedFont>
    <p:embeddedFont>
      <p:font typeface="IBM Plex Mono"/>
      <p:regular r:id="rId6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Relationship xmlns="" Id="rId61" Type="http://schemas.openxmlformats.org/officeDocument/2006/relationships/font" Target="fonts/rId61.fntdata"/><Relationship xmlns="" Id="rId62" Type="http://schemas.openxmlformats.org/officeDocument/2006/relationships/font" Target="fonts/rId62.fntdata"/><Relationship xmlns="" Id="rId63" Type="http://schemas.openxmlformats.org/officeDocument/2006/relationships/font" Target="fonts/rId63.fntdata"/><Relationship xmlns="" Id="rId64" Type="http://schemas.openxmlformats.org/officeDocument/2006/relationships/font" Target="fonts/rId64.fntdata"/><Relationship xmlns="" Id="rId65" Type="http://schemas.openxmlformats.org/officeDocument/2006/relationships/font" Target="fonts/rId65.fntdata"/><Relationship xmlns="" Id="rId66" Type="http://schemas.openxmlformats.org/officeDocument/2006/relationships/font" Target="fonts/rId66.fntdata"/><Relationship xmlns="" Id="rId67" Type="http://schemas.openxmlformats.org/officeDocument/2006/relationships/font" Target="fonts/rId67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Strategy &amp; Process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Strategy &amp; Process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Strategy &amp; Process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Strategy &amp; Process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image" Target="../media/image-4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image" Target="../media/image-4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2413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05375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62275" y="3567113"/>
            <a:ext cx="97631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: XX 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5162550" y="3567113"/>
            <a:ext cx="9810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ROUND: XX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2076450" y="3952875"/>
            <a:ext cx="4991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REVIEW</a:t>
            </a:r>
            <a:endParaRPr lang="en-US" sz="1425" dirty="0"/>
          </a:p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COMPANY / TEAM NAME</a:t>
            </a:r>
            <a:endParaRPr lang="en-US" sz="1425" dirty="0"/>
          </a:p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 ONE, PERSON TWO</a:t>
            </a:r>
            <a:endParaRPr lang="en-US" sz="1425" dirty="0"/>
          </a:p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TODAY’S DATE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285750" y="738188"/>
            <a:ext cx="857250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31"/>
              </a:lnSpc>
              <a:buNone/>
            </a:pPr>
            <a:r>
              <a:rPr lang="en-US" sz="6555" spc="-262" kern="0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REVIEW</a:t>
            </a:r>
            <a:endParaRPr lang="en-US" sz="6555" dirty="0"/>
          </a:p>
        </p:txBody>
      </p:sp>
      <p:sp>
        <p:nvSpPr>
          <p:cNvPr id="9" name="Shape 7"/>
          <p:cNvSpPr/>
          <p:nvPr/>
        </p:nvSpPr>
        <p:spPr>
          <a:xfrm>
            <a:off x="0" y="3509963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1501" y="66675"/>
            <a:ext cx="381000" cy="82021"/>
          </a:xfrm>
          <a:prstGeom prst="rect">
            <a:avLst/>
          </a:prstGeom>
          <a:noFill/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1500" y="84216"/>
            <a:ext cx="63819" cy="6448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61450" y="66675"/>
            <a:ext cx="300786" cy="819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05375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62275" y="3567113"/>
            <a:ext cx="97631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: XX 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5162550" y="3567113"/>
            <a:ext cx="9810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ROUND: XX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2076450" y="3952875"/>
            <a:ext cx="4991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REVIEW</a:t>
            </a:r>
            <a:endParaRPr lang="en-US" sz="1425" dirty="0"/>
          </a:p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COMPANY / TEAM NAME</a:t>
            </a:r>
            <a:endParaRPr lang="en-US" sz="1425" dirty="0"/>
          </a:p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 ONE, PERSON TWO</a:t>
            </a:r>
            <a:endParaRPr lang="en-US" sz="1425" dirty="0"/>
          </a:p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TODAY’S DATE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285750" y="738188"/>
            <a:ext cx="857250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31"/>
              </a:lnSpc>
              <a:buNone/>
            </a:pPr>
            <a:r>
              <a:rPr lang="en-US" sz="6555" spc="-262" kern="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REVIEW</a:t>
            </a:r>
            <a:endParaRPr lang="en-US" sz="6555" dirty="0"/>
          </a:p>
        </p:txBody>
      </p:sp>
      <p:sp>
        <p:nvSpPr>
          <p:cNvPr id="8" name="Shape 6"/>
          <p:cNvSpPr/>
          <p:nvPr/>
        </p:nvSpPr>
        <p:spPr>
          <a:xfrm>
            <a:off x="0" y="3509963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52413"/>
            <a:ext cx="9144000" cy="0"/>
          </a:xfrm>
          <a:prstGeom prst="line">
            <a:avLst/>
          </a:prstGeom>
          <a:solidFill>
            <a:srgbClr val="000000"/>
          </a:solidFill>
          <a:ln w="4524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1500" y="66675"/>
            <a:ext cx="381000" cy="82021"/>
          </a:xfrm>
          <a:prstGeom prst="rect">
            <a:avLst/>
          </a:prstGeom>
          <a:noFill/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1500" y="84216"/>
            <a:ext cx="63819" cy="6448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61450" y="66675"/>
            <a:ext cx="300786" cy="819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991100" y="614363"/>
            <a:ext cx="3200400" cy="4071938"/>
          </a:xfrm>
          <a:prstGeom prst="rect">
            <a:avLst/>
          </a:prstGeom>
          <a:noFill/>
          <a:ln/>
        </p:spPr>
      </p:sp>
      <p:sp>
        <p:nvSpPr>
          <p:cNvPr id="5" name="Shape 2"/>
          <p:cNvSpPr/>
          <p:nvPr/>
        </p:nvSpPr>
        <p:spPr>
          <a:xfrm>
            <a:off x="5005388" y="614363"/>
            <a:ext cx="3186113" cy="381000"/>
          </a:xfrm>
          <a:prstGeom prst="rect">
            <a:avLst/>
          </a:prstGeom>
          <a:noFill/>
          <a:ln/>
        </p:spPr>
      </p:sp>
      <p:sp>
        <p:nvSpPr>
          <p:cNvPr id="6" name="Text 3"/>
          <p:cNvSpPr/>
          <p:nvPr/>
        </p:nvSpPr>
        <p:spPr>
          <a:xfrm>
            <a:off x="5005388" y="614363"/>
            <a:ext cx="390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81" spc="-71" kern="0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1781" dirty="0"/>
          </a:p>
        </p:txBody>
      </p:sp>
      <p:sp>
        <p:nvSpPr>
          <p:cNvPr id="7" name="Text 4"/>
          <p:cNvSpPr/>
          <p:nvPr/>
        </p:nvSpPr>
        <p:spPr>
          <a:xfrm>
            <a:off x="5776913" y="728663"/>
            <a:ext cx="16144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603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Overview </a:t>
            </a:r>
            <a:endParaRPr lang="en-US" sz="1603" dirty="0"/>
          </a:p>
        </p:txBody>
      </p:sp>
      <p:sp>
        <p:nvSpPr>
          <p:cNvPr id="8" name="Text 5"/>
          <p:cNvSpPr/>
          <p:nvPr/>
        </p:nvSpPr>
        <p:spPr>
          <a:xfrm>
            <a:off x="5791200" y="1090613"/>
            <a:ext cx="1614488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247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things to know</a:t>
            </a:r>
            <a:endParaRPr lang="en-US" sz="1247" dirty="0"/>
          </a:p>
        </p:txBody>
      </p:sp>
      <p:sp>
        <p:nvSpPr>
          <p:cNvPr id="9" name="Text 6"/>
          <p:cNvSpPr/>
          <p:nvPr/>
        </p:nvSpPr>
        <p:spPr>
          <a:xfrm>
            <a:off x="5791200" y="1333500"/>
            <a:ext cx="1614488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247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goal</a:t>
            </a:r>
            <a:endParaRPr lang="en-US" sz="1247" dirty="0"/>
          </a:p>
        </p:txBody>
      </p:sp>
      <p:sp>
        <p:nvSpPr>
          <p:cNvPr id="10" name="Shape 7"/>
          <p:cNvSpPr/>
          <p:nvPr/>
        </p:nvSpPr>
        <p:spPr>
          <a:xfrm>
            <a:off x="5005388" y="1590675"/>
            <a:ext cx="3186113" cy="381000"/>
          </a:xfrm>
          <a:prstGeom prst="rect">
            <a:avLst/>
          </a:prstGeom>
          <a:noFill/>
          <a:ln/>
        </p:spPr>
      </p:sp>
      <p:sp>
        <p:nvSpPr>
          <p:cNvPr id="11" name="Text 8"/>
          <p:cNvSpPr/>
          <p:nvPr/>
        </p:nvSpPr>
        <p:spPr>
          <a:xfrm>
            <a:off x="5005388" y="1590675"/>
            <a:ext cx="390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81" spc="-71" kern="0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1781" dirty="0"/>
          </a:p>
        </p:txBody>
      </p:sp>
      <p:sp>
        <p:nvSpPr>
          <p:cNvPr id="12" name="Text 9"/>
          <p:cNvSpPr/>
          <p:nvPr/>
        </p:nvSpPr>
        <p:spPr>
          <a:xfrm>
            <a:off x="5776913" y="1704975"/>
            <a:ext cx="26622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603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Discovery</a:t>
            </a:r>
            <a:endParaRPr lang="en-US" sz="1603" dirty="0"/>
          </a:p>
        </p:txBody>
      </p:sp>
      <p:sp>
        <p:nvSpPr>
          <p:cNvPr id="13" name="Shape 10"/>
          <p:cNvSpPr/>
          <p:nvPr/>
        </p:nvSpPr>
        <p:spPr>
          <a:xfrm>
            <a:off x="5791200" y="2066925"/>
            <a:ext cx="1614488" cy="604838"/>
          </a:xfrm>
          <a:prstGeom prst="rect">
            <a:avLst/>
          </a:prstGeom>
          <a:noFill/>
          <a:ln/>
        </p:spPr>
      </p:sp>
      <p:sp>
        <p:nvSpPr>
          <p:cNvPr id="14" name="Text 11"/>
          <p:cNvSpPr/>
          <p:nvPr/>
        </p:nvSpPr>
        <p:spPr>
          <a:xfrm>
            <a:off x="5791200" y="2066925"/>
            <a:ext cx="1614488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247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 research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91200" y="2309813"/>
            <a:ext cx="1614488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247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Insights 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91200" y="2552700"/>
            <a:ext cx="1614488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247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Persona </a:t>
            </a:r>
            <a:endParaRPr lang="en-US" sz="1247" dirty="0"/>
          </a:p>
        </p:txBody>
      </p:sp>
      <p:sp>
        <p:nvSpPr>
          <p:cNvPr id="17" name="Shape 14"/>
          <p:cNvSpPr/>
          <p:nvPr/>
        </p:nvSpPr>
        <p:spPr>
          <a:xfrm>
            <a:off x="5005388" y="2809875"/>
            <a:ext cx="3186113" cy="381000"/>
          </a:xfrm>
          <a:prstGeom prst="rect">
            <a:avLst/>
          </a:prstGeom>
          <a:noFill/>
          <a:ln/>
        </p:spPr>
      </p:sp>
      <p:sp>
        <p:nvSpPr>
          <p:cNvPr id="18" name="Text 15"/>
          <p:cNvSpPr/>
          <p:nvPr/>
        </p:nvSpPr>
        <p:spPr>
          <a:xfrm>
            <a:off x="5005388" y="2809875"/>
            <a:ext cx="390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81" spc="-71" kern="0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1781" dirty="0"/>
          </a:p>
        </p:txBody>
      </p:sp>
      <p:sp>
        <p:nvSpPr>
          <p:cNvPr id="19" name="Text 16"/>
          <p:cNvSpPr/>
          <p:nvPr/>
        </p:nvSpPr>
        <p:spPr>
          <a:xfrm>
            <a:off x="5776913" y="2924175"/>
            <a:ext cx="26622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603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Strategy &amp; Process</a:t>
            </a:r>
            <a:endParaRPr lang="en-US" sz="1603" dirty="0"/>
          </a:p>
        </p:txBody>
      </p:sp>
      <p:sp>
        <p:nvSpPr>
          <p:cNvPr id="20" name="Shape 17"/>
          <p:cNvSpPr/>
          <p:nvPr/>
        </p:nvSpPr>
        <p:spPr>
          <a:xfrm>
            <a:off x="5791200" y="3286125"/>
            <a:ext cx="2400300" cy="361950"/>
          </a:xfrm>
          <a:prstGeom prst="rect">
            <a:avLst/>
          </a:prstGeom>
          <a:noFill/>
          <a:ln/>
        </p:spPr>
      </p:sp>
      <p:sp>
        <p:nvSpPr>
          <p:cNvPr id="21" name="Text 18"/>
          <p:cNvSpPr/>
          <p:nvPr/>
        </p:nvSpPr>
        <p:spPr>
          <a:xfrm>
            <a:off x="5791200" y="3286125"/>
            <a:ext cx="24003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247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Feedback Needed</a:t>
            </a:r>
            <a:endParaRPr lang="en-US" sz="1247" dirty="0"/>
          </a:p>
        </p:txBody>
      </p:sp>
      <p:sp>
        <p:nvSpPr>
          <p:cNvPr id="22" name="Text 19"/>
          <p:cNvSpPr/>
          <p:nvPr/>
        </p:nvSpPr>
        <p:spPr>
          <a:xfrm>
            <a:off x="5791200" y="3529013"/>
            <a:ext cx="24003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247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Proposed Concept</a:t>
            </a:r>
            <a:endParaRPr lang="en-US" sz="1247" dirty="0"/>
          </a:p>
        </p:txBody>
      </p:sp>
      <p:sp>
        <p:nvSpPr>
          <p:cNvPr id="23" name="Shape 20"/>
          <p:cNvSpPr/>
          <p:nvPr/>
        </p:nvSpPr>
        <p:spPr>
          <a:xfrm>
            <a:off x="4991100" y="3786188"/>
            <a:ext cx="3200400" cy="381000"/>
          </a:xfrm>
          <a:prstGeom prst="rect">
            <a:avLst/>
          </a:prstGeom>
          <a:noFill/>
          <a:ln/>
        </p:spPr>
      </p:sp>
      <p:sp>
        <p:nvSpPr>
          <p:cNvPr id="24" name="Text 21"/>
          <p:cNvSpPr/>
          <p:nvPr/>
        </p:nvSpPr>
        <p:spPr>
          <a:xfrm>
            <a:off x="4991100" y="3786188"/>
            <a:ext cx="390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81" spc="-71" kern="0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</a:t>
            </a:r>
            <a:endParaRPr lang="en-US" sz="1781" dirty="0"/>
          </a:p>
        </p:txBody>
      </p:sp>
      <p:sp>
        <p:nvSpPr>
          <p:cNvPr id="25" name="Text 22"/>
          <p:cNvSpPr/>
          <p:nvPr/>
        </p:nvSpPr>
        <p:spPr>
          <a:xfrm>
            <a:off x="5762625" y="3900488"/>
            <a:ext cx="31003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603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Deliverables</a:t>
            </a:r>
            <a:endParaRPr lang="en-US" sz="1603" dirty="0"/>
          </a:p>
        </p:txBody>
      </p:sp>
      <p:sp>
        <p:nvSpPr>
          <p:cNvPr id="26" name="Shape 23"/>
          <p:cNvSpPr/>
          <p:nvPr/>
        </p:nvSpPr>
        <p:spPr>
          <a:xfrm>
            <a:off x="4991100" y="4305300"/>
            <a:ext cx="3200400" cy="381000"/>
          </a:xfrm>
          <a:prstGeom prst="rect">
            <a:avLst/>
          </a:prstGeom>
          <a:noFill/>
          <a:ln/>
        </p:spPr>
      </p:sp>
      <p:sp>
        <p:nvSpPr>
          <p:cNvPr id="27" name="Text 24"/>
          <p:cNvSpPr/>
          <p:nvPr/>
        </p:nvSpPr>
        <p:spPr>
          <a:xfrm>
            <a:off x="4991100" y="4305300"/>
            <a:ext cx="390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81" spc="-71" kern="0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05</a:t>
            </a:r>
            <a:endParaRPr lang="en-US" sz="1781" dirty="0"/>
          </a:p>
        </p:txBody>
      </p:sp>
      <p:sp>
        <p:nvSpPr>
          <p:cNvPr id="28" name="Text 25"/>
          <p:cNvSpPr/>
          <p:nvPr/>
        </p:nvSpPr>
        <p:spPr>
          <a:xfrm>
            <a:off x="5762625" y="4419600"/>
            <a:ext cx="31003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603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Steps</a:t>
            </a:r>
            <a:endParaRPr lang="en-US" sz="1603" dirty="0"/>
          </a:p>
        </p:txBody>
      </p:sp>
      <p:sp>
        <p:nvSpPr>
          <p:cNvPr id="29" name="Text 26"/>
          <p:cNvSpPr/>
          <p:nvPr/>
        </p:nvSpPr>
        <p:spPr>
          <a:xfrm>
            <a:off x="800100" y="2338388"/>
            <a:ext cx="14001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3"/>
              </a:lnSpc>
              <a:buNone/>
            </a:pPr>
            <a:r>
              <a:rPr lang="en-US" sz="2672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</a:t>
            </a:r>
            <a:endParaRPr lang="en-US" sz="267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solidFill>
            <a:srgbClr val="000000"/>
          </a:solidFill>
          <a:ln w="4524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991100" y="614363"/>
            <a:ext cx="3200400" cy="4071938"/>
          </a:xfrm>
          <a:prstGeom prst="rect">
            <a:avLst/>
          </a:prstGeom>
          <a:noFill/>
          <a:ln/>
        </p:spPr>
      </p:sp>
      <p:sp>
        <p:nvSpPr>
          <p:cNvPr id="5" name="Shape 2"/>
          <p:cNvSpPr/>
          <p:nvPr/>
        </p:nvSpPr>
        <p:spPr>
          <a:xfrm>
            <a:off x="5005388" y="614363"/>
            <a:ext cx="3186113" cy="381000"/>
          </a:xfrm>
          <a:prstGeom prst="rect">
            <a:avLst/>
          </a:prstGeom>
          <a:noFill/>
          <a:ln/>
        </p:spPr>
      </p:sp>
      <p:sp>
        <p:nvSpPr>
          <p:cNvPr id="6" name="Text 3"/>
          <p:cNvSpPr/>
          <p:nvPr/>
        </p:nvSpPr>
        <p:spPr>
          <a:xfrm>
            <a:off x="5005388" y="614363"/>
            <a:ext cx="390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81" spc="-71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1781" dirty="0"/>
          </a:p>
        </p:txBody>
      </p:sp>
      <p:sp>
        <p:nvSpPr>
          <p:cNvPr id="7" name="Text 4"/>
          <p:cNvSpPr/>
          <p:nvPr/>
        </p:nvSpPr>
        <p:spPr>
          <a:xfrm>
            <a:off x="5776913" y="728663"/>
            <a:ext cx="16144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603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Overview </a:t>
            </a:r>
            <a:endParaRPr lang="en-US" sz="1603" dirty="0"/>
          </a:p>
        </p:txBody>
      </p:sp>
      <p:sp>
        <p:nvSpPr>
          <p:cNvPr id="8" name="Text 5"/>
          <p:cNvSpPr/>
          <p:nvPr/>
        </p:nvSpPr>
        <p:spPr>
          <a:xfrm>
            <a:off x="5791200" y="1090613"/>
            <a:ext cx="1614488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247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things to know</a:t>
            </a:r>
            <a:endParaRPr lang="en-US" sz="1247" dirty="0"/>
          </a:p>
        </p:txBody>
      </p:sp>
      <p:sp>
        <p:nvSpPr>
          <p:cNvPr id="9" name="Text 6"/>
          <p:cNvSpPr/>
          <p:nvPr/>
        </p:nvSpPr>
        <p:spPr>
          <a:xfrm>
            <a:off x="5791200" y="1333500"/>
            <a:ext cx="1614488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247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goal</a:t>
            </a:r>
            <a:endParaRPr lang="en-US" sz="1247" dirty="0"/>
          </a:p>
        </p:txBody>
      </p:sp>
      <p:sp>
        <p:nvSpPr>
          <p:cNvPr id="10" name="Shape 7"/>
          <p:cNvSpPr/>
          <p:nvPr/>
        </p:nvSpPr>
        <p:spPr>
          <a:xfrm>
            <a:off x="5005388" y="1590675"/>
            <a:ext cx="3186113" cy="381000"/>
          </a:xfrm>
          <a:prstGeom prst="rect">
            <a:avLst/>
          </a:prstGeom>
          <a:noFill/>
          <a:ln/>
        </p:spPr>
      </p:sp>
      <p:sp>
        <p:nvSpPr>
          <p:cNvPr id="11" name="Text 8"/>
          <p:cNvSpPr/>
          <p:nvPr/>
        </p:nvSpPr>
        <p:spPr>
          <a:xfrm>
            <a:off x="5005388" y="1590675"/>
            <a:ext cx="390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81" spc="-71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1781" dirty="0"/>
          </a:p>
        </p:txBody>
      </p:sp>
      <p:sp>
        <p:nvSpPr>
          <p:cNvPr id="12" name="Text 9"/>
          <p:cNvSpPr/>
          <p:nvPr/>
        </p:nvSpPr>
        <p:spPr>
          <a:xfrm>
            <a:off x="5776913" y="1704975"/>
            <a:ext cx="26622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603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Discovery</a:t>
            </a:r>
            <a:endParaRPr lang="en-US" sz="1603" dirty="0"/>
          </a:p>
        </p:txBody>
      </p:sp>
      <p:sp>
        <p:nvSpPr>
          <p:cNvPr id="13" name="Shape 10"/>
          <p:cNvSpPr/>
          <p:nvPr/>
        </p:nvSpPr>
        <p:spPr>
          <a:xfrm>
            <a:off x="5791200" y="2066925"/>
            <a:ext cx="1614488" cy="604838"/>
          </a:xfrm>
          <a:prstGeom prst="rect">
            <a:avLst/>
          </a:prstGeom>
          <a:noFill/>
          <a:ln/>
        </p:spPr>
      </p:sp>
      <p:sp>
        <p:nvSpPr>
          <p:cNvPr id="14" name="Text 11"/>
          <p:cNvSpPr/>
          <p:nvPr/>
        </p:nvSpPr>
        <p:spPr>
          <a:xfrm>
            <a:off x="5791200" y="2066925"/>
            <a:ext cx="1614488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247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 research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91200" y="2309813"/>
            <a:ext cx="1614488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247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Insights 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91200" y="2552700"/>
            <a:ext cx="1614488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247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Persona </a:t>
            </a:r>
            <a:endParaRPr lang="en-US" sz="1247" dirty="0"/>
          </a:p>
        </p:txBody>
      </p:sp>
      <p:sp>
        <p:nvSpPr>
          <p:cNvPr id="17" name="Shape 14"/>
          <p:cNvSpPr/>
          <p:nvPr/>
        </p:nvSpPr>
        <p:spPr>
          <a:xfrm>
            <a:off x="5005388" y="2809875"/>
            <a:ext cx="3186113" cy="381000"/>
          </a:xfrm>
          <a:prstGeom prst="rect">
            <a:avLst/>
          </a:prstGeom>
          <a:noFill/>
          <a:ln/>
        </p:spPr>
      </p:sp>
      <p:sp>
        <p:nvSpPr>
          <p:cNvPr id="18" name="Text 15"/>
          <p:cNvSpPr/>
          <p:nvPr/>
        </p:nvSpPr>
        <p:spPr>
          <a:xfrm>
            <a:off x="5005388" y="2809875"/>
            <a:ext cx="390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81" spc="-71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1781" dirty="0"/>
          </a:p>
        </p:txBody>
      </p:sp>
      <p:sp>
        <p:nvSpPr>
          <p:cNvPr id="19" name="Text 16"/>
          <p:cNvSpPr/>
          <p:nvPr/>
        </p:nvSpPr>
        <p:spPr>
          <a:xfrm>
            <a:off x="5776913" y="2924175"/>
            <a:ext cx="26622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603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Strategy &amp; Process</a:t>
            </a:r>
            <a:endParaRPr lang="en-US" sz="1603" dirty="0"/>
          </a:p>
        </p:txBody>
      </p:sp>
      <p:sp>
        <p:nvSpPr>
          <p:cNvPr id="20" name="Shape 17"/>
          <p:cNvSpPr/>
          <p:nvPr/>
        </p:nvSpPr>
        <p:spPr>
          <a:xfrm>
            <a:off x="5791200" y="3286125"/>
            <a:ext cx="2400300" cy="361950"/>
          </a:xfrm>
          <a:prstGeom prst="rect">
            <a:avLst/>
          </a:prstGeom>
          <a:noFill/>
          <a:ln/>
        </p:spPr>
      </p:sp>
      <p:sp>
        <p:nvSpPr>
          <p:cNvPr id="21" name="Text 18"/>
          <p:cNvSpPr/>
          <p:nvPr/>
        </p:nvSpPr>
        <p:spPr>
          <a:xfrm>
            <a:off x="5791200" y="3286125"/>
            <a:ext cx="24003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247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Feedback Needed</a:t>
            </a:r>
            <a:endParaRPr lang="en-US" sz="1247" dirty="0"/>
          </a:p>
        </p:txBody>
      </p:sp>
      <p:sp>
        <p:nvSpPr>
          <p:cNvPr id="22" name="Text 19"/>
          <p:cNvSpPr/>
          <p:nvPr/>
        </p:nvSpPr>
        <p:spPr>
          <a:xfrm>
            <a:off x="5791200" y="3529013"/>
            <a:ext cx="24003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247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Proposed Concept</a:t>
            </a:r>
            <a:endParaRPr lang="en-US" sz="1247" dirty="0"/>
          </a:p>
        </p:txBody>
      </p:sp>
      <p:sp>
        <p:nvSpPr>
          <p:cNvPr id="23" name="Shape 20"/>
          <p:cNvSpPr/>
          <p:nvPr/>
        </p:nvSpPr>
        <p:spPr>
          <a:xfrm>
            <a:off x="4991100" y="3786188"/>
            <a:ext cx="3200400" cy="381000"/>
          </a:xfrm>
          <a:prstGeom prst="rect">
            <a:avLst/>
          </a:prstGeom>
          <a:noFill/>
          <a:ln/>
        </p:spPr>
      </p:sp>
      <p:sp>
        <p:nvSpPr>
          <p:cNvPr id="24" name="Text 21"/>
          <p:cNvSpPr/>
          <p:nvPr/>
        </p:nvSpPr>
        <p:spPr>
          <a:xfrm>
            <a:off x="4991100" y="3786188"/>
            <a:ext cx="390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81" spc="-71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</a:t>
            </a:r>
            <a:endParaRPr lang="en-US" sz="1781" dirty="0"/>
          </a:p>
        </p:txBody>
      </p:sp>
      <p:sp>
        <p:nvSpPr>
          <p:cNvPr id="25" name="Text 22"/>
          <p:cNvSpPr/>
          <p:nvPr/>
        </p:nvSpPr>
        <p:spPr>
          <a:xfrm>
            <a:off x="5762625" y="3900488"/>
            <a:ext cx="31003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603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Deliverables</a:t>
            </a:r>
            <a:endParaRPr lang="en-US" sz="1603" dirty="0"/>
          </a:p>
        </p:txBody>
      </p:sp>
      <p:sp>
        <p:nvSpPr>
          <p:cNvPr id="26" name="Shape 23"/>
          <p:cNvSpPr/>
          <p:nvPr/>
        </p:nvSpPr>
        <p:spPr>
          <a:xfrm>
            <a:off x="4991100" y="4305300"/>
            <a:ext cx="3200400" cy="381000"/>
          </a:xfrm>
          <a:prstGeom prst="rect">
            <a:avLst/>
          </a:prstGeom>
          <a:noFill/>
          <a:ln/>
        </p:spPr>
      </p:sp>
      <p:sp>
        <p:nvSpPr>
          <p:cNvPr id="27" name="Text 24"/>
          <p:cNvSpPr/>
          <p:nvPr/>
        </p:nvSpPr>
        <p:spPr>
          <a:xfrm>
            <a:off x="4991100" y="4305300"/>
            <a:ext cx="390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81" spc="-71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05</a:t>
            </a:r>
            <a:endParaRPr lang="en-US" sz="1781" dirty="0"/>
          </a:p>
        </p:txBody>
      </p:sp>
      <p:sp>
        <p:nvSpPr>
          <p:cNvPr id="28" name="Text 25"/>
          <p:cNvSpPr/>
          <p:nvPr/>
        </p:nvSpPr>
        <p:spPr>
          <a:xfrm>
            <a:off x="5762625" y="4419600"/>
            <a:ext cx="31003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603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Steps</a:t>
            </a:r>
            <a:endParaRPr lang="en-US" sz="1603" dirty="0"/>
          </a:p>
        </p:txBody>
      </p:sp>
      <p:sp>
        <p:nvSpPr>
          <p:cNvPr id="29" name="Text 26"/>
          <p:cNvSpPr/>
          <p:nvPr/>
        </p:nvSpPr>
        <p:spPr>
          <a:xfrm>
            <a:off x="800100" y="2338388"/>
            <a:ext cx="14001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3"/>
              </a:lnSpc>
              <a:buNone/>
            </a:pPr>
            <a:r>
              <a:rPr lang="en-US" sz="2672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</a:t>
            </a:r>
            <a:endParaRPr lang="en-US" sz="267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09963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05375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8175" y="3567113"/>
            <a:ext cx="92868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PHASE: XX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2824163" y="3567113"/>
            <a:ext cx="9810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ROUND: XX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285750" y="3952875"/>
            <a:ext cx="3905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REVIEW</a:t>
            </a:r>
            <a:endParaRPr lang="en-US" sz="1425" dirty="0"/>
          </a:p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COMPANY / TEAM NAME</a:t>
            </a:r>
            <a:endParaRPr lang="en-US" sz="1425" dirty="0"/>
          </a:p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 ONE, PERSON TWO</a:t>
            </a:r>
            <a:endParaRPr lang="en-US" sz="1425" dirty="0"/>
          </a:p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TODAY’S DATE</a:t>
            </a:r>
            <a:endParaRPr lang="en-US" sz="142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76750" y="238125"/>
            <a:ext cx="4381500" cy="46672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250" y="566738"/>
            <a:ext cx="42481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919"/>
              </a:lnSpc>
              <a:buNone/>
            </a:pPr>
            <a:r>
              <a:rPr lang="en-US" sz="4275" spc="-171" kern="0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PROJECT / FEATURE NAME</a:t>
            </a:r>
            <a:endParaRPr lang="en-US" sz="4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09963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0537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8175" y="3567113"/>
            <a:ext cx="92868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PHASE: XX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2824163" y="3567113"/>
            <a:ext cx="9810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ROUND: XX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285750" y="3952875"/>
            <a:ext cx="3905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REVIEW</a:t>
            </a:r>
            <a:endParaRPr lang="en-US" sz="1425" dirty="0"/>
          </a:p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COMPANY / TEAM NAME</a:t>
            </a:r>
            <a:endParaRPr lang="en-US" sz="1425" dirty="0"/>
          </a:p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 ONE, PERSON TWO</a:t>
            </a:r>
            <a:endParaRPr lang="en-US" sz="1425" dirty="0"/>
          </a:p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TODAY’S DATE</a:t>
            </a:r>
            <a:endParaRPr lang="en-US" sz="142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76750" y="238125"/>
            <a:ext cx="4381500" cy="46672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250" y="566738"/>
            <a:ext cx="42481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919"/>
              </a:lnSpc>
              <a:buNone/>
            </a:pPr>
            <a:r>
              <a:rPr lang="en-US" sz="4275" spc="-171" kern="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PROJECT / FEATURE NAME</a:t>
            </a:r>
            <a:endParaRPr lang="en-US" sz="4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09963"/>
            <a:ext cx="9144000" cy="0"/>
          </a:xfrm>
          <a:prstGeom prst="line">
            <a:avLst/>
          </a:prstGeom>
          <a:solidFill>
            <a:srgbClr val="4C56F6"/>
          </a:solidFill>
          <a:ln w="4524">
            <a:solidFill>
              <a:srgbClr val="E6E4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solidFill>
            <a:srgbClr val="4C56F6"/>
          </a:solidFill>
          <a:ln w="4524">
            <a:solidFill>
              <a:srgbClr val="E6E4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E6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67038" y="3567113"/>
            <a:ext cx="92868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PHASE: XX 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5167313" y="3567113"/>
            <a:ext cx="9810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ROUND: XX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2076450" y="3952875"/>
            <a:ext cx="4991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REVIEW</a:t>
            </a:r>
            <a:endParaRPr lang="en-US" sz="1425" dirty="0"/>
          </a:p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COMPANY / TEAM NAME</a:t>
            </a:r>
            <a:endParaRPr lang="en-US" sz="1425" dirty="0"/>
          </a:p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 ONE, PERSON TWO</a:t>
            </a:r>
            <a:endParaRPr lang="en-US" sz="1425" dirty="0"/>
          </a:p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TODAY’S DATE</a:t>
            </a:r>
            <a:endParaRPr lang="en-US" sz="142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5750" y="1081088"/>
            <a:ext cx="8572500" cy="219551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588" y="342900"/>
            <a:ext cx="872966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919"/>
              </a:lnSpc>
              <a:buNone/>
            </a:pPr>
            <a:r>
              <a:rPr lang="en-US" sz="4275" spc="-171" kern="0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PROJECT / FEATURE NAME</a:t>
            </a:r>
            <a:endParaRPr lang="en-US" sz="4275" dirty="0"/>
          </a:p>
        </p:txBody>
      </p:sp>
      <p:sp>
        <p:nvSpPr>
          <p:cNvPr id="10" name="Shape 7"/>
          <p:cNvSpPr/>
          <p:nvPr/>
        </p:nvSpPr>
        <p:spPr>
          <a:xfrm>
            <a:off x="0" y="4905375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09963"/>
            <a:ext cx="9144000" cy="0"/>
          </a:xfrm>
          <a:prstGeom prst="line">
            <a:avLst/>
          </a:prstGeom>
          <a:solidFill>
            <a:srgbClr val="000000"/>
          </a:solidFill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solidFill>
            <a:srgbClr val="4C56F6"/>
          </a:solidFill>
          <a:ln w="4524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solidFill>
            <a:srgbClr val="000000"/>
          </a:solidFill>
          <a:ln w="4524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67038" y="3567113"/>
            <a:ext cx="92868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PHASE: </a:t>
            </a:r>
            <a:pPr algn="l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XX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5167313" y="3567113"/>
            <a:ext cx="9810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ROUND: XX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2076450" y="3952875"/>
            <a:ext cx="4991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REVIEW</a:t>
            </a:r>
            <a:endParaRPr lang="en-US" sz="1425" dirty="0"/>
          </a:p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COMPANY / TEAM NAME</a:t>
            </a:r>
            <a:endParaRPr lang="en-US" sz="1425" dirty="0"/>
          </a:p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 ONE, PERSON TWO</a:t>
            </a:r>
            <a:endParaRPr lang="en-US" sz="1425" dirty="0"/>
          </a:p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TODAY’S DATE</a:t>
            </a:r>
            <a:endParaRPr lang="en-US" sz="142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5750" y="1081088"/>
            <a:ext cx="8572500" cy="219551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588" y="342900"/>
            <a:ext cx="872966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919"/>
              </a:lnSpc>
              <a:buNone/>
            </a:pPr>
            <a:r>
              <a:rPr lang="en-US" sz="4275" spc="-171" kern="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PROJECT / FEATURE NAME</a:t>
            </a:r>
            <a:endParaRPr lang="en-US" sz="4275" dirty="0"/>
          </a:p>
        </p:txBody>
      </p:sp>
      <p:sp>
        <p:nvSpPr>
          <p:cNvPr id="10" name="Shape 7"/>
          <p:cNvSpPr/>
          <p:nvPr/>
        </p:nvSpPr>
        <p:spPr>
          <a:xfrm>
            <a:off x="0" y="4905375"/>
            <a:ext cx="9144000" cy="0"/>
          </a:xfrm>
          <a:prstGeom prst="line">
            <a:avLst/>
          </a:prstGeom>
          <a:solidFill>
            <a:srgbClr val="000000"/>
          </a:solidFill>
          <a:ln w="4524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2157413"/>
            <a:ext cx="857250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31"/>
              </a:lnSpc>
              <a:buNone/>
            </a:pPr>
            <a:r>
              <a:rPr lang="en-US" sz="6555" spc="-262" kern="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OVERVIEW</a:t>
            </a:r>
            <a:endParaRPr lang="en-US" sz="6555" dirty="0"/>
          </a:p>
        </p:txBody>
      </p:sp>
      <p:sp>
        <p:nvSpPr>
          <p:cNvPr id="4" name="Text 2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2157413"/>
            <a:ext cx="857250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31"/>
              </a:lnSpc>
              <a:buNone/>
            </a:pPr>
            <a:r>
              <a:rPr lang="en-US" sz="6555" spc="-262" kern="0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OVERVIEW</a:t>
            </a:r>
            <a:endParaRPr lang="en-US" sz="6555" dirty="0"/>
          </a:p>
        </p:txBody>
      </p:sp>
      <p:sp>
        <p:nvSpPr>
          <p:cNvPr id="4" name="Text 2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1550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90788" y="366713"/>
            <a:ext cx="416718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3"/>
              </a:lnSpc>
              <a:buNone/>
            </a:pPr>
            <a:r>
              <a:rPr lang="en-US" sz="2672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THINGS TO KNOW</a:t>
            </a:r>
            <a:endParaRPr lang="en-US" sz="2672" dirty="0"/>
          </a:p>
        </p:txBody>
      </p:sp>
      <p:sp>
        <p:nvSpPr>
          <p:cNvPr id="5" name="Text 3"/>
          <p:cNvSpPr/>
          <p:nvPr/>
        </p:nvSpPr>
        <p:spPr>
          <a:xfrm>
            <a:off x="623888" y="1900238"/>
            <a:ext cx="22336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2672" dirty="0"/>
          </a:p>
        </p:txBody>
      </p:sp>
      <p:sp>
        <p:nvSpPr>
          <p:cNvPr id="6" name="Text 4"/>
          <p:cNvSpPr/>
          <p:nvPr/>
        </p:nvSpPr>
        <p:spPr>
          <a:xfrm>
            <a:off x="623888" y="2628900"/>
            <a:ext cx="2233613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can use this slide for any bunch of things, like design principles, user problems, insights, etc.</a:t>
            </a:r>
            <a:endParaRPr lang="en-US" sz="1354" dirty="0"/>
          </a:p>
        </p:txBody>
      </p:sp>
      <p:sp>
        <p:nvSpPr>
          <p:cNvPr id="7" name="Text 5"/>
          <p:cNvSpPr/>
          <p:nvPr/>
        </p:nvSpPr>
        <p:spPr>
          <a:xfrm>
            <a:off x="3448050" y="1900238"/>
            <a:ext cx="22336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2672" dirty="0"/>
          </a:p>
        </p:txBody>
      </p:sp>
      <p:sp>
        <p:nvSpPr>
          <p:cNvPr id="8" name="Text 6"/>
          <p:cNvSpPr/>
          <p:nvPr/>
        </p:nvSpPr>
        <p:spPr>
          <a:xfrm>
            <a:off x="3452813" y="2628900"/>
            <a:ext cx="2228850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a quick description of each, with enough context to for viewers to “get it.”</a:t>
            </a:r>
            <a:endParaRPr lang="en-US" sz="1354" dirty="0"/>
          </a:p>
        </p:txBody>
      </p:sp>
      <p:sp>
        <p:nvSpPr>
          <p:cNvPr id="9" name="Text 7"/>
          <p:cNvSpPr/>
          <p:nvPr/>
        </p:nvSpPr>
        <p:spPr>
          <a:xfrm>
            <a:off x="6276975" y="1900238"/>
            <a:ext cx="22336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2672" dirty="0"/>
          </a:p>
        </p:txBody>
      </p:sp>
      <p:sp>
        <p:nvSpPr>
          <p:cNvPr id="10" name="Text 8"/>
          <p:cNvSpPr/>
          <p:nvPr/>
        </p:nvSpPr>
        <p:spPr>
          <a:xfrm>
            <a:off x="6276975" y="2628900"/>
            <a:ext cx="2233613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Try to keep each one short—focused on the most essential information— so it’s easy to scan.</a:t>
            </a:r>
            <a:endParaRPr lang="en-US" sz="1354" dirty="0"/>
          </a:p>
        </p:txBody>
      </p:sp>
      <p:sp>
        <p:nvSpPr>
          <p:cNvPr id="11" name="Text 9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12" name="Text 10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4362450"/>
            <a:ext cx="4572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3581400"/>
            <a:ext cx="4572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2800350"/>
            <a:ext cx="4572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5400000">
            <a:off x="2119313" y="2690813"/>
            <a:ext cx="4905375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3463" y="3083719"/>
            <a:ext cx="12382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1ST THING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6234113" y="3028950"/>
            <a:ext cx="26241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can use this slide for any bunch of things, like design principles, user problems, insights, etc.</a:t>
            </a:r>
            <a:endParaRPr lang="en-US" sz="855" dirty="0"/>
          </a:p>
        </p:txBody>
      </p:sp>
      <p:sp>
        <p:nvSpPr>
          <p:cNvPr id="9" name="Text 7"/>
          <p:cNvSpPr/>
          <p:nvPr/>
        </p:nvSpPr>
        <p:spPr>
          <a:xfrm>
            <a:off x="4843463" y="3864769"/>
            <a:ext cx="12382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2ND THING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6234113" y="3810000"/>
            <a:ext cx="26241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a quick description of each, with enough context to for viewers to “get it.”</a:t>
            </a:r>
            <a:endParaRPr lang="en-US" sz="855" dirty="0"/>
          </a:p>
        </p:txBody>
      </p:sp>
      <p:sp>
        <p:nvSpPr>
          <p:cNvPr id="11" name="Text 9"/>
          <p:cNvSpPr/>
          <p:nvPr/>
        </p:nvSpPr>
        <p:spPr>
          <a:xfrm>
            <a:off x="4843463" y="4645819"/>
            <a:ext cx="12382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3RD THING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234113" y="4591050"/>
            <a:ext cx="26241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Try to keep each one short—focused on the most essential information—so it’s easy to scan.</a:t>
            </a:r>
            <a:endParaRPr lang="en-US" sz="855" dirty="0"/>
          </a:p>
        </p:txBody>
      </p:sp>
      <p:sp>
        <p:nvSpPr>
          <p:cNvPr id="13" name="Text 11"/>
          <p:cNvSpPr/>
          <p:nvPr/>
        </p:nvSpPr>
        <p:spPr>
          <a:xfrm>
            <a:off x="4843463" y="1138238"/>
            <a:ext cx="401478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THINGS  TO KNOW</a:t>
            </a:r>
            <a:endParaRPr lang="en-US" sz="2672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57288" y="561975"/>
            <a:ext cx="2054228" cy="42164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16" name="Text 1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4362450"/>
            <a:ext cx="4572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3581400"/>
            <a:ext cx="4572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2800350"/>
            <a:ext cx="4572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5400000">
            <a:off x="2119313" y="2690813"/>
            <a:ext cx="4905375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3463" y="3083719"/>
            <a:ext cx="12382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1ST THING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6234113" y="3028950"/>
            <a:ext cx="26241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can use this slide for any bunch of things, like design principles, user problems, insights, etc.</a:t>
            </a:r>
            <a:endParaRPr lang="en-US" sz="855" dirty="0"/>
          </a:p>
        </p:txBody>
      </p:sp>
      <p:sp>
        <p:nvSpPr>
          <p:cNvPr id="9" name="Text 7"/>
          <p:cNvSpPr/>
          <p:nvPr/>
        </p:nvSpPr>
        <p:spPr>
          <a:xfrm>
            <a:off x="4843463" y="3864769"/>
            <a:ext cx="12382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2ND THING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6234113" y="3810000"/>
            <a:ext cx="26241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a quick description of each, with enough context to for viewers to “get it.”</a:t>
            </a:r>
            <a:endParaRPr lang="en-US" sz="855" dirty="0"/>
          </a:p>
        </p:txBody>
      </p:sp>
      <p:sp>
        <p:nvSpPr>
          <p:cNvPr id="11" name="Text 9"/>
          <p:cNvSpPr/>
          <p:nvPr/>
        </p:nvSpPr>
        <p:spPr>
          <a:xfrm>
            <a:off x="4843463" y="4645819"/>
            <a:ext cx="12382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3RD THING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234113" y="4591050"/>
            <a:ext cx="26241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Try to keep each one short—focused on the most essential information—so it’s easy to scan.</a:t>
            </a:r>
            <a:endParaRPr lang="en-US" sz="855" dirty="0"/>
          </a:p>
        </p:txBody>
      </p:sp>
      <p:sp>
        <p:nvSpPr>
          <p:cNvPr id="13" name="Text 11"/>
          <p:cNvSpPr/>
          <p:nvPr/>
        </p:nvSpPr>
        <p:spPr>
          <a:xfrm>
            <a:off x="4843463" y="1138238"/>
            <a:ext cx="401478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THINGS  TO KNOW</a:t>
            </a:r>
            <a:endParaRPr lang="en-US" sz="2672" dirty="0"/>
          </a:p>
        </p:txBody>
      </p:sp>
      <p:sp>
        <p:nvSpPr>
          <p:cNvPr id="14" name="Text 12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15" name="Text 1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28725" y="433388"/>
            <a:ext cx="2119313" cy="45100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361950"/>
            <a:ext cx="85725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3"/>
              </a:lnSpc>
              <a:buNone/>
            </a:pPr>
            <a:r>
              <a:rPr lang="en-US" sz="2672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PROJECT GOALS</a:t>
            </a:r>
            <a:endParaRPr lang="en-US" sz="2672" dirty="0"/>
          </a:p>
        </p:txBody>
      </p:sp>
      <p:sp>
        <p:nvSpPr>
          <p:cNvPr id="4" name="Shape 2"/>
          <p:cNvSpPr/>
          <p:nvPr/>
        </p:nvSpPr>
        <p:spPr>
          <a:xfrm>
            <a:off x="0" y="971550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6" name="Text 4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sp>
        <p:nvSpPr>
          <p:cNvPr id="7" name="Shape 5"/>
          <p:cNvSpPr/>
          <p:nvPr/>
        </p:nvSpPr>
        <p:spPr>
          <a:xfrm>
            <a:off x="285750" y="1381125"/>
            <a:ext cx="2695575" cy="376237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8" name="Text 6"/>
          <p:cNvSpPr/>
          <p:nvPr/>
        </p:nvSpPr>
        <p:spPr>
          <a:xfrm>
            <a:off x="476250" y="2947988"/>
            <a:ext cx="23145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this first thing  for our users.</a:t>
            </a:r>
            <a:endParaRPr lang="en-US" sz="1354" dirty="0"/>
          </a:p>
        </p:txBody>
      </p:sp>
      <p:sp>
        <p:nvSpPr>
          <p:cNvPr id="9" name="Text 7"/>
          <p:cNvSpPr/>
          <p:nvPr/>
        </p:nvSpPr>
        <p:spPr>
          <a:xfrm>
            <a:off x="481012" y="1538288"/>
            <a:ext cx="2314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GOAL 1</a:t>
            </a:r>
            <a:endParaRPr lang="en-US" sz="2672" dirty="0"/>
          </a:p>
        </p:txBody>
      </p:sp>
      <p:sp>
        <p:nvSpPr>
          <p:cNvPr id="10" name="Text 8"/>
          <p:cNvSpPr/>
          <p:nvPr/>
        </p:nvSpPr>
        <p:spPr>
          <a:xfrm>
            <a:off x="476250" y="4500563"/>
            <a:ext cx="2314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 by XX%</a:t>
            </a:r>
            <a:endParaRPr lang="en-US" sz="855" dirty="0"/>
          </a:p>
        </p:txBody>
      </p:sp>
      <p:sp>
        <p:nvSpPr>
          <p:cNvPr id="11" name="Shape 9"/>
          <p:cNvSpPr/>
          <p:nvPr/>
        </p:nvSpPr>
        <p:spPr>
          <a:xfrm>
            <a:off x="3224213" y="1381125"/>
            <a:ext cx="2695575" cy="376237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12" name="Text 10"/>
          <p:cNvSpPr/>
          <p:nvPr/>
        </p:nvSpPr>
        <p:spPr>
          <a:xfrm>
            <a:off x="3414713" y="2819400"/>
            <a:ext cx="23145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this other  second thing for  our users.</a:t>
            </a:r>
            <a:endParaRPr lang="en-US" sz="1354" dirty="0"/>
          </a:p>
        </p:txBody>
      </p:sp>
      <p:sp>
        <p:nvSpPr>
          <p:cNvPr id="13" name="Text 11"/>
          <p:cNvSpPr/>
          <p:nvPr/>
        </p:nvSpPr>
        <p:spPr>
          <a:xfrm>
            <a:off x="3419475" y="1538288"/>
            <a:ext cx="2314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GOAL 2</a:t>
            </a:r>
            <a:endParaRPr lang="en-US" sz="2672" dirty="0"/>
          </a:p>
        </p:txBody>
      </p:sp>
      <p:sp>
        <p:nvSpPr>
          <p:cNvPr id="14" name="Text 12"/>
          <p:cNvSpPr/>
          <p:nvPr/>
        </p:nvSpPr>
        <p:spPr>
          <a:xfrm>
            <a:off x="3414713" y="4500563"/>
            <a:ext cx="2314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 by XX%</a:t>
            </a:r>
            <a:endParaRPr lang="en-US" sz="855" dirty="0"/>
          </a:p>
        </p:txBody>
      </p:sp>
      <p:sp>
        <p:nvSpPr>
          <p:cNvPr id="15" name="Shape 13"/>
          <p:cNvSpPr/>
          <p:nvPr/>
        </p:nvSpPr>
        <p:spPr>
          <a:xfrm>
            <a:off x="6162675" y="1381125"/>
            <a:ext cx="2695575" cy="376237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16" name="Text 14"/>
          <p:cNvSpPr/>
          <p:nvPr/>
        </p:nvSpPr>
        <p:spPr>
          <a:xfrm>
            <a:off x="6353175" y="2947988"/>
            <a:ext cx="23145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we can manage it, do this last third thing for our users.</a:t>
            </a:r>
            <a:endParaRPr lang="en-US" sz="1354" dirty="0"/>
          </a:p>
        </p:txBody>
      </p:sp>
      <p:sp>
        <p:nvSpPr>
          <p:cNvPr id="17" name="Text 15"/>
          <p:cNvSpPr/>
          <p:nvPr/>
        </p:nvSpPr>
        <p:spPr>
          <a:xfrm>
            <a:off x="6357938" y="1538288"/>
            <a:ext cx="2314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GOAL 3</a:t>
            </a:r>
            <a:endParaRPr lang="en-US" sz="2672" dirty="0"/>
          </a:p>
        </p:txBody>
      </p:sp>
      <p:sp>
        <p:nvSpPr>
          <p:cNvPr id="18" name="Text 16"/>
          <p:cNvSpPr/>
          <p:nvPr/>
        </p:nvSpPr>
        <p:spPr>
          <a:xfrm>
            <a:off x="6353175" y="4500563"/>
            <a:ext cx="2314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 by XX%</a:t>
            </a:r>
            <a:endParaRPr lang="en-US" sz="85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2157413"/>
            <a:ext cx="857250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31"/>
              </a:lnSpc>
              <a:buNone/>
            </a:pPr>
            <a:r>
              <a:rPr lang="en-US" sz="6555" spc="-262" kern="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DISCOVERY</a:t>
            </a:r>
            <a:endParaRPr lang="en-US" sz="6555" dirty="0"/>
          </a:p>
        </p:txBody>
      </p:sp>
      <p:sp>
        <p:nvSpPr>
          <p:cNvPr id="4" name="Text 2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2157413"/>
            <a:ext cx="857250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31"/>
              </a:lnSpc>
              <a:buNone/>
            </a:pPr>
            <a:r>
              <a:rPr lang="en-US" sz="6555" spc="-262" kern="0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DISCOVERY</a:t>
            </a:r>
            <a:endParaRPr lang="en-US" sz="6555" dirty="0"/>
          </a:p>
        </p:txBody>
      </p:sp>
      <p:sp>
        <p:nvSpPr>
          <p:cNvPr id="4" name="Text 2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366713"/>
            <a:ext cx="85725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3"/>
              </a:lnSpc>
              <a:buNone/>
            </a:pPr>
            <a:r>
              <a:rPr lang="en-US" sz="2672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MARKET RESEARCH</a:t>
            </a:r>
            <a:endParaRPr lang="en-US" sz="2672" dirty="0"/>
          </a:p>
        </p:txBody>
      </p:sp>
      <p:sp>
        <p:nvSpPr>
          <p:cNvPr id="4" name="Shape 2"/>
          <p:cNvSpPr/>
          <p:nvPr/>
        </p:nvSpPr>
        <p:spPr>
          <a:xfrm>
            <a:off x="0" y="971550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6" name="Text 4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sp>
        <p:nvSpPr>
          <p:cNvPr id="7" name="Shape 5"/>
          <p:cNvSpPr/>
          <p:nvPr/>
        </p:nvSpPr>
        <p:spPr>
          <a:xfrm>
            <a:off x="742950" y="2147888"/>
            <a:ext cx="881063" cy="1090613"/>
          </a:xfrm>
          <a:prstGeom prst="rect">
            <a:avLst/>
          </a:prstGeom>
          <a:noFill/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2950" y="2147888"/>
            <a:ext cx="881063" cy="88106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2950" y="3124200"/>
            <a:ext cx="881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COMPANY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2438400" y="2147888"/>
            <a:ext cx="881063" cy="1090613"/>
          </a:xfrm>
          <a:prstGeom prst="rect">
            <a:avLst/>
          </a:prstGeom>
          <a:noFill/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38400" y="2147888"/>
            <a:ext cx="881063" cy="8810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38400" y="3124200"/>
            <a:ext cx="881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COMPANY</a:t>
            </a:r>
            <a:endParaRPr lang="en-US" sz="784" dirty="0"/>
          </a:p>
        </p:txBody>
      </p:sp>
      <p:sp>
        <p:nvSpPr>
          <p:cNvPr id="13" name="Shape 9"/>
          <p:cNvSpPr/>
          <p:nvPr/>
        </p:nvSpPr>
        <p:spPr>
          <a:xfrm>
            <a:off x="4129088" y="2147888"/>
            <a:ext cx="881063" cy="1090613"/>
          </a:xfrm>
          <a:prstGeom prst="rect">
            <a:avLst/>
          </a:prstGeom>
          <a:noFill/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29088" y="2147888"/>
            <a:ext cx="881063" cy="88106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29088" y="3124200"/>
            <a:ext cx="881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COMPANY</a:t>
            </a:r>
            <a:endParaRPr lang="en-US" sz="784" dirty="0"/>
          </a:p>
        </p:txBody>
      </p:sp>
      <p:sp>
        <p:nvSpPr>
          <p:cNvPr id="16" name="Shape 11"/>
          <p:cNvSpPr/>
          <p:nvPr/>
        </p:nvSpPr>
        <p:spPr>
          <a:xfrm>
            <a:off x="5824538" y="2147888"/>
            <a:ext cx="881063" cy="1090613"/>
          </a:xfrm>
          <a:prstGeom prst="rect">
            <a:avLst/>
          </a:prstGeom>
          <a:noFill/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24538" y="2147888"/>
            <a:ext cx="881063" cy="88106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24538" y="3124200"/>
            <a:ext cx="881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COMPANY</a:t>
            </a:r>
            <a:endParaRPr lang="en-US" sz="784" dirty="0"/>
          </a:p>
        </p:txBody>
      </p:sp>
      <p:sp>
        <p:nvSpPr>
          <p:cNvPr id="19" name="Shape 13"/>
          <p:cNvSpPr/>
          <p:nvPr/>
        </p:nvSpPr>
        <p:spPr>
          <a:xfrm>
            <a:off x="7519988" y="2147888"/>
            <a:ext cx="881063" cy="1090613"/>
          </a:xfrm>
          <a:prstGeom prst="rect">
            <a:avLst/>
          </a:prstGeom>
          <a:noFill/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519988" y="2147888"/>
            <a:ext cx="881063" cy="88106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519988" y="3124200"/>
            <a:ext cx="881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COMPANY</a:t>
            </a:r>
            <a:endParaRPr lang="en-US" sz="78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366713"/>
            <a:ext cx="85725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3"/>
              </a:lnSpc>
              <a:buNone/>
            </a:pPr>
            <a:r>
              <a:rPr lang="en-US" sz="2672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MARKET RESEARCH</a:t>
            </a:r>
            <a:endParaRPr lang="en-US" sz="2672" dirty="0"/>
          </a:p>
        </p:txBody>
      </p:sp>
      <p:sp>
        <p:nvSpPr>
          <p:cNvPr id="4" name="Shape 2"/>
          <p:cNvSpPr/>
          <p:nvPr/>
        </p:nvSpPr>
        <p:spPr>
          <a:xfrm>
            <a:off x="0" y="971550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6" name="Text 4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sp>
        <p:nvSpPr>
          <p:cNvPr id="7" name="Shape 5"/>
          <p:cNvSpPr/>
          <p:nvPr/>
        </p:nvSpPr>
        <p:spPr>
          <a:xfrm>
            <a:off x="742950" y="2147888"/>
            <a:ext cx="881063" cy="1090613"/>
          </a:xfrm>
          <a:prstGeom prst="rect">
            <a:avLst/>
          </a:prstGeom>
          <a:noFill/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2950" y="2147888"/>
            <a:ext cx="881063" cy="88106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2950" y="3124200"/>
            <a:ext cx="881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FFFFFF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COMPANY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2438400" y="2147888"/>
            <a:ext cx="881063" cy="1090613"/>
          </a:xfrm>
          <a:prstGeom prst="rect">
            <a:avLst/>
          </a:prstGeom>
          <a:noFill/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38400" y="2147888"/>
            <a:ext cx="881063" cy="8810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38400" y="3124200"/>
            <a:ext cx="881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FFFFFF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COMPANY</a:t>
            </a:r>
            <a:endParaRPr lang="en-US" sz="784" dirty="0"/>
          </a:p>
        </p:txBody>
      </p:sp>
      <p:sp>
        <p:nvSpPr>
          <p:cNvPr id="13" name="Shape 9"/>
          <p:cNvSpPr/>
          <p:nvPr/>
        </p:nvSpPr>
        <p:spPr>
          <a:xfrm>
            <a:off x="4129088" y="2147888"/>
            <a:ext cx="881063" cy="1090613"/>
          </a:xfrm>
          <a:prstGeom prst="rect">
            <a:avLst/>
          </a:prstGeom>
          <a:noFill/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29088" y="2147888"/>
            <a:ext cx="881063" cy="88106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29088" y="3124200"/>
            <a:ext cx="881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FFFFFF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COMPANY</a:t>
            </a:r>
            <a:endParaRPr lang="en-US" sz="784" dirty="0"/>
          </a:p>
        </p:txBody>
      </p:sp>
      <p:sp>
        <p:nvSpPr>
          <p:cNvPr id="16" name="Shape 11"/>
          <p:cNvSpPr/>
          <p:nvPr/>
        </p:nvSpPr>
        <p:spPr>
          <a:xfrm>
            <a:off x="5824538" y="2147888"/>
            <a:ext cx="881063" cy="1090613"/>
          </a:xfrm>
          <a:prstGeom prst="rect">
            <a:avLst/>
          </a:prstGeom>
          <a:noFill/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24538" y="2147888"/>
            <a:ext cx="881063" cy="88106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24538" y="3124200"/>
            <a:ext cx="881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FFFFFF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COMPANY</a:t>
            </a:r>
            <a:endParaRPr lang="en-US" sz="784" dirty="0"/>
          </a:p>
        </p:txBody>
      </p:sp>
      <p:sp>
        <p:nvSpPr>
          <p:cNvPr id="19" name="Shape 13"/>
          <p:cNvSpPr/>
          <p:nvPr/>
        </p:nvSpPr>
        <p:spPr>
          <a:xfrm>
            <a:off x="7519988" y="2147888"/>
            <a:ext cx="881063" cy="1090613"/>
          </a:xfrm>
          <a:prstGeom prst="rect">
            <a:avLst/>
          </a:prstGeom>
          <a:noFill/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519988" y="2147888"/>
            <a:ext cx="881063" cy="88106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519988" y="3124200"/>
            <a:ext cx="881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FFFFFF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COMPANY</a:t>
            </a:r>
            <a:endParaRPr lang="en-US" sz="78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366713"/>
            <a:ext cx="85725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3"/>
              </a:lnSpc>
              <a:buNone/>
            </a:pPr>
            <a:r>
              <a:rPr lang="en-US" sz="2672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INSIGHTS</a:t>
            </a:r>
            <a:endParaRPr lang="en-US" sz="2672" dirty="0"/>
          </a:p>
        </p:txBody>
      </p:sp>
      <p:sp>
        <p:nvSpPr>
          <p:cNvPr id="4" name="Shape 2"/>
          <p:cNvSpPr/>
          <p:nvPr/>
        </p:nvSpPr>
        <p:spPr>
          <a:xfrm>
            <a:off x="0" y="971550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213" y="2366963"/>
            <a:ext cx="2476500" cy="995363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557213" y="2366963"/>
            <a:ext cx="24765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“This is a thing someone said that supports your overall hypothesis.”</a:t>
            </a:r>
            <a:endParaRPr lang="en-US" sz="1354" dirty="0"/>
          </a:p>
        </p:txBody>
      </p:sp>
      <p:sp>
        <p:nvSpPr>
          <p:cNvPr id="7" name="Text 5"/>
          <p:cNvSpPr/>
          <p:nvPr/>
        </p:nvSpPr>
        <p:spPr>
          <a:xfrm>
            <a:off x="557213" y="3200400"/>
            <a:ext cx="2476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Full Name · Location</a:t>
            </a:r>
            <a:endParaRPr lang="en-US" sz="855" dirty="0"/>
          </a:p>
        </p:txBody>
      </p:sp>
      <p:sp>
        <p:nvSpPr>
          <p:cNvPr id="8" name="Shape 6"/>
          <p:cNvSpPr/>
          <p:nvPr/>
        </p:nvSpPr>
        <p:spPr>
          <a:xfrm>
            <a:off x="3362325" y="2366963"/>
            <a:ext cx="2419350" cy="995363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3362325" y="2366963"/>
            <a:ext cx="24193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“Highlight key bits of the quote, if it’s long. These should be short and sweet.”</a:t>
            </a:r>
            <a:endParaRPr lang="en-US" sz="1354" dirty="0"/>
          </a:p>
        </p:txBody>
      </p:sp>
      <p:sp>
        <p:nvSpPr>
          <p:cNvPr id="10" name="Text 8"/>
          <p:cNvSpPr/>
          <p:nvPr/>
        </p:nvSpPr>
        <p:spPr>
          <a:xfrm>
            <a:off x="3362325" y="3200400"/>
            <a:ext cx="24193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Full Name · Location</a:t>
            </a:r>
            <a:endParaRPr lang="en-US" sz="855" dirty="0"/>
          </a:p>
        </p:txBody>
      </p:sp>
      <p:sp>
        <p:nvSpPr>
          <p:cNvPr id="11" name="Shape 9"/>
          <p:cNvSpPr/>
          <p:nvPr/>
        </p:nvSpPr>
        <p:spPr>
          <a:xfrm>
            <a:off x="6110288" y="2366963"/>
            <a:ext cx="2476500" cy="995363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6110288" y="2366963"/>
            <a:ext cx="24765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“Add or remove quote blocks as needed—whatever you need to get the job done.”</a:t>
            </a:r>
            <a:endParaRPr lang="en-US" sz="1354" dirty="0"/>
          </a:p>
        </p:txBody>
      </p:sp>
      <p:sp>
        <p:nvSpPr>
          <p:cNvPr id="13" name="Text 11"/>
          <p:cNvSpPr/>
          <p:nvPr/>
        </p:nvSpPr>
        <p:spPr>
          <a:xfrm>
            <a:off x="6110288" y="3200400"/>
            <a:ext cx="2476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Full Name · Location</a:t>
            </a:r>
            <a:endParaRPr lang="en-US" sz="855" dirty="0"/>
          </a:p>
        </p:txBody>
      </p:sp>
      <p:sp>
        <p:nvSpPr>
          <p:cNvPr id="14" name="Text 12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15" name="Text 1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366713"/>
            <a:ext cx="85725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3"/>
              </a:lnSpc>
              <a:buNone/>
            </a:pPr>
            <a:r>
              <a:rPr lang="en-US" sz="2672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INSIGHTS</a:t>
            </a:r>
            <a:endParaRPr lang="en-US" sz="2672" dirty="0"/>
          </a:p>
        </p:txBody>
      </p:sp>
      <p:sp>
        <p:nvSpPr>
          <p:cNvPr id="4" name="Shape 2"/>
          <p:cNvSpPr/>
          <p:nvPr/>
        </p:nvSpPr>
        <p:spPr>
          <a:xfrm>
            <a:off x="0" y="971550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5750" y="47625"/>
            <a:ext cx="14620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6" name="Text 4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sp>
        <p:nvSpPr>
          <p:cNvPr id="7" name="Shape 5"/>
          <p:cNvSpPr/>
          <p:nvPr/>
        </p:nvSpPr>
        <p:spPr>
          <a:xfrm>
            <a:off x="557213" y="2366963"/>
            <a:ext cx="2476500" cy="995363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557213" y="2366963"/>
            <a:ext cx="24765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“This is a thing someone said that supports your overall hypothesis.”</a:t>
            </a:r>
            <a:endParaRPr lang="en-US" sz="1354" dirty="0"/>
          </a:p>
        </p:txBody>
      </p:sp>
      <p:sp>
        <p:nvSpPr>
          <p:cNvPr id="9" name="Text 7"/>
          <p:cNvSpPr/>
          <p:nvPr/>
        </p:nvSpPr>
        <p:spPr>
          <a:xfrm>
            <a:off x="557213" y="3200400"/>
            <a:ext cx="2476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Full Name · Location</a:t>
            </a:r>
            <a:endParaRPr lang="en-US" sz="855" dirty="0"/>
          </a:p>
        </p:txBody>
      </p:sp>
      <p:sp>
        <p:nvSpPr>
          <p:cNvPr id="10" name="Shape 8"/>
          <p:cNvSpPr/>
          <p:nvPr/>
        </p:nvSpPr>
        <p:spPr>
          <a:xfrm>
            <a:off x="3362325" y="2366963"/>
            <a:ext cx="2419350" cy="995363"/>
          </a:xfrm>
          <a:prstGeom prst="rect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3362325" y="2366963"/>
            <a:ext cx="24193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“Highlight key bits of the quote, if it’s long. These should be short and sweet.”</a:t>
            </a:r>
            <a:endParaRPr lang="en-US" sz="1354" dirty="0"/>
          </a:p>
        </p:txBody>
      </p:sp>
      <p:sp>
        <p:nvSpPr>
          <p:cNvPr id="12" name="Text 10"/>
          <p:cNvSpPr/>
          <p:nvPr/>
        </p:nvSpPr>
        <p:spPr>
          <a:xfrm>
            <a:off x="3362325" y="3200400"/>
            <a:ext cx="24193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Full Name · Location</a:t>
            </a:r>
            <a:endParaRPr lang="en-US" sz="855" dirty="0"/>
          </a:p>
        </p:txBody>
      </p:sp>
      <p:sp>
        <p:nvSpPr>
          <p:cNvPr id="13" name="Shape 11"/>
          <p:cNvSpPr/>
          <p:nvPr/>
        </p:nvSpPr>
        <p:spPr>
          <a:xfrm>
            <a:off x="6110288" y="2366963"/>
            <a:ext cx="2476500" cy="995363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6110288" y="2366963"/>
            <a:ext cx="24765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“Add or remove quote blocks as needed—whatever you need to get the job done.”</a:t>
            </a:r>
            <a:endParaRPr lang="en-US" sz="1354" dirty="0"/>
          </a:p>
        </p:txBody>
      </p:sp>
      <p:sp>
        <p:nvSpPr>
          <p:cNvPr id="15" name="Text 13"/>
          <p:cNvSpPr/>
          <p:nvPr/>
        </p:nvSpPr>
        <p:spPr>
          <a:xfrm>
            <a:off x="6110288" y="3200400"/>
            <a:ext cx="2476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Full Name · Location</a:t>
            </a:r>
            <a:endParaRPr lang="en-US" sz="85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1550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81350" y="366713"/>
            <a:ext cx="277653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3"/>
              </a:lnSpc>
              <a:buNone/>
            </a:pPr>
            <a:r>
              <a:rPr lang="en-US" sz="2672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PERSONAS</a:t>
            </a:r>
            <a:endParaRPr lang="en-US" sz="2672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90650" y="1638300"/>
            <a:ext cx="1039353" cy="103935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7713" y="2981325"/>
            <a:ext cx="2324100" cy="962025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747713" y="2981325"/>
            <a:ext cx="2324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 1</a:t>
            </a:r>
            <a:endParaRPr lang="en-US" sz="1354" dirty="0"/>
          </a:p>
        </p:txBody>
      </p:sp>
      <p:sp>
        <p:nvSpPr>
          <p:cNvPr id="8" name="Text 5"/>
          <p:cNvSpPr/>
          <p:nvPr/>
        </p:nvSpPr>
        <p:spPr>
          <a:xfrm>
            <a:off x="747713" y="3295650"/>
            <a:ext cx="23241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Describe what this user persona is all  about—their goals, needs, problems,  etc. Help people understand who they are, and why they’re important to consider.</a:t>
            </a:r>
            <a:endParaRPr lang="en-US" sz="85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52888" y="1638300"/>
            <a:ext cx="1039353" cy="103935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09950" y="2981325"/>
            <a:ext cx="2324100" cy="962025"/>
          </a:xfrm>
          <a:prstGeom prst="rect">
            <a:avLst/>
          </a:prstGeom>
          <a:noFill/>
          <a:ln/>
        </p:spPr>
      </p:sp>
      <p:sp>
        <p:nvSpPr>
          <p:cNvPr id="11" name="Text 7"/>
          <p:cNvSpPr/>
          <p:nvPr/>
        </p:nvSpPr>
        <p:spPr>
          <a:xfrm>
            <a:off x="3409950" y="2981325"/>
            <a:ext cx="2324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 2</a:t>
            </a:r>
            <a:endParaRPr lang="en-US" sz="1354" dirty="0"/>
          </a:p>
        </p:txBody>
      </p:sp>
      <p:sp>
        <p:nvSpPr>
          <p:cNvPr id="12" name="Text 8"/>
          <p:cNvSpPr/>
          <p:nvPr/>
        </p:nvSpPr>
        <p:spPr>
          <a:xfrm>
            <a:off x="3409950" y="3295650"/>
            <a:ext cx="23241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Describe what this user persona is all  about—their goals, needs, problems,  etc. Help people understand who they are, and why they’re important to consider.</a:t>
            </a:r>
            <a:endParaRPr lang="en-US" sz="855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15125" y="1638300"/>
            <a:ext cx="1039353" cy="1039353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072188" y="2981325"/>
            <a:ext cx="2324100" cy="962025"/>
          </a:xfrm>
          <a:prstGeom prst="rect">
            <a:avLst/>
          </a:prstGeom>
          <a:noFill/>
          <a:ln/>
        </p:spPr>
      </p:sp>
      <p:sp>
        <p:nvSpPr>
          <p:cNvPr id="15" name="Text 10"/>
          <p:cNvSpPr/>
          <p:nvPr/>
        </p:nvSpPr>
        <p:spPr>
          <a:xfrm>
            <a:off x="6072188" y="2981325"/>
            <a:ext cx="2324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 3</a:t>
            </a:r>
            <a:endParaRPr lang="en-US" sz="1354" dirty="0"/>
          </a:p>
        </p:txBody>
      </p:sp>
      <p:sp>
        <p:nvSpPr>
          <p:cNvPr id="16" name="Text 11"/>
          <p:cNvSpPr/>
          <p:nvPr/>
        </p:nvSpPr>
        <p:spPr>
          <a:xfrm>
            <a:off x="6072188" y="3295650"/>
            <a:ext cx="23241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Describe what this user persona is all  about—their goals, needs, problems,  etc. Help people understand who they are, and why they’re important to consider.</a:t>
            </a:r>
            <a:endParaRPr lang="en-US" sz="855" dirty="0"/>
          </a:p>
        </p:txBody>
      </p:sp>
      <p:sp>
        <p:nvSpPr>
          <p:cNvPr id="17" name="Text 12"/>
          <p:cNvSpPr/>
          <p:nvPr/>
        </p:nvSpPr>
        <p:spPr>
          <a:xfrm>
            <a:off x="285750" y="47625"/>
            <a:ext cx="14620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18" name="Text 1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1550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57375" y="1638300"/>
            <a:ext cx="1039353" cy="103935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48400" y="1638300"/>
            <a:ext cx="1039353" cy="10393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750" y="361950"/>
            <a:ext cx="85725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473"/>
              </a:lnSpc>
              <a:buNone/>
            </a:pPr>
            <a:r>
              <a:rPr lang="en-US" sz="2672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PERSONAS</a:t>
            </a:r>
            <a:endParaRPr lang="en-US" sz="2672" dirty="0"/>
          </a:p>
        </p:txBody>
      </p:sp>
      <p:sp>
        <p:nvSpPr>
          <p:cNvPr id="7" name="Shape 3"/>
          <p:cNvSpPr/>
          <p:nvPr/>
        </p:nvSpPr>
        <p:spPr>
          <a:xfrm>
            <a:off x="1214438" y="2981325"/>
            <a:ext cx="2324100" cy="952500"/>
          </a:xfrm>
          <a:prstGeom prst="rect">
            <a:avLst/>
          </a:prstGeom>
          <a:noFill/>
          <a:ln/>
        </p:spPr>
      </p:sp>
      <p:sp>
        <p:nvSpPr>
          <p:cNvPr id="8" name="Text 4"/>
          <p:cNvSpPr/>
          <p:nvPr/>
        </p:nvSpPr>
        <p:spPr>
          <a:xfrm>
            <a:off x="1214438" y="2981325"/>
            <a:ext cx="2324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 1</a:t>
            </a:r>
            <a:endParaRPr lang="en-US" sz="1354" dirty="0"/>
          </a:p>
        </p:txBody>
      </p:sp>
      <p:sp>
        <p:nvSpPr>
          <p:cNvPr id="9" name="Text 5"/>
          <p:cNvSpPr/>
          <p:nvPr/>
        </p:nvSpPr>
        <p:spPr>
          <a:xfrm>
            <a:off x="1214438" y="3286125"/>
            <a:ext cx="23241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Describe what this user persona is all  about—their goals, needs, problems,  etc. Help people understand who they are, and why they’re important to consider.</a:t>
            </a:r>
            <a:endParaRPr lang="en-US" sz="855" dirty="0"/>
          </a:p>
        </p:txBody>
      </p:sp>
      <p:sp>
        <p:nvSpPr>
          <p:cNvPr id="10" name="Shape 6"/>
          <p:cNvSpPr/>
          <p:nvPr/>
        </p:nvSpPr>
        <p:spPr>
          <a:xfrm>
            <a:off x="5605463" y="2981325"/>
            <a:ext cx="2324100" cy="952500"/>
          </a:xfrm>
          <a:prstGeom prst="rect">
            <a:avLst/>
          </a:prstGeom>
          <a:noFill/>
          <a:ln/>
        </p:spPr>
      </p:sp>
      <p:sp>
        <p:nvSpPr>
          <p:cNvPr id="11" name="Text 7"/>
          <p:cNvSpPr/>
          <p:nvPr/>
        </p:nvSpPr>
        <p:spPr>
          <a:xfrm>
            <a:off x="5605463" y="2981325"/>
            <a:ext cx="2324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 2</a:t>
            </a:r>
            <a:endParaRPr lang="en-US" sz="1354" dirty="0"/>
          </a:p>
        </p:txBody>
      </p:sp>
      <p:sp>
        <p:nvSpPr>
          <p:cNvPr id="12" name="Text 8"/>
          <p:cNvSpPr/>
          <p:nvPr/>
        </p:nvSpPr>
        <p:spPr>
          <a:xfrm>
            <a:off x="5605463" y="3286125"/>
            <a:ext cx="23241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Describe what this user persona is all  about—their goals, needs, problems,  etc. Help people understand who they are, and why they’re important to consider.</a:t>
            </a:r>
            <a:endParaRPr lang="en-US" sz="855" dirty="0"/>
          </a:p>
        </p:txBody>
      </p:sp>
      <p:sp>
        <p:nvSpPr>
          <p:cNvPr id="13" name="Shape 9"/>
          <p:cNvSpPr/>
          <p:nvPr/>
        </p:nvSpPr>
        <p:spPr>
          <a:xfrm rot="-5396075">
            <a:off x="2483643" y="3057525"/>
            <a:ext cx="4171953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15" name="Text 11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2563" y="1862138"/>
            <a:ext cx="6234113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5"/>
              </a:lnSpc>
              <a:buNone/>
            </a:pPr>
            <a:r>
              <a:rPr lang="en-US" sz="2672" dirty="0">
                <a:solidFill>
                  <a:srgbClr val="000000">
                    <a:alpha val="99000"/>
                  </a:srgb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“This quote demonstrates why we’re doing all of this. This is a thing someone said that supports your overall hypothesis.”</a:t>
            </a:r>
            <a:endParaRPr lang="en-US" sz="2672" dirty="0"/>
          </a:p>
        </p:txBody>
      </p:sp>
      <p:sp>
        <p:nvSpPr>
          <p:cNvPr id="3" name="Shape 1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9049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5750" y="47625"/>
            <a:ext cx="12239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PRESENTATION NAME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85750" y="1747838"/>
            <a:ext cx="8572500" cy="164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31"/>
              </a:lnSpc>
              <a:buNone/>
            </a:pPr>
            <a:r>
              <a:rPr lang="en-US" sz="6555" spc="-262" kern="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STRATEGY </a:t>
            </a:r>
            <a:endParaRPr lang="en-US" sz="6555" dirty="0"/>
          </a:p>
          <a:p>
            <a:pPr algn="ctr" indent="0" marL="0">
              <a:lnSpc>
                <a:spcPts val="6131"/>
              </a:lnSpc>
              <a:buNone/>
            </a:pPr>
            <a:r>
              <a:rPr lang="en-US" sz="6555" spc="-262" kern="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&amp; PROCESS</a:t>
            </a:r>
            <a:endParaRPr lang="en-US" sz="6555" dirty="0"/>
          </a:p>
        </p:txBody>
      </p:sp>
      <p:sp>
        <p:nvSpPr>
          <p:cNvPr id="5" name="Text 2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85750" y="1747838"/>
            <a:ext cx="8572500" cy="164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31"/>
              </a:lnSpc>
              <a:buNone/>
            </a:pPr>
            <a:r>
              <a:rPr lang="en-US" sz="6555" spc="-262" kern="0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STRATEGY </a:t>
            </a:r>
            <a:endParaRPr lang="en-US" sz="6555" dirty="0"/>
          </a:p>
          <a:p>
            <a:pPr algn="ctr" indent="0" marL="0">
              <a:lnSpc>
                <a:spcPts val="6131"/>
              </a:lnSpc>
              <a:buNone/>
            </a:pPr>
            <a:r>
              <a:rPr lang="en-US" sz="6555" spc="-262" kern="0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&amp; PROCESS</a:t>
            </a:r>
            <a:endParaRPr lang="en-US" sz="6555" dirty="0"/>
          </a:p>
        </p:txBody>
      </p:sp>
      <p:sp>
        <p:nvSpPr>
          <p:cNvPr id="5" name="Text 2"/>
          <p:cNvSpPr/>
          <p:nvPr/>
        </p:nvSpPr>
        <p:spPr>
          <a:xfrm>
            <a:off x="285750" y="47625"/>
            <a:ext cx="14620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838" y="2633663"/>
            <a:ext cx="9525" cy="3048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67238" y="1719263"/>
            <a:ext cx="1600200" cy="866775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567238" y="1719263"/>
            <a:ext cx="1600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SOLUTION ALIGNMENT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4567238" y="1938337"/>
            <a:ext cx="1600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you need to squeeze in more than four stages, you can duplicate and move around these text blocks as needed.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4567238" y="2643188"/>
            <a:ext cx="9525" cy="3048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67238" y="3109913"/>
            <a:ext cx="16002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June</a:t>
            </a:r>
            <a:endParaRPr lang="en-US" sz="1354" dirty="0"/>
          </a:p>
        </p:txBody>
      </p:sp>
      <p:sp>
        <p:nvSpPr>
          <p:cNvPr id="8" name="Shape 6"/>
          <p:cNvSpPr/>
          <p:nvPr/>
        </p:nvSpPr>
        <p:spPr>
          <a:xfrm>
            <a:off x="990600" y="1866900"/>
            <a:ext cx="1747838" cy="7048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990600" y="1866900"/>
            <a:ext cx="17478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ALIGNMENT</a:t>
            </a:r>
            <a:endParaRPr lang="en-US" sz="855" dirty="0"/>
          </a:p>
        </p:txBody>
      </p:sp>
      <p:sp>
        <p:nvSpPr>
          <p:cNvPr id="10" name="Text 8"/>
          <p:cNvSpPr/>
          <p:nvPr/>
        </p:nvSpPr>
        <p:spPr>
          <a:xfrm>
            <a:off x="990600" y="2085975"/>
            <a:ext cx="174783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this slide to map out the stages of your design process, and frame where you’re at.</a:t>
            </a:r>
            <a:endParaRPr lang="en-US" sz="855" dirty="0"/>
          </a:p>
        </p:txBody>
      </p:sp>
      <p:sp>
        <p:nvSpPr>
          <p:cNvPr id="11" name="Shape 9"/>
          <p:cNvSpPr/>
          <p:nvPr/>
        </p:nvSpPr>
        <p:spPr>
          <a:xfrm>
            <a:off x="990600" y="2628900"/>
            <a:ext cx="9525" cy="3048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3095625"/>
            <a:ext cx="16002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 week</a:t>
            </a:r>
            <a:endParaRPr lang="en-US" sz="1354" dirty="0"/>
          </a:p>
        </p:txBody>
      </p:sp>
      <p:sp>
        <p:nvSpPr>
          <p:cNvPr id="13" name="Text 11"/>
          <p:cNvSpPr/>
          <p:nvPr/>
        </p:nvSpPr>
        <p:spPr>
          <a:xfrm>
            <a:off x="6672263" y="2657475"/>
            <a:ext cx="16002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July</a:t>
            </a:r>
            <a:endParaRPr lang="en-US" sz="1354" dirty="0"/>
          </a:p>
        </p:txBody>
      </p:sp>
      <p:sp>
        <p:nvSpPr>
          <p:cNvPr id="14" name="Shape 12"/>
          <p:cNvSpPr/>
          <p:nvPr/>
        </p:nvSpPr>
        <p:spPr>
          <a:xfrm>
            <a:off x="6672263" y="2947988"/>
            <a:ext cx="9525" cy="3048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72263" y="3309938"/>
            <a:ext cx="1600200" cy="704850"/>
          </a:xfrm>
          <a:prstGeom prst="rect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6672263" y="3309938"/>
            <a:ext cx="1600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HANDOFF</a:t>
            </a:r>
            <a:endParaRPr lang="en-US" sz="855" dirty="0"/>
          </a:p>
        </p:txBody>
      </p:sp>
      <p:sp>
        <p:nvSpPr>
          <p:cNvPr id="17" name="Text 15"/>
          <p:cNvSpPr/>
          <p:nvPr/>
        </p:nvSpPr>
        <p:spPr>
          <a:xfrm>
            <a:off x="6672263" y="3529013"/>
            <a:ext cx="1600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you’ve got a bunch of stages or dates, consider using multiple copies of this slide.</a:t>
            </a:r>
            <a:endParaRPr lang="en-US" sz="855" dirty="0"/>
          </a:p>
        </p:txBody>
      </p:sp>
      <p:sp>
        <p:nvSpPr>
          <p:cNvPr id="18" name="Text 16"/>
          <p:cNvSpPr/>
          <p:nvPr/>
        </p:nvSpPr>
        <p:spPr>
          <a:xfrm>
            <a:off x="2781300" y="2657475"/>
            <a:ext cx="16002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week</a:t>
            </a:r>
            <a:endParaRPr lang="en-US" sz="1354" dirty="0"/>
          </a:p>
        </p:txBody>
      </p:sp>
      <p:sp>
        <p:nvSpPr>
          <p:cNvPr id="19" name="Shape 17"/>
          <p:cNvSpPr/>
          <p:nvPr/>
        </p:nvSpPr>
        <p:spPr>
          <a:xfrm>
            <a:off x="2781300" y="2947988"/>
            <a:ext cx="9525" cy="3048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781300" y="3309938"/>
            <a:ext cx="1600200" cy="704850"/>
          </a:xfrm>
          <a:prstGeom prst="rect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2781300" y="3309938"/>
            <a:ext cx="1600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EXPLORATION</a:t>
            </a:r>
            <a:endParaRPr lang="en-US" sz="855" dirty="0"/>
          </a:p>
        </p:txBody>
      </p:sp>
      <p:sp>
        <p:nvSpPr>
          <p:cNvPr id="22" name="Text 20"/>
          <p:cNvSpPr/>
          <p:nvPr/>
        </p:nvSpPr>
        <p:spPr>
          <a:xfrm>
            <a:off x="2781300" y="3529013"/>
            <a:ext cx="1600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can say a bit more about each stage in this space, below each stage.</a:t>
            </a:r>
            <a:endParaRPr lang="en-US" sz="855" dirty="0"/>
          </a:p>
        </p:txBody>
      </p:sp>
      <p:sp>
        <p:nvSpPr>
          <p:cNvPr id="23" name="Shape 21"/>
          <p:cNvSpPr/>
          <p:nvPr/>
        </p:nvSpPr>
        <p:spPr>
          <a:xfrm>
            <a:off x="800100" y="2938463"/>
            <a:ext cx="7543800" cy="38100"/>
          </a:xfrm>
          <a:prstGeom prst="roundRect">
            <a:avLst/>
          </a:prstGeom>
          <a:solidFill>
            <a:srgbClr val="4C56F6"/>
          </a:solidFill>
          <a:ln/>
        </p:spPr>
      </p:sp>
      <p:sp>
        <p:nvSpPr>
          <p:cNvPr id="24" name="Text 22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25" name="Text 2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sp>
        <p:nvSpPr>
          <p:cNvPr id="26" name="Shape 24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38438" y="3195638"/>
            <a:ext cx="85725" cy="85725"/>
          </a:xfrm>
          <a:prstGeom prst="ellipse">
            <a:avLst/>
          </a:prstGeom>
          <a:solidFill>
            <a:srgbClr val="4C56F6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4375" y="2633663"/>
            <a:ext cx="85725" cy="85725"/>
          </a:xfrm>
          <a:prstGeom prst="ellipse">
            <a:avLst/>
          </a:prstGeom>
          <a:solidFill>
            <a:srgbClr val="4C56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634163" y="3195638"/>
            <a:ext cx="85725" cy="85725"/>
          </a:xfrm>
          <a:prstGeom prst="ellipse">
            <a:avLst/>
          </a:prstGeom>
          <a:solidFill>
            <a:srgbClr val="4C56F6"/>
          </a:solidFill>
          <a:ln/>
        </p:spPr>
      </p:sp>
      <p:sp>
        <p:nvSpPr>
          <p:cNvPr id="30" name="Shape 28"/>
          <p:cNvSpPr/>
          <p:nvPr/>
        </p:nvSpPr>
        <p:spPr>
          <a:xfrm>
            <a:off x="947737" y="2633663"/>
            <a:ext cx="85725" cy="85725"/>
          </a:xfrm>
          <a:prstGeom prst="ellipse">
            <a:avLst/>
          </a:prstGeom>
          <a:solidFill>
            <a:srgbClr val="4C56F6"/>
          </a:solidFill>
          <a:ln/>
        </p:spPr>
      </p:sp>
      <p:sp>
        <p:nvSpPr>
          <p:cNvPr id="31" name="Text 29"/>
          <p:cNvSpPr/>
          <p:nvPr/>
        </p:nvSpPr>
        <p:spPr>
          <a:xfrm>
            <a:off x="285750" y="361950"/>
            <a:ext cx="85725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473"/>
              </a:lnSpc>
              <a:buNone/>
            </a:pPr>
            <a:r>
              <a:rPr lang="en-US" sz="2672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PROCESS</a:t>
            </a:r>
            <a:endParaRPr lang="en-US" sz="2672" dirty="0"/>
          </a:p>
        </p:txBody>
      </p:sp>
      <p:sp>
        <p:nvSpPr>
          <p:cNvPr id="32" name="Shape 30"/>
          <p:cNvSpPr/>
          <p:nvPr/>
        </p:nvSpPr>
        <p:spPr>
          <a:xfrm>
            <a:off x="0" y="971550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838" y="2633663"/>
            <a:ext cx="9525" cy="3048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67238" y="1719263"/>
            <a:ext cx="1600200" cy="866775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567238" y="1719263"/>
            <a:ext cx="1600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SOLUTION ALIGNMENT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4567238" y="1938337"/>
            <a:ext cx="1600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you need to squeeze in more than four stages, you can duplicate and move around these text blocks as needed.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4567238" y="2643188"/>
            <a:ext cx="9525" cy="3048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67238" y="3109913"/>
            <a:ext cx="16002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June</a:t>
            </a:r>
            <a:endParaRPr lang="en-US" sz="1354" dirty="0"/>
          </a:p>
        </p:txBody>
      </p:sp>
      <p:sp>
        <p:nvSpPr>
          <p:cNvPr id="8" name="Shape 6"/>
          <p:cNvSpPr/>
          <p:nvPr/>
        </p:nvSpPr>
        <p:spPr>
          <a:xfrm>
            <a:off x="990600" y="1866900"/>
            <a:ext cx="1747838" cy="7048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990600" y="1866900"/>
            <a:ext cx="17478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ALIGNMENT</a:t>
            </a:r>
            <a:endParaRPr lang="en-US" sz="855" dirty="0"/>
          </a:p>
        </p:txBody>
      </p:sp>
      <p:sp>
        <p:nvSpPr>
          <p:cNvPr id="10" name="Text 8"/>
          <p:cNvSpPr/>
          <p:nvPr/>
        </p:nvSpPr>
        <p:spPr>
          <a:xfrm>
            <a:off x="990600" y="2085975"/>
            <a:ext cx="174783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this slide to map out the stages of your design process, and frame where you’re at.</a:t>
            </a:r>
            <a:endParaRPr lang="en-US" sz="855" dirty="0"/>
          </a:p>
        </p:txBody>
      </p:sp>
      <p:sp>
        <p:nvSpPr>
          <p:cNvPr id="11" name="Shape 9"/>
          <p:cNvSpPr/>
          <p:nvPr/>
        </p:nvSpPr>
        <p:spPr>
          <a:xfrm>
            <a:off x="990600" y="2628900"/>
            <a:ext cx="9525" cy="3048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3095625"/>
            <a:ext cx="16002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 week</a:t>
            </a:r>
            <a:endParaRPr lang="en-US" sz="1354" dirty="0"/>
          </a:p>
        </p:txBody>
      </p:sp>
      <p:sp>
        <p:nvSpPr>
          <p:cNvPr id="13" name="Text 11"/>
          <p:cNvSpPr/>
          <p:nvPr/>
        </p:nvSpPr>
        <p:spPr>
          <a:xfrm>
            <a:off x="6672263" y="2657475"/>
            <a:ext cx="16002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July</a:t>
            </a:r>
            <a:endParaRPr lang="en-US" sz="1354" dirty="0"/>
          </a:p>
        </p:txBody>
      </p:sp>
      <p:sp>
        <p:nvSpPr>
          <p:cNvPr id="14" name="Shape 12"/>
          <p:cNvSpPr/>
          <p:nvPr/>
        </p:nvSpPr>
        <p:spPr>
          <a:xfrm>
            <a:off x="6672263" y="2947988"/>
            <a:ext cx="9525" cy="3048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72263" y="3309938"/>
            <a:ext cx="1600200" cy="704850"/>
          </a:xfrm>
          <a:prstGeom prst="rect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6672263" y="3309938"/>
            <a:ext cx="1600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HANDOFF</a:t>
            </a:r>
            <a:endParaRPr lang="en-US" sz="855" dirty="0"/>
          </a:p>
        </p:txBody>
      </p:sp>
      <p:sp>
        <p:nvSpPr>
          <p:cNvPr id="17" name="Text 15"/>
          <p:cNvSpPr/>
          <p:nvPr/>
        </p:nvSpPr>
        <p:spPr>
          <a:xfrm>
            <a:off x="6672263" y="3529013"/>
            <a:ext cx="1600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you’ve got a bunch of stages or dates, consider using multiple copies of this slide.</a:t>
            </a:r>
            <a:endParaRPr lang="en-US" sz="855" dirty="0"/>
          </a:p>
        </p:txBody>
      </p:sp>
      <p:sp>
        <p:nvSpPr>
          <p:cNvPr id="18" name="Text 16"/>
          <p:cNvSpPr/>
          <p:nvPr/>
        </p:nvSpPr>
        <p:spPr>
          <a:xfrm>
            <a:off x="2781300" y="2657475"/>
            <a:ext cx="16002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week</a:t>
            </a:r>
            <a:endParaRPr lang="en-US" sz="1354" dirty="0"/>
          </a:p>
        </p:txBody>
      </p:sp>
      <p:sp>
        <p:nvSpPr>
          <p:cNvPr id="19" name="Shape 17"/>
          <p:cNvSpPr/>
          <p:nvPr/>
        </p:nvSpPr>
        <p:spPr>
          <a:xfrm>
            <a:off x="2781300" y="2947988"/>
            <a:ext cx="9525" cy="3048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781300" y="3309938"/>
            <a:ext cx="1600200" cy="704850"/>
          </a:xfrm>
          <a:prstGeom prst="rect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2781300" y="3309938"/>
            <a:ext cx="1600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EXPLORATION</a:t>
            </a:r>
            <a:endParaRPr lang="en-US" sz="855" dirty="0"/>
          </a:p>
        </p:txBody>
      </p:sp>
      <p:sp>
        <p:nvSpPr>
          <p:cNvPr id="22" name="Text 20"/>
          <p:cNvSpPr/>
          <p:nvPr/>
        </p:nvSpPr>
        <p:spPr>
          <a:xfrm>
            <a:off x="2781300" y="3529013"/>
            <a:ext cx="1600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can say a bit more about each stage in this space, below each stage.</a:t>
            </a:r>
            <a:endParaRPr lang="en-US" sz="855" dirty="0"/>
          </a:p>
        </p:txBody>
      </p:sp>
      <p:sp>
        <p:nvSpPr>
          <p:cNvPr id="23" name="Shape 21"/>
          <p:cNvSpPr/>
          <p:nvPr/>
        </p:nvSpPr>
        <p:spPr>
          <a:xfrm>
            <a:off x="800100" y="2938463"/>
            <a:ext cx="7543800" cy="38100"/>
          </a:xfrm>
          <a:prstGeom prst="roundRect">
            <a:avLst/>
          </a:prstGeom>
          <a:solidFill>
            <a:srgbClr val="4C56F6"/>
          </a:solidFill>
          <a:ln/>
        </p:spPr>
      </p:sp>
      <p:sp>
        <p:nvSpPr>
          <p:cNvPr id="24" name="Text 22"/>
          <p:cNvSpPr/>
          <p:nvPr/>
        </p:nvSpPr>
        <p:spPr>
          <a:xfrm>
            <a:off x="285750" y="47625"/>
            <a:ext cx="14620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25" name="Text 2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sp>
        <p:nvSpPr>
          <p:cNvPr id="26" name="Shape 24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38438" y="3195638"/>
            <a:ext cx="85725" cy="85725"/>
          </a:xfrm>
          <a:prstGeom prst="ellipse">
            <a:avLst/>
          </a:prstGeom>
          <a:solidFill>
            <a:srgbClr val="4C56F6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4375" y="2633663"/>
            <a:ext cx="85725" cy="85725"/>
          </a:xfrm>
          <a:prstGeom prst="ellipse">
            <a:avLst/>
          </a:prstGeom>
          <a:solidFill>
            <a:srgbClr val="4C56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634163" y="3195638"/>
            <a:ext cx="85725" cy="85725"/>
          </a:xfrm>
          <a:prstGeom prst="ellipse">
            <a:avLst/>
          </a:prstGeom>
          <a:solidFill>
            <a:srgbClr val="4C56F6"/>
          </a:solidFill>
          <a:ln/>
        </p:spPr>
      </p:sp>
      <p:sp>
        <p:nvSpPr>
          <p:cNvPr id="30" name="Shape 28"/>
          <p:cNvSpPr/>
          <p:nvPr/>
        </p:nvSpPr>
        <p:spPr>
          <a:xfrm>
            <a:off x="947737" y="2633663"/>
            <a:ext cx="85725" cy="85725"/>
          </a:xfrm>
          <a:prstGeom prst="ellipse">
            <a:avLst/>
          </a:prstGeom>
          <a:solidFill>
            <a:srgbClr val="4C56F6"/>
          </a:solidFill>
          <a:ln/>
        </p:spPr>
      </p:sp>
      <p:sp>
        <p:nvSpPr>
          <p:cNvPr id="31" name="Text 29"/>
          <p:cNvSpPr/>
          <p:nvPr/>
        </p:nvSpPr>
        <p:spPr>
          <a:xfrm>
            <a:off x="285750" y="361950"/>
            <a:ext cx="85725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473"/>
              </a:lnSpc>
              <a:buNone/>
            </a:pPr>
            <a:r>
              <a:rPr lang="en-US" sz="2672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PROCESS</a:t>
            </a:r>
            <a:endParaRPr lang="en-US" sz="2672" dirty="0"/>
          </a:p>
        </p:txBody>
      </p:sp>
      <p:sp>
        <p:nvSpPr>
          <p:cNvPr id="32" name="Shape 30"/>
          <p:cNvSpPr/>
          <p:nvPr/>
        </p:nvSpPr>
        <p:spPr>
          <a:xfrm>
            <a:off x="0" y="971550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05138" y="1010548"/>
            <a:ext cx="3128289" cy="3128289"/>
          </a:xfrm>
          <a:prstGeom prst="rect">
            <a:avLst/>
          </a:prstGeom>
          <a:noFill/>
          <a:ln w="10671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1436231" y="2573794"/>
            <a:ext cx="3128289" cy="0"/>
          </a:xfrm>
          <a:prstGeom prst="line">
            <a:avLst/>
          </a:prstGeom>
          <a:noFill/>
          <a:ln w="10671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1831518" y="2573794"/>
            <a:ext cx="3128289" cy="0"/>
          </a:xfrm>
          <a:prstGeom prst="line">
            <a:avLst/>
          </a:prstGeom>
          <a:noFill/>
          <a:ln w="10671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5400000">
            <a:off x="2217281" y="2573794"/>
            <a:ext cx="3128289" cy="0"/>
          </a:xfrm>
          <a:prstGeom prst="line">
            <a:avLst/>
          </a:prstGeom>
          <a:noFill/>
          <a:ln w="10671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2612568" y="2573794"/>
            <a:ext cx="3128289" cy="0"/>
          </a:xfrm>
          <a:prstGeom prst="line">
            <a:avLst/>
          </a:prstGeom>
          <a:noFill/>
          <a:ln w="10671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998331" y="2573794"/>
            <a:ext cx="3128289" cy="0"/>
          </a:xfrm>
          <a:prstGeom prst="line">
            <a:avLst/>
          </a:prstGeom>
          <a:noFill/>
          <a:ln w="10671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3388856" y="2573794"/>
            <a:ext cx="3128289" cy="0"/>
          </a:xfrm>
          <a:prstGeom prst="line">
            <a:avLst/>
          </a:prstGeom>
          <a:noFill/>
          <a:ln w="10671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3774618" y="2573794"/>
            <a:ext cx="3128289" cy="0"/>
          </a:xfrm>
          <a:prstGeom prst="line">
            <a:avLst/>
          </a:prstGeom>
          <a:noFill/>
          <a:ln w="10671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4169906" y="2573794"/>
            <a:ext cx="3128289" cy="0"/>
          </a:xfrm>
          <a:prstGeom prst="line">
            <a:avLst/>
          </a:prstGeom>
          <a:noFill/>
          <a:ln w="10671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10800000">
            <a:off x="3014663" y="1404938"/>
            <a:ext cx="3117057" cy="0"/>
          </a:xfrm>
          <a:prstGeom prst="line">
            <a:avLst/>
          </a:prstGeom>
          <a:noFill/>
          <a:ln w="10671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10800000">
            <a:off x="3014663" y="1795463"/>
            <a:ext cx="3117057" cy="0"/>
          </a:xfrm>
          <a:prstGeom prst="line">
            <a:avLst/>
          </a:prstGeom>
          <a:noFill/>
          <a:ln w="10671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10800000">
            <a:off x="3014663" y="2185988"/>
            <a:ext cx="3117057" cy="0"/>
          </a:xfrm>
          <a:prstGeom prst="line">
            <a:avLst/>
          </a:prstGeom>
          <a:noFill/>
          <a:ln w="10671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-10800000">
            <a:off x="3014663" y="2576513"/>
            <a:ext cx="3117057" cy="0"/>
          </a:xfrm>
          <a:prstGeom prst="line">
            <a:avLst/>
          </a:prstGeom>
          <a:noFill/>
          <a:ln w="10671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-10800000">
            <a:off x="3014663" y="2962275"/>
            <a:ext cx="3117057" cy="0"/>
          </a:xfrm>
          <a:prstGeom prst="line">
            <a:avLst/>
          </a:prstGeom>
          <a:noFill/>
          <a:ln w="10671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-10800000">
            <a:off x="3014663" y="3348038"/>
            <a:ext cx="3117057" cy="0"/>
          </a:xfrm>
          <a:prstGeom prst="line">
            <a:avLst/>
          </a:prstGeom>
          <a:noFill/>
          <a:ln w="10671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-10800000">
            <a:off x="3014663" y="3743325"/>
            <a:ext cx="3117057" cy="0"/>
          </a:xfrm>
          <a:prstGeom prst="line">
            <a:avLst/>
          </a:prstGeom>
          <a:noFill/>
          <a:ln w="10671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4555668" y="2573794"/>
            <a:ext cx="3128289" cy="0"/>
          </a:xfrm>
          <a:prstGeom prst="line">
            <a:avLst/>
          </a:prstGeom>
          <a:noFill/>
          <a:ln w="10671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1500" y="657225"/>
            <a:ext cx="381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CRAFT</a:t>
            </a:r>
            <a:endParaRPr lang="en-US" sz="855" dirty="0"/>
          </a:p>
        </p:txBody>
      </p:sp>
      <p:sp>
        <p:nvSpPr>
          <p:cNvPr id="20" name="Text 18"/>
          <p:cNvSpPr/>
          <p:nvPr/>
        </p:nvSpPr>
        <p:spPr>
          <a:xfrm>
            <a:off x="4233863" y="4330285"/>
            <a:ext cx="6715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STRUCTURE</a:t>
            </a:r>
            <a:endParaRPr lang="en-US" sz="855" dirty="0"/>
          </a:p>
        </p:txBody>
      </p:sp>
      <p:sp>
        <p:nvSpPr>
          <p:cNvPr id="21" name="Text 19"/>
          <p:cNvSpPr/>
          <p:nvPr/>
        </p:nvSpPr>
        <p:spPr>
          <a:xfrm>
            <a:off x="2290763" y="2490788"/>
            <a:ext cx="5238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EXPLORE</a:t>
            </a:r>
            <a:endParaRPr lang="en-US" sz="855" dirty="0"/>
          </a:p>
        </p:txBody>
      </p:sp>
      <p:sp>
        <p:nvSpPr>
          <p:cNvPr id="22" name="Text 20"/>
          <p:cNvSpPr/>
          <p:nvPr/>
        </p:nvSpPr>
        <p:spPr>
          <a:xfrm>
            <a:off x="6323912" y="2490788"/>
            <a:ext cx="6762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IMPLEMENT</a:t>
            </a:r>
            <a:endParaRPr lang="en-US" sz="855" dirty="0"/>
          </a:p>
        </p:txBody>
      </p:sp>
      <p:sp>
        <p:nvSpPr>
          <p:cNvPr id="23" name="Shape 21"/>
          <p:cNvSpPr/>
          <p:nvPr/>
        </p:nvSpPr>
        <p:spPr>
          <a:xfrm>
            <a:off x="3624263" y="1652588"/>
            <a:ext cx="286636" cy="286636"/>
          </a:xfrm>
          <a:prstGeom prst="ellipse">
            <a:avLst/>
          </a:prstGeom>
          <a:solidFill>
            <a:srgbClr val="4C56F6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5750" y="528638"/>
            <a:ext cx="2228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FEEDBACK NEEDED</a:t>
            </a:r>
            <a:endParaRPr lang="en-US" sz="2672" dirty="0"/>
          </a:p>
        </p:txBody>
      </p:sp>
      <p:sp>
        <p:nvSpPr>
          <p:cNvPr id="26" name="Text 24"/>
          <p:cNvSpPr/>
          <p:nvPr/>
        </p:nvSpPr>
        <p:spPr>
          <a:xfrm>
            <a:off x="285750" y="47625"/>
            <a:ext cx="14620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27" name="Text 25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43500" y="1614488"/>
            <a:ext cx="3148013" cy="17145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5143500" y="1614488"/>
            <a:ext cx="1000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1283" spc="-28" kern="0" dirty="0">
                <a:solidFill>
                  <a:srgbClr val="000CC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5434013" y="1614488"/>
            <a:ext cx="2857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Are we tacking the right problems?</a:t>
            </a:r>
            <a:endParaRPr lang="en-US" sz="1354" dirty="0"/>
          </a:p>
        </p:txBody>
      </p:sp>
      <p:sp>
        <p:nvSpPr>
          <p:cNvPr id="6" name="Shape 4"/>
          <p:cNvSpPr/>
          <p:nvPr/>
        </p:nvSpPr>
        <p:spPr>
          <a:xfrm>
            <a:off x="5143500" y="2381250"/>
            <a:ext cx="3148013" cy="385763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5143500" y="2381250"/>
            <a:ext cx="1000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1283" spc="-28" kern="0" dirty="0">
                <a:solidFill>
                  <a:srgbClr val="00088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5434013" y="2381250"/>
            <a:ext cx="2857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this solution consistent with our other products?</a:t>
            </a:r>
            <a:endParaRPr lang="en-US" sz="1354" dirty="0"/>
          </a:p>
        </p:txBody>
      </p:sp>
      <p:sp>
        <p:nvSpPr>
          <p:cNvPr id="9" name="Shape 7"/>
          <p:cNvSpPr/>
          <p:nvPr/>
        </p:nvSpPr>
        <p:spPr>
          <a:xfrm>
            <a:off x="5143500" y="3148013"/>
            <a:ext cx="3148013" cy="385763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5143500" y="3148013"/>
            <a:ext cx="1000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1283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5434013" y="3148013"/>
            <a:ext cx="2857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might we simplify the proposed solution?</a:t>
            </a:r>
            <a:endParaRPr lang="en-US" sz="1354" dirty="0"/>
          </a:p>
        </p:txBody>
      </p:sp>
      <p:sp>
        <p:nvSpPr>
          <p:cNvPr id="12" name="Shape 10"/>
          <p:cNvSpPr/>
          <p:nvPr/>
        </p:nvSpPr>
        <p:spPr>
          <a:xfrm rot="-5400000">
            <a:off x="2119313" y="2690813"/>
            <a:ext cx="4905375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6800" y="2309813"/>
            <a:ext cx="230981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FEEDBACK NEEDED</a:t>
            </a:r>
            <a:endParaRPr lang="en-US" sz="2672" dirty="0"/>
          </a:p>
        </p:txBody>
      </p:sp>
      <p:sp>
        <p:nvSpPr>
          <p:cNvPr id="14" name="Text 12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15" name="Text 1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1550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5750" y="366713"/>
            <a:ext cx="85725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3"/>
              </a:lnSpc>
              <a:buNone/>
            </a:pPr>
            <a:r>
              <a:rPr lang="en-US" sz="2672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PROPOSED CONCEPT</a:t>
            </a:r>
            <a:endParaRPr lang="en-US" sz="2672" dirty="0"/>
          </a:p>
        </p:txBody>
      </p:sp>
      <p:sp>
        <p:nvSpPr>
          <p:cNvPr id="5" name="Shape 3"/>
          <p:cNvSpPr/>
          <p:nvPr/>
        </p:nvSpPr>
        <p:spPr>
          <a:xfrm>
            <a:off x="5876925" y="1290638"/>
            <a:ext cx="2171700" cy="376238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5876925" y="1290638"/>
            <a:ext cx="21717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876925" y="1504950"/>
            <a:ext cx="21717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 description of the proposed concept.</a:t>
            </a:r>
            <a:endParaRPr lang="en-US" sz="855" dirty="0"/>
          </a:p>
        </p:txBody>
      </p:sp>
      <p:sp>
        <p:nvSpPr>
          <p:cNvPr id="8" name="Shape 6"/>
          <p:cNvSpPr/>
          <p:nvPr/>
        </p:nvSpPr>
        <p:spPr>
          <a:xfrm>
            <a:off x="1257300" y="1266825"/>
            <a:ext cx="2052637" cy="376238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1257300" y="1266825"/>
            <a:ext cx="205263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257300" y="1481138"/>
            <a:ext cx="20526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 description of the current solution.</a:t>
            </a:r>
            <a:endParaRPr lang="en-US" sz="855" dirty="0"/>
          </a:p>
        </p:txBody>
      </p:sp>
      <p:sp>
        <p:nvSpPr>
          <p:cNvPr id="11" name="Shape 9"/>
          <p:cNvSpPr/>
          <p:nvPr/>
        </p:nvSpPr>
        <p:spPr>
          <a:xfrm rot="-5400000">
            <a:off x="2486025" y="3057525"/>
            <a:ext cx="417195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47115"/>
          <a:stretch/>
        </p:blipFill>
        <p:spPr>
          <a:xfrm>
            <a:off x="809625" y="1938337"/>
            <a:ext cx="2952750" cy="3205173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47351"/>
          <a:stretch/>
        </p:blipFill>
        <p:spPr>
          <a:xfrm>
            <a:off x="5381625" y="1952625"/>
            <a:ext cx="2952750" cy="319088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15" name="Text 11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1550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5750" y="366713"/>
            <a:ext cx="85725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3"/>
              </a:lnSpc>
              <a:buNone/>
            </a:pPr>
            <a:r>
              <a:rPr lang="en-US" sz="2672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PROPOSED CONCEPT</a:t>
            </a:r>
            <a:endParaRPr lang="en-US" sz="2672" dirty="0"/>
          </a:p>
        </p:txBody>
      </p:sp>
      <p:sp>
        <p:nvSpPr>
          <p:cNvPr id="5" name="Shape 3"/>
          <p:cNvSpPr/>
          <p:nvPr/>
        </p:nvSpPr>
        <p:spPr>
          <a:xfrm rot="-5400000">
            <a:off x="2486025" y="3057525"/>
            <a:ext cx="417195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05463" y="4371975"/>
            <a:ext cx="2324100" cy="376238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5605463" y="4371975"/>
            <a:ext cx="23241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5605463" y="4586288"/>
            <a:ext cx="23241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Short description of the proposed concept.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1062038" y="4371975"/>
            <a:ext cx="2324100" cy="376238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1062038" y="4371975"/>
            <a:ext cx="23241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062038" y="4586288"/>
            <a:ext cx="23241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Short description of the current solution.</a:t>
            </a:r>
            <a:endParaRPr lang="en-US" sz="85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3913" y="1371600"/>
            <a:ext cx="1319213" cy="2707757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67338" y="1376363"/>
            <a:ext cx="1319213" cy="2707757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314575" y="1376363"/>
            <a:ext cx="1319213" cy="2707757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58000" y="1376363"/>
            <a:ext cx="1319213" cy="270775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17" name="Text 11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309813"/>
            <a:ext cx="3371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DIRECTION</a:t>
            </a:r>
            <a:endParaRPr lang="en-US" sz="2672" dirty="0"/>
          </a:p>
          <a:p>
            <a:pPr algn="ctr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2672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38625" y="238125"/>
            <a:ext cx="4905375" cy="490537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309813"/>
            <a:ext cx="3371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DIRECTION</a:t>
            </a:r>
            <a:endParaRPr lang="en-US" sz="2672" dirty="0"/>
          </a:p>
          <a:p>
            <a:pPr algn="ctr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2672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38625" y="238125"/>
            <a:ext cx="4905375" cy="490537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85750" y="47625"/>
            <a:ext cx="14620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1550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5750" y="366713"/>
            <a:ext cx="85725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3"/>
              </a:lnSpc>
              <a:buNone/>
            </a:pPr>
            <a:r>
              <a:rPr lang="en-US" sz="2672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DIRECTION 1</a:t>
            </a:r>
            <a:endParaRPr lang="en-US" sz="2672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21973"/>
          <a:stretch/>
        </p:blipFill>
        <p:spPr>
          <a:xfrm>
            <a:off x="609600" y="1200150"/>
            <a:ext cx="2462213" cy="394335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21502"/>
          <a:stretch/>
        </p:blipFill>
        <p:spPr>
          <a:xfrm>
            <a:off x="3343275" y="1176338"/>
            <a:ext cx="2462213" cy="3967163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21502"/>
          <a:stretch/>
        </p:blipFill>
        <p:spPr>
          <a:xfrm>
            <a:off x="6076950" y="1176338"/>
            <a:ext cx="2462213" cy="39671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9" name="Text 4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1550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5750" y="366713"/>
            <a:ext cx="85725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3"/>
              </a:lnSpc>
              <a:buNone/>
            </a:pPr>
            <a:r>
              <a:rPr lang="en-US" sz="2672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DIRECTION 1</a:t>
            </a:r>
            <a:endParaRPr lang="en-US" sz="2672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21973"/>
          <a:stretch/>
        </p:blipFill>
        <p:spPr>
          <a:xfrm>
            <a:off x="609600" y="1200150"/>
            <a:ext cx="2462213" cy="394335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21502"/>
          <a:stretch/>
        </p:blipFill>
        <p:spPr>
          <a:xfrm>
            <a:off x="3343275" y="1176338"/>
            <a:ext cx="2462213" cy="3967163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21502"/>
          <a:stretch/>
        </p:blipFill>
        <p:spPr>
          <a:xfrm>
            <a:off x="6076950" y="1176338"/>
            <a:ext cx="2462213" cy="39671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85750" y="47625"/>
            <a:ext cx="14620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9" name="Text 4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52950"/>
            <a:ext cx="4572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5400000">
            <a:off x="2114550" y="2690813"/>
            <a:ext cx="4905375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5750" y="428625"/>
            <a:ext cx="20240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DIRECTION 1</a:t>
            </a:r>
            <a:endParaRPr lang="en-US" sz="2672" dirty="0"/>
          </a:p>
        </p:txBody>
      </p:sp>
      <p:sp>
        <p:nvSpPr>
          <p:cNvPr id="6" name="Text 4"/>
          <p:cNvSpPr/>
          <p:nvPr/>
        </p:nvSpPr>
        <p:spPr>
          <a:xfrm>
            <a:off x="1295400" y="4743450"/>
            <a:ext cx="19859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Keywords: Word 01, Word 02, Word 03</a:t>
            </a:r>
            <a:endParaRPr lang="en-US" sz="855" dirty="0"/>
          </a:p>
        </p:txBody>
      </p:sp>
      <p:sp>
        <p:nvSpPr>
          <p:cNvPr id="7" name="Text 5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8" name="Text 6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sp>
        <p:nvSpPr>
          <p:cNvPr id="9" name="Text 7"/>
          <p:cNvSpPr/>
          <p:nvPr/>
        </p:nvSpPr>
        <p:spPr>
          <a:xfrm>
            <a:off x="285750" y="1304925"/>
            <a:ext cx="33718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We Need a New Direction</a:t>
            </a:r>
            <a:endParaRPr lang="en-US" sz="1354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29300" y="581025"/>
            <a:ext cx="2054225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52950"/>
            <a:ext cx="4572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5400000">
            <a:off x="2114550" y="2690813"/>
            <a:ext cx="4905375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5750" y="428625"/>
            <a:ext cx="20240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DIRECTION 1</a:t>
            </a:r>
            <a:endParaRPr lang="en-US" sz="2672" dirty="0"/>
          </a:p>
        </p:txBody>
      </p:sp>
      <p:sp>
        <p:nvSpPr>
          <p:cNvPr id="6" name="Text 4"/>
          <p:cNvSpPr/>
          <p:nvPr/>
        </p:nvSpPr>
        <p:spPr>
          <a:xfrm>
            <a:off x="1285875" y="4743450"/>
            <a:ext cx="2000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Keywords: Word 01, Word 02, Word 03</a:t>
            </a:r>
            <a:endParaRPr lang="en-US" sz="855" dirty="0"/>
          </a:p>
        </p:txBody>
      </p:sp>
      <p:sp>
        <p:nvSpPr>
          <p:cNvPr id="7" name="Text 5"/>
          <p:cNvSpPr/>
          <p:nvPr/>
        </p:nvSpPr>
        <p:spPr>
          <a:xfrm>
            <a:off x="285750" y="47625"/>
            <a:ext cx="14620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8" name="Text 6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sp>
        <p:nvSpPr>
          <p:cNvPr id="9" name="Text 7"/>
          <p:cNvSpPr/>
          <p:nvPr/>
        </p:nvSpPr>
        <p:spPr>
          <a:xfrm>
            <a:off x="285750" y="1304925"/>
            <a:ext cx="33718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We Need a New Direction</a:t>
            </a:r>
            <a:endParaRPr lang="en-US" sz="1354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29300" y="581025"/>
            <a:ext cx="2054225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52950"/>
            <a:ext cx="4191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5400000">
            <a:off x="1733550" y="2690813"/>
            <a:ext cx="4905375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5750" y="428625"/>
            <a:ext cx="20240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DIRECTION 1</a:t>
            </a:r>
            <a:endParaRPr lang="en-US" sz="2672" dirty="0"/>
          </a:p>
        </p:txBody>
      </p:sp>
      <p:sp>
        <p:nvSpPr>
          <p:cNvPr id="6" name="Text 4"/>
          <p:cNvSpPr/>
          <p:nvPr/>
        </p:nvSpPr>
        <p:spPr>
          <a:xfrm>
            <a:off x="285750" y="1276350"/>
            <a:ext cx="333851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We Need a New Direction</a:t>
            </a:r>
            <a:endParaRPr lang="en-US" sz="1354" dirty="0"/>
          </a:p>
        </p:txBody>
      </p:sp>
      <p:sp>
        <p:nvSpPr>
          <p:cNvPr id="7" name="Text 5"/>
          <p:cNvSpPr/>
          <p:nvPr/>
        </p:nvSpPr>
        <p:spPr>
          <a:xfrm>
            <a:off x="285750" y="4743450"/>
            <a:ext cx="3371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Keywords: Word 01, Word 02, Word 03</a:t>
            </a:r>
            <a:endParaRPr lang="en-US" sz="855" dirty="0"/>
          </a:p>
        </p:txBody>
      </p:sp>
      <p:sp>
        <p:nvSpPr>
          <p:cNvPr id="8" name="Text 6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9" name="Text 7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581025"/>
            <a:ext cx="2054225" cy="421640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05613" y="581025"/>
            <a:ext cx="2054225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52950"/>
            <a:ext cx="4191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5400000">
            <a:off x="1733550" y="2690813"/>
            <a:ext cx="4905375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5750" y="428625"/>
            <a:ext cx="20240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DIRECTION 1</a:t>
            </a:r>
            <a:endParaRPr lang="en-US" sz="2672" dirty="0"/>
          </a:p>
        </p:txBody>
      </p:sp>
      <p:sp>
        <p:nvSpPr>
          <p:cNvPr id="6" name="Text 4"/>
          <p:cNvSpPr/>
          <p:nvPr/>
        </p:nvSpPr>
        <p:spPr>
          <a:xfrm>
            <a:off x="285750" y="1276350"/>
            <a:ext cx="333851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We Need a New Direction</a:t>
            </a:r>
            <a:endParaRPr lang="en-US" sz="1354" dirty="0"/>
          </a:p>
        </p:txBody>
      </p:sp>
      <p:sp>
        <p:nvSpPr>
          <p:cNvPr id="7" name="Text 5"/>
          <p:cNvSpPr/>
          <p:nvPr/>
        </p:nvSpPr>
        <p:spPr>
          <a:xfrm>
            <a:off x="285750" y="4743450"/>
            <a:ext cx="3371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Keywords: Word 01, Word 02, Word 03</a:t>
            </a:r>
            <a:endParaRPr lang="en-US" sz="855" dirty="0"/>
          </a:p>
        </p:txBody>
      </p:sp>
      <p:sp>
        <p:nvSpPr>
          <p:cNvPr id="8" name="Text 6"/>
          <p:cNvSpPr/>
          <p:nvPr/>
        </p:nvSpPr>
        <p:spPr>
          <a:xfrm>
            <a:off x="285750" y="47625"/>
            <a:ext cx="14620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9" name="Text 7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581025"/>
            <a:ext cx="2054225" cy="421640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05613" y="581025"/>
            <a:ext cx="2054225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32035"/>
          <a:stretch/>
        </p:blipFill>
        <p:spPr>
          <a:xfrm>
            <a:off x="4595813" y="619125"/>
            <a:ext cx="3243263" cy="45243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solidFill>
            <a:srgbClr val="000000"/>
          </a:solidFill>
          <a:ln w="4524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85750" y="428625"/>
            <a:ext cx="20240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DIRECTION 1</a:t>
            </a:r>
            <a:endParaRPr lang="en-US" sz="2672" dirty="0"/>
          </a:p>
        </p:txBody>
      </p:sp>
      <p:sp>
        <p:nvSpPr>
          <p:cNvPr id="5" name="Text 2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285750" y="1276350"/>
            <a:ext cx="333851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We Need a New Direction</a:t>
            </a:r>
            <a:endParaRPr lang="en-US" sz="1354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32035"/>
          <a:stretch/>
        </p:blipFill>
        <p:spPr>
          <a:xfrm>
            <a:off x="4595813" y="619125"/>
            <a:ext cx="3243263" cy="45243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85750" y="428625"/>
            <a:ext cx="20240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DIRECTION 1</a:t>
            </a:r>
            <a:endParaRPr lang="en-US" sz="2672" dirty="0"/>
          </a:p>
        </p:txBody>
      </p:sp>
      <p:sp>
        <p:nvSpPr>
          <p:cNvPr id="5" name="Text 2"/>
          <p:cNvSpPr/>
          <p:nvPr/>
        </p:nvSpPr>
        <p:spPr>
          <a:xfrm>
            <a:off x="285750" y="47625"/>
            <a:ext cx="14620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285750" y="1276350"/>
            <a:ext cx="333851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We Need a New Direction</a:t>
            </a:r>
            <a:endParaRPr lang="en-US" sz="1354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5400000">
            <a:off x="1733550" y="2690813"/>
            <a:ext cx="4905375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5750" y="428625"/>
            <a:ext cx="41195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DIRECTION 1</a:t>
            </a:r>
            <a:endParaRPr lang="en-US" sz="2672" dirty="0"/>
          </a:p>
        </p:txBody>
      </p:sp>
      <p:sp>
        <p:nvSpPr>
          <p:cNvPr id="5" name="Text 3"/>
          <p:cNvSpPr/>
          <p:nvPr/>
        </p:nvSpPr>
        <p:spPr>
          <a:xfrm>
            <a:off x="285750" y="1276350"/>
            <a:ext cx="33718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We Need a New Direction</a:t>
            </a:r>
            <a:endParaRPr lang="en-US" sz="1354" dirty="0"/>
          </a:p>
        </p:txBody>
      </p:sp>
      <p:sp>
        <p:nvSpPr>
          <p:cNvPr id="6" name="Text 4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7" name="Text 5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581025"/>
            <a:ext cx="2054225" cy="421640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05613" y="581025"/>
            <a:ext cx="2054226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5400000">
            <a:off x="1733550" y="2690813"/>
            <a:ext cx="4905375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5750" y="428625"/>
            <a:ext cx="41195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DIRECTION 1</a:t>
            </a:r>
            <a:endParaRPr lang="en-US" sz="2672" dirty="0"/>
          </a:p>
        </p:txBody>
      </p:sp>
      <p:sp>
        <p:nvSpPr>
          <p:cNvPr id="5" name="Text 3"/>
          <p:cNvSpPr/>
          <p:nvPr/>
        </p:nvSpPr>
        <p:spPr>
          <a:xfrm>
            <a:off x="285750" y="1276350"/>
            <a:ext cx="33718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We Need a New Direction</a:t>
            </a:r>
            <a:endParaRPr lang="en-US" sz="1354" dirty="0"/>
          </a:p>
        </p:txBody>
      </p:sp>
      <p:sp>
        <p:nvSpPr>
          <p:cNvPr id="6" name="Text 4"/>
          <p:cNvSpPr/>
          <p:nvPr/>
        </p:nvSpPr>
        <p:spPr>
          <a:xfrm>
            <a:off x="285750" y="47625"/>
            <a:ext cx="14620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7" name="Text 5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581025"/>
            <a:ext cx="2054226" cy="421640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05613" y="581025"/>
            <a:ext cx="2054226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428625"/>
            <a:ext cx="5105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BEFORE/AFTER WORKFLOW</a:t>
            </a:r>
            <a:endParaRPr lang="en-US" sz="2672" dirty="0"/>
          </a:p>
        </p:txBody>
      </p:sp>
      <p:sp>
        <p:nvSpPr>
          <p:cNvPr id="4" name="Text 2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sp>
        <p:nvSpPr>
          <p:cNvPr id="6" name="Text 4"/>
          <p:cNvSpPr/>
          <p:nvPr/>
        </p:nvSpPr>
        <p:spPr>
          <a:xfrm>
            <a:off x="280988" y="1176338"/>
            <a:ext cx="4524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BEFORE</a:t>
            </a:r>
            <a:endParaRPr lang="en-US" sz="855" dirty="0"/>
          </a:p>
        </p:txBody>
      </p:sp>
      <p:sp>
        <p:nvSpPr>
          <p:cNvPr id="7" name="Text 5"/>
          <p:cNvSpPr/>
          <p:nvPr/>
        </p:nvSpPr>
        <p:spPr>
          <a:xfrm>
            <a:off x="8534400" y="1176338"/>
            <a:ext cx="3714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AFTER</a:t>
            </a:r>
            <a:endParaRPr lang="en-US" sz="855" dirty="0"/>
          </a:p>
        </p:txBody>
      </p:sp>
      <p:sp>
        <p:nvSpPr>
          <p:cNvPr id="8" name="Text 6"/>
          <p:cNvSpPr/>
          <p:nvPr/>
        </p:nvSpPr>
        <p:spPr>
          <a:xfrm>
            <a:off x="4357688" y="1176338"/>
            <a:ext cx="2809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NOW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280988" y="1514475"/>
            <a:ext cx="8624888" cy="847725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280988" y="1514475"/>
            <a:ext cx="2695575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11" name="Shape 9"/>
          <p:cNvSpPr/>
          <p:nvPr/>
        </p:nvSpPr>
        <p:spPr>
          <a:xfrm>
            <a:off x="381000" y="1747838"/>
            <a:ext cx="2471738" cy="381000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381000" y="1747838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2672" dirty="0"/>
          </a:p>
        </p:txBody>
      </p:sp>
      <p:sp>
        <p:nvSpPr>
          <p:cNvPr id="13" name="Text 11"/>
          <p:cNvSpPr/>
          <p:nvPr/>
        </p:nvSpPr>
        <p:spPr>
          <a:xfrm>
            <a:off x="990600" y="1747838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67063" y="1785937"/>
            <a:ext cx="304800" cy="3048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662362" y="1759744"/>
            <a:ext cx="1862138" cy="357188"/>
          </a:xfrm>
          <a:prstGeom prst="rect">
            <a:avLst/>
          </a:prstGeom>
          <a:noFill/>
          <a:ln/>
        </p:spPr>
      </p:sp>
      <p:sp>
        <p:nvSpPr>
          <p:cNvPr id="16" name="Text 13"/>
          <p:cNvSpPr/>
          <p:nvPr/>
        </p:nvSpPr>
        <p:spPr>
          <a:xfrm>
            <a:off x="3662362" y="1759744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0" y="1785937"/>
            <a:ext cx="304800" cy="3048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10300" y="1514475"/>
            <a:ext cx="2695575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19" name="Shape 15"/>
          <p:cNvSpPr/>
          <p:nvPr/>
        </p:nvSpPr>
        <p:spPr>
          <a:xfrm>
            <a:off x="6310313" y="1747838"/>
            <a:ext cx="2471738" cy="381000"/>
          </a:xfrm>
          <a:prstGeom prst="rect">
            <a:avLst/>
          </a:prstGeom>
          <a:noFill/>
          <a:ln/>
        </p:spPr>
      </p:sp>
      <p:sp>
        <p:nvSpPr>
          <p:cNvPr id="20" name="Text 16"/>
          <p:cNvSpPr/>
          <p:nvPr/>
        </p:nvSpPr>
        <p:spPr>
          <a:xfrm>
            <a:off x="6310313" y="1747838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r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sp>
        <p:nvSpPr>
          <p:cNvPr id="21" name="Text 17"/>
          <p:cNvSpPr/>
          <p:nvPr/>
        </p:nvSpPr>
        <p:spPr>
          <a:xfrm>
            <a:off x="8334375" y="1747838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2672" dirty="0"/>
          </a:p>
        </p:txBody>
      </p:sp>
      <p:sp>
        <p:nvSpPr>
          <p:cNvPr id="22" name="Shape 18"/>
          <p:cNvSpPr/>
          <p:nvPr/>
        </p:nvSpPr>
        <p:spPr>
          <a:xfrm>
            <a:off x="280988" y="2728913"/>
            <a:ext cx="8624888" cy="847725"/>
          </a:xfrm>
          <a:prstGeom prst="rect">
            <a:avLst/>
          </a:prstGeom>
          <a:noFill/>
          <a:ln/>
        </p:spPr>
      </p:sp>
      <p:sp>
        <p:nvSpPr>
          <p:cNvPr id="23" name="Shape 19"/>
          <p:cNvSpPr/>
          <p:nvPr/>
        </p:nvSpPr>
        <p:spPr>
          <a:xfrm>
            <a:off x="280988" y="2728913"/>
            <a:ext cx="2695575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24" name="Shape 20"/>
          <p:cNvSpPr/>
          <p:nvPr/>
        </p:nvSpPr>
        <p:spPr>
          <a:xfrm>
            <a:off x="381000" y="2962275"/>
            <a:ext cx="2471738" cy="381000"/>
          </a:xfrm>
          <a:prstGeom prst="rect">
            <a:avLst/>
          </a:prstGeom>
          <a:noFill/>
          <a:ln/>
        </p:spPr>
      </p:sp>
      <p:sp>
        <p:nvSpPr>
          <p:cNvPr id="25" name="Text 21"/>
          <p:cNvSpPr/>
          <p:nvPr/>
        </p:nvSpPr>
        <p:spPr>
          <a:xfrm>
            <a:off x="381000" y="2962275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2672" dirty="0"/>
          </a:p>
        </p:txBody>
      </p:sp>
      <p:sp>
        <p:nvSpPr>
          <p:cNvPr id="26" name="Text 22"/>
          <p:cNvSpPr/>
          <p:nvPr/>
        </p:nvSpPr>
        <p:spPr>
          <a:xfrm>
            <a:off x="990600" y="2962275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67063" y="3000375"/>
            <a:ext cx="304800" cy="30480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3662362" y="2974181"/>
            <a:ext cx="1862138" cy="357188"/>
          </a:xfrm>
          <a:prstGeom prst="rect">
            <a:avLst/>
          </a:prstGeom>
          <a:noFill/>
          <a:ln/>
        </p:spPr>
      </p:sp>
      <p:sp>
        <p:nvSpPr>
          <p:cNvPr id="29" name="Text 24"/>
          <p:cNvSpPr/>
          <p:nvPr/>
        </p:nvSpPr>
        <p:spPr>
          <a:xfrm>
            <a:off x="3662362" y="2974181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715000" y="3000375"/>
            <a:ext cx="304800" cy="30480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210300" y="2728913"/>
            <a:ext cx="2695575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32" name="Shape 26"/>
          <p:cNvSpPr/>
          <p:nvPr/>
        </p:nvSpPr>
        <p:spPr>
          <a:xfrm>
            <a:off x="6310313" y="2962275"/>
            <a:ext cx="2471738" cy="381000"/>
          </a:xfrm>
          <a:prstGeom prst="rect">
            <a:avLst/>
          </a:prstGeom>
          <a:noFill/>
          <a:ln/>
        </p:spPr>
      </p:sp>
      <p:sp>
        <p:nvSpPr>
          <p:cNvPr id="33" name="Text 27"/>
          <p:cNvSpPr/>
          <p:nvPr/>
        </p:nvSpPr>
        <p:spPr>
          <a:xfrm>
            <a:off x="6310313" y="2962275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r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sp>
        <p:nvSpPr>
          <p:cNvPr id="34" name="Text 28"/>
          <p:cNvSpPr/>
          <p:nvPr/>
        </p:nvSpPr>
        <p:spPr>
          <a:xfrm>
            <a:off x="8334375" y="2962275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2672" dirty="0"/>
          </a:p>
        </p:txBody>
      </p:sp>
      <p:sp>
        <p:nvSpPr>
          <p:cNvPr id="35" name="Shape 29"/>
          <p:cNvSpPr/>
          <p:nvPr/>
        </p:nvSpPr>
        <p:spPr>
          <a:xfrm>
            <a:off x="280988" y="3943350"/>
            <a:ext cx="8624888" cy="847725"/>
          </a:xfrm>
          <a:prstGeom prst="rect">
            <a:avLst/>
          </a:prstGeom>
          <a:noFill/>
          <a:ln/>
        </p:spPr>
      </p:sp>
      <p:sp>
        <p:nvSpPr>
          <p:cNvPr id="36" name="Shape 30"/>
          <p:cNvSpPr/>
          <p:nvPr/>
        </p:nvSpPr>
        <p:spPr>
          <a:xfrm>
            <a:off x="280988" y="3943350"/>
            <a:ext cx="2695575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37" name="Shape 31"/>
          <p:cNvSpPr/>
          <p:nvPr/>
        </p:nvSpPr>
        <p:spPr>
          <a:xfrm>
            <a:off x="381000" y="4176712"/>
            <a:ext cx="2471738" cy="381000"/>
          </a:xfrm>
          <a:prstGeom prst="rect">
            <a:avLst/>
          </a:prstGeom>
          <a:noFill/>
          <a:ln/>
        </p:spPr>
      </p:sp>
      <p:sp>
        <p:nvSpPr>
          <p:cNvPr id="38" name="Text 32"/>
          <p:cNvSpPr/>
          <p:nvPr/>
        </p:nvSpPr>
        <p:spPr>
          <a:xfrm>
            <a:off x="381000" y="4176712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2672" dirty="0"/>
          </a:p>
        </p:txBody>
      </p:sp>
      <p:sp>
        <p:nvSpPr>
          <p:cNvPr id="39" name="Text 33"/>
          <p:cNvSpPr/>
          <p:nvPr/>
        </p:nvSpPr>
        <p:spPr>
          <a:xfrm>
            <a:off x="990600" y="4176712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167063" y="4214812"/>
            <a:ext cx="304800" cy="304800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3662362" y="4188619"/>
            <a:ext cx="1862138" cy="357188"/>
          </a:xfrm>
          <a:prstGeom prst="rect">
            <a:avLst/>
          </a:prstGeom>
          <a:noFill/>
          <a:ln/>
        </p:spPr>
      </p:sp>
      <p:sp>
        <p:nvSpPr>
          <p:cNvPr id="42" name="Text 35"/>
          <p:cNvSpPr/>
          <p:nvPr/>
        </p:nvSpPr>
        <p:spPr>
          <a:xfrm>
            <a:off x="3662362" y="4188619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715000" y="4214812"/>
            <a:ext cx="304800" cy="304800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6210300" y="3943350"/>
            <a:ext cx="2695575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45" name="Shape 37"/>
          <p:cNvSpPr/>
          <p:nvPr/>
        </p:nvSpPr>
        <p:spPr>
          <a:xfrm>
            <a:off x="6310313" y="4176712"/>
            <a:ext cx="2471738" cy="381000"/>
          </a:xfrm>
          <a:prstGeom prst="rect">
            <a:avLst/>
          </a:prstGeom>
          <a:noFill/>
          <a:ln/>
        </p:spPr>
      </p:sp>
      <p:sp>
        <p:nvSpPr>
          <p:cNvPr id="46" name="Text 38"/>
          <p:cNvSpPr/>
          <p:nvPr/>
        </p:nvSpPr>
        <p:spPr>
          <a:xfrm>
            <a:off x="6310313" y="4176712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r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sp>
        <p:nvSpPr>
          <p:cNvPr id="47" name="Text 39"/>
          <p:cNvSpPr/>
          <p:nvPr/>
        </p:nvSpPr>
        <p:spPr>
          <a:xfrm>
            <a:off x="8334375" y="4176712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2672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428625"/>
            <a:ext cx="5105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BEFORE/AFTER WORKFLOW</a:t>
            </a:r>
            <a:endParaRPr lang="en-US" sz="2672" dirty="0"/>
          </a:p>
        </p:txBody>
      </p:sp>
      <p:sp>
        <p:nvSpPr>
          <p:cNvPr id="4" name="Text 2"/>
          <p:cNvSpPr/>
          <p:nvPr/>
        </p:nvSpPr>
        <p:spPr>
          <a:xfrm>
            <a:off x="285750" y="47625"/>
            <a:ext cx="14620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sp>
        <p:nvSpPr>
          <p:cNvPr id="6" name="Text 4"/>
          <p:cNvSpPr/>
          <p:nvPr/>
        </p:nvSpPr>
        <p:spPr>
          <a:xfrm>
            <a:off x="280988" y="1176338"/>
            <a:ext cx="4524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BEFORE</a:t>
            </a:r>
            <a:endParaRPr lang="en-US" sz="855" dirty="0"/>
          </a:p>
        </p:txBody>
      </p:sp>
      <p:sp>
        <p:nvSpPr>
          <p:cNvPr id="7" name="Text 5"/>
          <p:cNvSpPr/>
          <p:nvPr/>
        </p:nvSpPr>
        <p:spPr>
          <a:xfrm>
            <a:off x="8534400" y="1176338"/>
            <a:ext cx="3714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AFTER</a:t>
            </a:r>
            <a:endParaRPr lang="en-US" sz="855" dirty="0"/>
          </a:p>
        </p:txBody>
      </p:sp>
      <p:sp>
        <p:nvSpPr>
          <p:cNvPr id="8" name="Text 6"/>
          <p:cNvSpPr/>
          <p:nvPr/>
        </p:nvSpPr>
        <p:spPr>
          <a:xfrm>
            <a:off x="4357688" y="1176338"/>
            <a:ext cx="2809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NOW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280988" y="1514475"/>
            <a:ext cx="8624888" cy="847725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280988" y="1514475"/>
            <a:ext cx="2695575" cy="847725"/>
          </a:xfrm>
          <a:prstGeom prst="rect">
            <a:avLst/>
          </a:prstGeom>
          <a:solidFill>
            <a:srgbClr val="C4C4C4"/>
          </a:solidFill>
          <a:ln/>
        </p:spPr>
      </p:sp>
      <p:sp>
        <p:nvSpPr>
          <p:cNvPr id="11" name="Shape 9"/>
          <p:cNvSpPr/>
          <p:nvPr/>
        </p:nvSpPr>
        <p:spPr>
          <a:xfrm>
            <a:off x="381000" y="1747838"/>
            <a:ext cx="2471738" cy="381000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381000" y="1747838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2672" dirty="0"/>
          </a:p>
        </p:txBody>
      </p:sp>
      <p:sp>
        <p:nvSpPr>
          <p:cNvPr id="13" name="Text 11"/>
          <p:cNvSpPr/>
          <p:nvPr/>
        </p:nvSpPr>
        <p:spPr>
          <a:xfrm>
            <a:off x="990600" y="1747838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67063" y="1785937"/>
            <a:ext cx="304800" cy="3048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662362" y="1759744"/>
            <a:ext cx="1862138" cy="357188"/>
          </a:xfrm>
          <a:prstGeom prst="rect">
            <a:avLst/>
          </a:prstGeom>
          <a:noFill/>
          <a:ln/>
        </p:spPr>
      </p:sp>
      <p:sp>
        <p:nvSpPr>
          <p:cNvPr id="16" name="Text 13"/>
          <p:cNvSpPr/>
          <p:nvPr/>
        </p:nvSpPr>
        <p:spPr>
          <a:xfrm>
            <a:off x="3662362" y="1759744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0" y="1785937"/>
            <a:ext cx="304800" cy="3048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10300" y="1514475"/>
            <a:ext cx="2695575" cy="847725"/>
          </a:xfrm>
          <a:prstGeom prst="rect">
            <a:avLst/>
          </a:prstGeom>
          <a:solidFill>
            <a:srgbClr val="C4C4C4"/>
          </a:solidFill>
          <a:ln/>
        </p:spPr>
      </p:sp>
      <p:sp>
        <p:nvSpPr>
          <p:cNvPr id="19" name="Shape 15"/>
          <p:cNvSpPr/>
          <p:nvPr/>
        </p:nvSpPr>
        <p:spPr>
          <a:xfrm>
            <a:off x="6310313" y="1747838"/>
            <a:ext cx="2471738" cy="381000"/>
          </a:xfrm>
          <a:prstGeom prst="rect">
            <a:avLst/>
          </a:prstGeom>
          <a:noFill/>
          <a:ln/>
        </p:spPr>
      </p:sp>
      <p:sp>
        <p:nvSpPr>
          <p:cNvPr id="20" name="Text 16"/>
          <p:cNvSpPr/>
          <p:nvPr/>
        </p:nvSpPr>
        <p:spPr>
          <a:xfrm>
            <a:off x="6310313" y="1747838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r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sp>
        <p:nvSpPr>
          <p:cNvPr id="21" name="Text 17"/>
          <p:cNvSpPr/>
          <p:nvPr/>
        </p:nvSpPr>
        <p:spPr>
          <a:xfrm>
            <a:off x="8334375" y="1747838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2672" dirty="0"/>
          </a:p>
        </p:txBody>
      </p:sp>
      <p:sp>
        <p:nvSpPr>
          <p:cNvPr id="22" name="Shape 18"/>
          <p:cNvSpPr/>
          <p:nvPr/>
        </p:nvSpPr>
        <p:spPr>
          <a:xfrm>
            <a:off x="280988" y="2728913"/>
            <a:ext cx="8624888" cy="847725"/>
          </a:xfrm>
          <a:prstGeom prst="rect">
            <a:avLst/>
          </a:prstGeom>
          <a:noFill/>
          <a:ln/>
        </p:spPr>
      </p:sp>
      <p:sp>
        <p:nvSpPr>
          <p:cNvPr id="23" name="Shape 19"/>
          <p:cNvSpPr/>
          <p:nvPr/>
        </p:nvSpPr>
        <p:spPr>
          <a:xfrm>
            <a:off x="280988" y="2728913"/>
            <a:ext cx="2695575" cy="847725"/>
          </a:xfrm>
          <a:prstGeom prst="rect">
            <a:avLst/>
          </a:prstGeom>
          <a:solidFill>
            <a:srgbClr val="C4C4C4"/>
          </a:solidFill>
          <a:ln/>
        </p:spPr>
      </p:sp>
      <p:sp>
        <p:nvSpPr>
          <p:cNvPr id="24" name="Shape 20"/>
          <p:cNvSpPr/>
          <p:nvPr/>
        </p:nvSpPr>
        <p:spPr>
          <a:xfrm>
            <a:off x="381000" y="2962275"/>
            <a:ext cx="2471738" cy="381000"/>
          </a:xfrm>
          <a:prstGeom prst="rect">
            <a:avLst/>
          </a:prstGeom>
          <a:noFill/>
          <a:ln/>
        </p:spPr>
      </p:sp>
      <p:sp>
        <p:nvSpPr>
          <p:cNvPr id="25" name="Text 21"/>
          <p:cNvSpPr/>
          <p:nvPr/>
        </p:nvSpPr>
        <p:spPr>
          <a:xfrm>
            <a:off x="381000" y="2962275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2672" dirty="0"/>
          </a:p>
        </p:txBody>
      </p:sp>
      <p:sp>
        <p:nvSpPr>
          <p:cNvPr id="26" name="Text 22"/>
          <p:cNvSpPr/>
          <p:nvPr/>
        </p:nvSpPr>
        <p:spPr>
          <a:xfrm>
            <a:off x="990600" y="2962275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67063" y="3000375"/>
            <a:ext cx="304800" cy="30480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3662362" y="2974181"/>
            <a:ext cx="1862138" cy="357188"/>
          </a:xfrm>
          <a:prstGeom prst="rect">
            <a:avLst/>
          </a:prstGeom>
          <a:noFill/>
          <a:ln/>
        </p:spPr>
      </p:sp>
      <p:sp>
        <p:nvSpPr>
          <p:cNvPr id="29" name="Text 24"/>
          <p:cNvSpPr/>
          <p:nvPr/>
        </p:nvSpPr>
        <p:spPr>
          <a:xfrm>
            <a:off x="3662362" y="2974181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715000" y="3000375"/>
            <a:ext cx="304800" cy="30480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210300" y="2728913"/>
            <a:ext cx="2695575" cy="847725"/>
          </a:xfrm>
          <a:prstGeom prst="rect">
            <a:avLst/>
          </a:prstGeom>
          <a:solidFill>
            <a:srgbClr val="C4C4C4"/>
          </a:solidFill>
          <a:ln/>
        </p:spPr>
      </p:sp>
      <p:sp>
        <p:nvSpPr>
          <p:cNvPr id="32" name="Shape 26"/>
          <p:cNvSpPr/>
          <p:nvPr/>
        </p:nvSpPr>
        <p:spPr>
          <a:xfrm>
            <a:off x="6310313" y="2962275"/>
            <a:ext cx="2471738" cy="381000"/>
          </a:xfrm>
          <a:prstGeom prst="rect">
            <a:avLst/>
          </a:prstGeom>
          <a:noFill/>
          <a:ln/>
        </p:spPr>
      </p:sp>
      <p:sp>
        <p:nvSpPr>
          <p:cNvPr id="33" name="Text 27"/>
          <p:cNvSpPr/>
          <p:nvPr/>
        </p:nvSpPr>
        <p:spPr>
          <a:xfrm>
            <a:off x="6310313" y="2962275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r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sp>
        <p:nvSpPr>
          <p:cNvPr id="34" name="Text 28"/>
          <p:cNvSpPr/>
          <p:nvPr/>
        </p:nvSpPr>
        <p:spPr>
          <a:xfrm>
            <a:off x="8334375" y="2962275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2672" dirty="0"/>
          </a:p>
        </p:txBody>
      </p:sp>
      <p:sp>
        <p:nvSpPr>
          <p:cNvPr id="35" name="Shape 29"/>
          <p:cNvSpPr/>
          <p:nvPr/>
        </p:nvSpPr>
        <p:spPr>
          <a:xfrm>
            <a:off x="280988" y="3943350"/>
            <a:ext cx="8624888" cy="847725"/>
          </a:xfrm>
          <a:prstGeom prst="rect">
            <a:avLst/>
          </a:prstGeom>
          <a:noFill/>
          <a:ln/>
        </p:spPr>
      </p:sp>
      <p:sp>
        <p:nvSpPr>
          <p:cNvPr id="36" name="Shape 30"/>
          <p:cNvSpPr/>
          <p:nvPr/>
        </p:nvSpPr>
        <p:spPr>
          <a:xfrm>
            <a:off x="280988" y="3943350"/>
            <a:ext cx="2695575" cy="847725"/>
          </a:xfrm>
          <a:prstGeom prst="rect">
            <a:avLst/>
          </a:prstGeom>
          <a:solidFill>
            <a:srgbClr val="C4C4C4"/>
          </a:solidFill>
          <a:ln/>
        </p:spPr>
      </p:sp>
      <p:sp>
        <p:nvSpPr>
          <p:cNvPr id="37" name="Shape 31"/>
          <p:cNvSpPr/>
          <p:nvPr/>
        </p:nvSpPr>
        <p:spPr>
          <a:xfrm>
            <a:off x="381000" y="4176712"/>
            <a:ext cx="2471738" cy="381000"/>
          </a:xfrm>
          <a:prstGeom prst="rect">
            <a:avLst/>
          </a:prstGeom>
          <a:noFill/>
          <a:ln/>
        </p:spPr>
      </p:sp>
      <p:sp>
        <p:nvSpPr>
          <p:cNvPr id="38" name="Text 32"/>
          <p:cNvSpPr/>
          <p:nvPr/>
        </p:nvSpPr>
        <p:spPr>
          <a:xfrm>
            <a:off x="381000" y="4176712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2672" dirty="0"/>
          </a:p>
        </p:txBody>
      </p:sp>
      <p:sp>
        <p:nvSpPr>
          <p:cNvPr id="39" name="Text 33"/>
          <p:cNvSpPr/>
          <p:nvPr/>
        </p:nvSpPr>
        <p:spPr>
          <a:xfrm>
            <a:off x="990600" y="4176712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167063" y="4214812"/>
            <a:ext cx="304800" cy="304800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3662362" y="4188619"/>
            <a:ext cx="1862138" cy="357188"/>
          </a:xfrm>
          <a:prstGeom prst="rect">
            <a:avLst/>
          </a:prstGeom>
          <a:noFill/>
          <a:ln/>
        </p:spPr>
      </p:sp>
      <p:sp>
        <p:nvSpPr>
          <p:cNvPr id="42" name="Text 35"/>
          <p:cNvSpPr/>
          <p:nvPr/>
        </p:nvSpPr>
        <p:spPr>
          <a:xfrm>
            <a:off x="3662362" y="4188619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715000" y="4214812"/>
            <a:ext cx="304800" cy="304800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6210300" y="3943350"/>
            <a:ext cx="2695575" cy="847725"/>
          </a:xfrm>
          <a:prstGeom prst="rect">
            <a:avLst/>
          </a:prstGeom>
          <a:solidFill>
            <a:srgbClr val="C4C4C4"/>
          </a:solidFill>
          <a:ln/>
        </p:spPr>
      </p:sp>
      <p:sp>
        <p:nvSpPr>
          <p:cNvPr id="45" name="Shape 37"/>
          <p:cNvSpPr/>
          <p:nvPr/>
        </p:nvSpPr>
        <p:spPr>
          <a:xfrm>
            <a:off x="6310313" y="4176712"/>
            <a:ext cx="2471738" cy="381000"/>
          </a:xfrm>
          <a:prstGeom prst="rect">
            <a:avLst/>
          </a:prstGeom>
          <a:noFill/>
          <a:ln/>
        </p:spPr>
      </p:sp>
      <p:sp>
        <p:nvSpPr>
          <p:cNvPr id="46" name="Text 38"/>
          <p:cNvSpPr/>
          <p:nvPr/>
        </p:nvSpPr>
        <p:spPr>
          <a:xfrm>
            <a:off x="6310313" y="4176712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r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sp>
        <p:nvSpPr>
          <p:cNvPr id="47" name="Text 39"/>
          <p:cNvSpPr/>
          <p:nvPr/>
        </p:nvSpPr>
        <p:spPr>
          <a:xfrm>
            <a:off x="8334375" y="4176712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2672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05463" y="4371975"/>
            <a:ext cx="2324100" cy="37623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605463" y="4371975"/>
            <a:ext cx="23241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AFTER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5605463" y="4586288"/>
            <a:ext cx="23241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Short description of the proposed concept.</a:t>
            </a:r>
            <a:endParaRPr lang="en-US" sz="855" dirty="0"/>
          </a:p>
        </p:txBody>
      </p:sp>
      <p:sp>
        <p:nvSpPr>
          <p:cNvPr id="5" name="Shape 3"/>
          <p:cNvSpPr/>
          <p:nvPr/>
        </p:nvSpPr>
        <p:spPr>
          <a:xfrm>
            <a:off x="1062038" y="4371975"/>
            <a:ext cx="2324100" cy="376238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1062038" y="4371975"/>
            <a:ext cx="23241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BEFORE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062038" y="4586288"/>
            <a:ext cx="23241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Short description of the current solution.</a:t>
            </a:r>
            <a:endParaRPr lang="en-US" sz="85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3913" y="1371600"/>
            <a:ext cx="1319213" cy="2707757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67338" y="1376363"/>
            <a:ext cx="1319213" cy="2707757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314575" y="1376363"/>
            <a:ext cx="1319213" cy="2707757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58000" y="1376363"/>
            <a:ext cx="1319213" cy="2707757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solidFill>
            <a:srgbClr val="000000"/>
          </a:solidFill>
          <a:ln w="4524">
            <a:solidFill>
              <a:srgbClr val="000000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14" name="Text 8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428625"/>
            <a:ext cx="41195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DIRECTIONS </a:t>
            </a:r>
            <a:endParaRPr lang="en-US" sz="2672" dirty="0"/>
          </a:p>
        </p:txBody>
      </p:sp>
      <p:sp>
        <p:nvSpPr>
          <p:cNvPr id="4" name="Text 2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sp>
        <p:nvSpPr>
          <p:cNvPr id="6" name="Text 4"/>
          <p:cNvSpPr/>
          <p:nvPr/>
        </p:nvSpPr>
        <p:spPr>
          <a:xfrm>
            <a:off x="1938337" y="1500188"/>
            <a:ext cx="6919913" cy="447675"/>
          </a:xfrm>
          <a:prstGeom prst="rect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Question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38337" y="3857625"/>
            <a:ext cx="6919913" cy="1047750"/>
          </a:xfrm>
          <a:prstGeom prst="roundRect">
            <a:avLst>
              <a:gd name="adj" fmla="val 5236"/>
            </a:avLst>
          </a:prstGeom>
          <a:solidFill>
            <a:srgbClr val="4B6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Decision:  Option A</a:t>
            </a:r>
            <a:endParaRPr lang="en-US" dirty="0"/>
          </a:p>
          <a:p>
            <a:pPr indent="0" marL="0">
              <a:buNone/>
            </a:pP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Responsibility: xxx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FYI: Design Team, Product Team, 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938337" y="2095500"/>
            <a:ext cx="3367088" cy="200025"/>
          </a:xfrm>
          <a:prstGeom prst="rect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Option A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5750" y="2395538"/>
            <a:ext cx="1562100" cy="200025"/>
          </a:xfrm>
          <a:prstGeom prst="rect">
            <a:avLst/>
          </a:prstGeom>
          <a:solidFill>
            <a:srgbClr val="C4C4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Pros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5750" y="1500188"/>
            <a:ext cx="1562100" cy="200025"/>
          </a:xfrm>
          <a:prstGeom prst="rect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Date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5750" y="1800225"/>
            <a:ext cx="1562100" cy="200025"/>
          </a:xfrm>
          <a:prstGeom prst="rect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Attendees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5750" y="2995613"/>
            <a:ext cx="1562100" cy="200025"/>
          </a:xfrm>
          <a:prstGeom prst="rect">
            <a:avLst/>
          </a:prstGeom>
          <a:solidFill>
            <a:srgbClr val="9E9E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Cons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5750" y="3390900"/>
            <a:ext cx="1562100" cy="200025"/>
          </a:xfrm>
          <a:prstGeom prst="rect">
            <a:avLst/>
          </a:prstGeom>
          <a:solidFill>
            <a:srgbClr val="8D8D8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Cons Painkiller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938337" y="2395538"/>
            <a:ext cx="1590675" cy="347663"/>
          </a:xfrm>
          <a:prstGeom prst="rect">
            <a:avLst/>
          </a:prstGeom>
          <a:solidFill>
            <a:srgbClr val="C4C4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Why this is good?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91163" y="2395538"/>
            <a:ext cx="1590675" cy="347663"/>
          </a:xfrm>
          <a:prstGeom prst="rect">
            <a:avLst/>
          </a:prstGeom>
          <a:solidFill>
            <a:srgbClr val="C4C4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Why this is good?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67575" y="2395538"/>
            <a:ext cx="1590675" cy="347663"/>
          </a:xfrm>
          <a:prstGeom prst="rect">
            <a:avLst/>
          </a:prstGeom>
          <a:solidFill>
            <a:srgbClr val="C4C4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Why this is good?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14750" y="2995613"/>
            <a:ext cx="1590675" cy="314325"/>
          </a:xfrm>
          <a:prstGeom prst="rect">
            <a:avLst/>
          </a:prstGeom>
          <a:solidFill>
            <a:srgbClr val="9E9E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Why this is Bad?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938337" y="2995613"/>
            <a:ext cx="1590675" cy="314325"/>
          </a:xfrm>
          <a:prstGeom prst="rect">
            <a:avLst/>
          </a:prstGeom>
          <a:solidFill>
            <a:srgbClr val="9E9E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Why this is Bad?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91163" y="2995613"/>
            <a:ext cx="1590675" cy="314325"/>
          </a:xfrm>
          <a:prstGeom prst="rect">
            <a:avLst/>
          </a:prstGeom>
          <a:solidFill>
            <a:srgbClr val="9E9E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Why this is Bad?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67575" y="2995613"/>
            <a:ext cx="1590675" cy="314325"/>
          </a:xfrm>
          <a:prstGeom prst="rect">
            <a:avLst/>
          </a:prstGeom>
          <a:solidFill>
            <a:srgbClr val="9E9E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Why this is Bad?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14750" y="3390900"/>
            <a:ext cx="1590675" cy="319088"/>
          </a:xfrm>
          <a:prstGeom prst="rect">
            <a:avLst/>
          </a:prstGeom>
          <a:solidFill>
            <a:srgbClr val="8D8D8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Why this is not so bad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491163" y="3390900"/>
            <a:ext cx="1590675" cy="319088"/>
          </a:xfrm>
          <a:prstGeom prst="rect">
            <a:avLst/>
          </a:prstGeom>
          <a:solidFill>
            <a:srgbClr val="8D8D8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Why this is not so bad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267575" y="3390900"/>
            <a:ext cx="1590675" cy="319088"/>
          </a:xfrm>
          <a:prstGeom prst="rect">
            <a:avLst/>
          </a:prstGeom>
          <a:solidFill>
            <a:srgbClr val="8D8D8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Why this is not so bad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91163" y="2095500"/>
            <a:ext cx="3367088" cy="200025"/>
          </a:xfrm>
          <a:prstGeom prst="rect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Option B</a:t>
            </a:r>
            <a:endParaRPr lang="en-US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33675" y="2762250"/>
            <a:ext cx="105212" cy="228600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33675" y="2762250"/>
            <a:ext cx="1836162" cy="228600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86500" y="2762250"/>
            <a:ext cx="105212" cy="228600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62913" y="2762250"/>
            <a:ext cx="105212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428625"/>
            <a:ext cx="41195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DECISION MATRIX</a:t>
            </a:r>
            <a:endParaRPr lang="en-US" sz="2672" dirty="0"/>
          </a:p>
        </p:txBody>
      </p:sp>
      <p:sp>
        <p:nvSpPr>
          <p:cNvPr id="4" name="Text 2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285750" y="1562100"/>
            <a:ext cx="1862138" cy="2924175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85750" y="1562100"/>
            <a:ext cx="1862138" cy="771525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285750" y="1562100"/>
            <a:ext cx="1862138" cy="771525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285750" y="1562100"/>
            <a:ext cx="7667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425" spc="-5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 01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285750" y="2043113"/>
            <a:ext cx="1862138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sp>
        <p:nvSpPr>
          <p:cNvPr id="11" name="Shape 9"/>
          <p:cNvSpPr/>
          <p:nvPr/>
        </p:nvSpPr>
        <p:spPr>
          <a:xfrm>
            <a:off x="285750" y="2638425"/>
            <a:ext cx="1862138" cy="771525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285750" y="2638425"/>
            <a:ext cx="1862138" cy="771525"/>
          </a:xfrm>
          <a:prstGeom prst="rect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285750" y="2638425"/>
            <a:ext cx="7667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425" spc="-5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 02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285750" y="3119438"/>
            <a:ext cx="1862138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sp>
        <p:nvSpPr>
          <p:cNvPr id="15" name="Shape 13"/>
          <p:cNvSpPr/>
          <p:nvPr/>
        </p:nvSpPr>
        <p:spPr>
          <a:xfrm>
            <a:off x="285750" y="3714750"/>
            <a:ext cx="1862138" cy="771525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285750" y="3714750"/>
            <a:ext cx="1862138" cy="771525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285750" y="3714750"/>
            <a:ext cx="7667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425" spc="-5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 03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285750" y="4195763"/>
            <a:ext cx="1862138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sp>
        <p:nvSpPr>
          <p:cNvPr id="19" name="Shape 17"/>
          <p:cNvSpPr/>
          <p:nvPr/>
        </p:nvSpPr>
        <p:spPr>
          <a:xfrm>
            <a:off x="3262313" y="1423988"/>
            <a:ext cx="5605463" cy="3462338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3262313" y="1423988"/>
            <a:ext cx="5605463" cy="847725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3262313" y="1423988"/>
            <a:ext cx="1381125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22" name="Shape 20"/>
          <p:cNvSpPr/>
          <p:nvPr/>
        </p:nvSpPr>
        <p:spPr>
          <a:xfrm>
            <a:off x="3700463" y="1585913"/>
            <a:ext cx="500063" cy="500063"/>
          </a:xfrm>
          <a:prstGeom prst="ellipse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95725" y="1771650"/>
            <a:ext cx="1190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4C56F6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</a:t>
            </a:r>
            <a:endParaRPr lang="en-US" sz="1354" dirty="0"/>
          </a:p>
        </p:txBody>
      </p:sp>
      <p:sp>
        <p:nvSpPr>
          <p:cNvPr id="24" name="Shape 22"/>
          <p:cNvSpPr/>
          <p:nvPr/>
        </p:nvSpPr>
        <p:spPr>
          <a:xfrm>
            <a:off x="4667250" y="1423988"/>
            <a:ext cx="1381125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25" name="Shape 23"/>
          <p:cNvSpPr/>
          <p:nvPr/>
        </p:nvSpPr>
        <p:spPr>
          <a:xfrm>
            <a:off x="5105400" y="1585913"/>
            <a:ext cx="500063" cy="500063"/>
          </a:xfrm>
          <a:prstGeom prst="ellipse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5425" y="1771650"/>
            <a:ext cx="1047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4C56F6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</a:t>
            </a:r>
            <a:endParaRPr lang="en-US" sz="1354" dirty="0"/>
          </a:p>
        </p:txBody>
      </p:sp>
      <p:sp>
        <p:nvSpPr>
          <p:cNvPr id="27" name="Shape 25"/>
          <p:cNvSpPr/>
          <p:nvPr/>
        </p:nvSpPr>
        <p:spPr>
          <a:xfrm>
            <a:off x="6072188" y="1423988"/>
            <a:ext cx="1381125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28" name="Shape 26"/>
          <p:cNvSpPr/>
          <p:nvPr/>
        </p:nvSpPr>
        <p:spPr>
          <a:xfrm>
            <a:off x="6510338" y="1585913"/>
            <a:ext cx="500063" cy="500063"/>
          </a:xfrm>
          <a:prstGeom prst="ellipse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10363" y="1771650"/>
            <a:ext cx="1047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4C56F6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</a:t>
            </a:r>
            <a:endParaRPr lang="en-US" sz="1354" dirty="0"/>
          </a:p>
        </p:txBody>
      </p:sp>
      <p:sp>
        <p:nvSpPr>
          <p:cNvPr id="30" name="Shape 28"/>
          <p:cNvSpPr/>
          <p:nvPr/>
        </p:nvSpPr>
        <p:spPr>
          <a:xfrm>
            <a:off x="7477125" y="1423988"/>
            <a:ext cx="1381125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31" name="Shape 29"/>
          <p:cNvSpPr/>
          <p:nvPr/>
        </p:nvSpPr>
        <p:spPr>
          <a:xfrm>
            <a:off x="7915275" y="1585913"/>
            <a:ext cx="500063" cy="500063"/>
          </a:xfrm>
          <a:prstGeom prst="ellipse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5300" y="1771650"/>
            <a:ext cx="1047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4C56F6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</a:t>
            </a:r>
            <a:endParaRPr lang="en-US" sz="1354" dirty="0"/>
          </a:p>
        </p:txBody>
      </p:sp>
      <p:sp>
        <p:nvSpPr>
          <p:cNvPr id="33" name="Shape 31"/>
          <p:cNvSpPr/>
          <p:nvPr/>
        </p:nvSpPr>
        <p:spPr>
          <a:xfrm>
            <a:off x="3262313" y="2295525"/>
            <a:ext cx="5605463" cy="847725"/>
          </a:xfrm>
          <a:prstGeom prst="rect">
            <a:avLst/>
          </a:prstGeom>
          <a:noFill/>
          <a:ln/>
        </p:spPr>
      </p:sp>
      <p:sp>
        <p:nvSpPr>
          <p:cNvPr id="34" name="Shape 32"/>
          <p:cNvSpPr/>
          <p:nvPr/>
        </p:nvSpPr>
        <p:spPr>
          <a:xfrm>
            <a:off x="3262313" y="2295525"/>
            <a:ext cx="1381125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35" name="Shape 33"/>
          <p:cNvSpPr/>
          <p:nvPr/>
        </p:nvSpPr>
        <p:spPr>
          <a:xfrm>
            <a:off x="3700463" y="2457450"/>
            <a:ext cx="500063" cy="500063"/>
          </a:xfrm>
          <a:prstGeom prst="ellipse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95725" y="2643188"/>
            <a:ext cx="1143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4C56F6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</a:t>
            </a:r>
            <a:endParaRPr lang="en-US" sz="1354" dirty="0"/>
          </a:p>
        </p:txBody>
      </p:sp>
      <p:sp>
        <p:nvSpPr>
          <p:cNvPr id="37" name="Shape 35"/>
          <p:cNvSpPr/>
          <p:nvPr/>
        </p:nvSpPr>
        <p:spPr>
          <a:xfrm>
            <a:off x="4667250" y="2295525"/>
            <a:ext cx="1381125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38" name="Shape 36"/>
          <p:cNvSpPr/>
          <p:nvPr/>
        </p:nvSpPr>
        <p:spPr>
          <a:xfrm>
            <a:off x="5105400" y="2457450"/>
            <a:ext cx="500063" cy="500063"/>
          </a:xfrm>
          <a:prstGeom prst="ellipse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0663" y="2643188"/>
            <a:ext cx="1143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4C56F6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</a:t>
            </a:r>
            <a:endParaRPr lang="en-US" sz="1354" dirty="0"/>
          </a:p>
        </p:txBody>
      </p:sp>
      <p:sp>
        <p:nvSpPr>
          <p:cNvPr id="40" name="Shape 38"/>
          <p:cNvSpPr/>
          <p:nvPr/>
        </p:nvSpPr>
        <p:spPr>
          <a:xfrm>
            <a:off x="6072188" y="2295525"/>
            <a:ext cx="1381125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41" name="Shape 39"/>
          <p:cNvSpPr/>
          <p:nvPr/>
        </p:nvSpPr>
        <p:spPr>
          <a:xfrm>
            <a:off x="6510338" y="2457450"/>
            <a:ext cx="500063" cy="500063"/>
          </a:xfrm>
          <a:prstGeom prst="ellipse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05600" y="2643188"/>
            <a:ext cx="1190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4C56F6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</a:t>
            </a:r>
            <a:endParaRPr lang="en-US" sz="1354" dirty="0"/>
          </a:p>
        </p:txBody>
      </p:sp>
      <p:sp>
        <p:nvSpPr>
          <p:cNvPr id="43" name="Shape 41"/>
          <p:cNvSpPr/>
          <p:nvPr/>
        </p:nvSpPr>
        <p:spPr>
          <a:xfrm>
            <a:off x="7477125" y="2295525"/>
            <a:ext cx="1381125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44" name="Shape 42"/>
          <p:cNvSpPr/>
          <p:nvPr/>
        </p:nvSpPr>
        <p:spPr>
          <a:xfrm>
            <a:off x="7915275" y="2457450"/>
            <a:ext cx="500063" cy="500063"/>
          </a:xfrm>
          <a:prstGeom prst="ellipse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10537" y="2643188"/>
            <a:ext cx="1190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4C56F6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</a:t>
            </a:r>
            <a:endParaRPr lang="en-US" sz="1354" dirty="0"/>
          </a:p>
        </p:txBody>
      </p:sp>
      <p:sp>
        <p:nvSpPr>
          <p:cNvPr id="46" name="Shape 44"/>
          <p:cNvSpPr/>
          <p:nvPr/>
        </p:nvSpPr>
        <p:spPr>
          <a:xfrm>
            <a:off x="3262313" y="3167063"/>
            <a:ext cx="5605463" cy="847725"/>
          </a:xfrm>
          <a:prstGeom prst="rect">
            <a:avLst/>
          </a:prstGeom>
          <a:noFill/>
          <a:ln/>
        </p:spPr>
      </p:sp>
      <p:sp>
        <p:nvSpPr>
          <p:cNvPr id="47" name="Shape 45"/>
          <p:cNvSpPr/>
          <p:nvPr/>
        </p:nvSpPr>
        <p:spPr>
          <a:xfrm>
            <a:off x="3262313" y="3167063"/>
            <a:ext cx="1381125" cy="847725"/>
          </a:xfrm>
          <a:prstGeom prst="rect">
            <a:avLst/>
          </a:prstGeom>
          <a:solidFill>
            <a:srgbClr val="4C56F6"/>
          </a:solidFill>
          <a:ln/>
        </p:spPr>
      </p:sp>
      <p:sp>
        <p:nvSpPr>
          <p:cNvPr id="48" name="Shape 46"/>
          <p:cNvSpPr/>
          <p:nvPr/>
        </p:nvSpPr>
        <p:spPr>
          <a:xfrm>
            <a:off x="3700463" y="3328988"/>
            <a:ext cx="500063" cy="500063"/>
          </a:xfrm>
          <a:prstGeom prst="ellipse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95725" y="3514725"/>
            <a:ext cx="1190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4C56F6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endParaRPr lang="en-US" sz="1354" dirty="0"/>
          </a:p>
        </p:txBody>
      </p:sp>
      <p:sp>
        <p:nvSpPr>
          <p:cNvPr id="50" name="Shape 48"/>
          <p:cNvSpPr/>
          <p:nvPr/>
        </p:nvSpPr>
        <p:spPr>
          <a:xfrm>
            <a:off x="4667250" y="3167063"/>
            <a:ext cx="1381125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51" name="Shape 49"/>
          <p:cNvSpPr/>
          <p:nvPr/>
        </p:nvSpPr>
        <p:spPr>
          <a:xfrm>
            <a:off x="5105400" y="3328988"/>
            <a:ext cx="500063" cy="500063"/>
          </a:xfrm>
          <a:prstGeom prst="ellipse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00663" y="3514725"/>
            <a:ext cx="1143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4C56F6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</a:t>
            </a:r>
            <a:endParaRPr lang="en-US" sz="1354" dirty="0"/>
          </a:p>
        </p:txBody>
      </p:sp>
      <p:sp>
        <p:nvSpPr>
          <p:cNvPr id="53" name="Shape 51"/>
          <p:cNvSpPr/>
          <p:nvPr/>
        </p:nvSpPr>
        <p:spPr>
          <a:xfrm>
            <a:off x="6072188" y="3167063"/>
            <a:ext cx="1381125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54" name="Shape 52"/>
          <p:cNvSpPr/>
          <p:nvPr/>
        </p:nvSpPr>
        <p:spPr>
          <a:xfrm>
            <a:off x="6510338" y="3328988"/>
            <a:ext cx="500063" cy="500063"/>
          </a:xfrm>
          <a:prstGeom prst="ellipse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05600" y="3514725"/>
            <a:ext cx="1143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4C56F6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</a:t>
            </a:r>
            <a:endParaRPr lang="en-US" sz="1354" dirty="0"/>
          </a:p>
        </p:txBody>
      </p:sp>
      <p:sp>
        <p:nvSpPr>
          <p:cNvPr id="56" name="Shape 54"/>
          <p:cNvSpPr/>
          <p:nvPr/>
        </p:nvSpPr>
        <p:spPr>
          <a:xfrm>
            <a:off x="7477125" y="3167063"/>
            <a:ext cx="1381125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57" name="Shape 55"/>
          <p:cNvSpPr/>
          <p:nvPr/>
        </p:nvSpPr>
        <p:spPr>
          <a:xfrm>
            <a:off x="7915275" y="3328988"/>
            <a:ext cx="500063" cy="500063"/>
          </a:xfrm>
          <a:prstGeom prst="ellipse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10537" y="3514725"/>
            <a:ext cx="1190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4C56F6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</a:t>
            </a:r>
            <a:endParaRPr lang="en-US" sz="1354" dirty="0"/>
          </a:p>
        </p:txBody>
      </p:sp>
      <p:sp>
        <p:nvSpPr>
          <p:cNvPr id="59" name="Shape 57"/>
          <p:cNvSpPr/>
          <p:nvPr/>
        </p:nvSpPr>
        <p:spPr>
          <a:xfrm>
            <a:off x="3262313" y="4038600"/>
            <a:ext cx="5605463" cy="847725"/>
          </a:xfrm>
          <a:prstGeom prst="rect">
            <a:avLst/>
          </a:prstGeom>
          <a:noFill/>
          <a:ln/>
        </p:spPr>
      </p:sp>
      <p:sp>
        <p:nvSpPr>
          <p:cNvPr id="60" name="Shape 58"/>
          <p:cNvSpPr/>
          <p:nvPr/>
        </p:nvSpPr>
        <p:spPr>
          <a:xfrm>
            <a:off x="3262313" y="4038600"/>
            <a:ext cx="1381125" cy="847725"/>
          </a:xfrm>
          <a:prstGeom prst="rect">
            <a:avLst/>
          </a:prstGeom>
          <a:solidFill>
            <a:srgbClr val="4C56F6"/>
          </a:solidFill>
          <a:ln/>
        </p:spPr>
      </p:sp>
      <p:sp>
        <p:nvSpPr>
          <p:cNvPr id="61" name="Shape 59"/>
          <p:cNvSpPr/>
          <p:nvPr/>
        </p:nvSpPr>
        <p:spPr>
          <a:xfrm>
            <a:off x="3700463" y="4200525"/>
            <a:ext cx="500063" cy="500063"/>
          </a:xfrm>
          <a:prstGeom prst="ellipse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95725" y="4386263"/>
            <a:ext cx="1190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4C56F6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endParaRPr lang="en-US" sz="1354" dirty="0"/>
          </a:p>
        </p:txBody>
      </p:sp>
      <p:sp>
        <p:nvSpPr>
          <p:cNvPr id="63" name="Shape 61"/>
          <p:cNvSpPr/>
          <p:nvPr/>
        </p:nvSpPr>
        <p:spPr>
          <a:xfrm>
            <a:off x="4667250" y="4038600"/>
            <a:ext cx="1381125" cy="847725"/>
          </a:xfrm>
          <a:prstGeom prst="rect">
            <a:avLst/>
          </a:prstGeom>
          <a:solidFill>
            <a:srgbClr val="4C56F6"/>
          </a:solidFill>
          <a:ln/>
        </p:spPr>
      </p:sp>
      <p:sp>
        <p:nvSpPr>
          <p:cNvPr id="64" name="Shape 62"/>
          <p:cNvSpPr/>
          <p:nvPr/>
        </p:nvSpPr>
        <p:spPr>
          <a:xfrm>
            <a:off x="5105400" y="4200525"/>
            <a:ext cx="500063" cy="500063"/>
          </a:xfrm>
          <a:prstGeom prst="ellipse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00663" y="4386263"/>
            <a:ext cx="1190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4C56F6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endParaRPr lang="en-US" sz="1354" dirty="0"/>
          </a:p>
        </p:txBody>
      </p:sp>
      <p:sp>
        <p:nvSpPr>
          <p:cNvPr id="66" name="Shape 64"/>
          <p:cNvSpPr/>
          <p:nvPr/>
        </p:nvSpPr>
        <p:spPr>
          <a:xfrm>
            <a:off x="6072188" y="4038600"/>
            <a:ext cx="1381125" cy="847725"/>
          </a:xfrm>
          <a:prstGeom prst="rect">
            <a:avLst/>
          </a:prstGeom>
          <a:solidFill>
            <a:srgbClr val="4C56F6"/>
          </a:solidFill>
          <a:ln/>
        </p:spPr>
      </p:sp>
      <p:sp>
        <p:nvSpPr>
          <p:cNvPr id="67" name="Shape 65"/>
          <p:cNvSpPr/>
          <p:nvPr/>
        </p:nvSpPr>
        <p:spPr>
          <a:xfrm>
            <a:off x="6510338" y="4200525"/>
            <a:ext cx="500063" cy="500063"/>
          </a:xfrm>
          <a:prstGeom prst="ellipse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05600" y="4386263"/>
            <a:ext cx="1190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4C56F6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endParaRPr lang="en-US" sz="1354" dirty="0"/>
          </a:p>
        </p:txBody>
      </p:sp>
      <p:sp>
        <p:nvSpPr>
          <p:cNvPr id="69" name="Shape 67"/>
          <p:cNvSpPr/>
          <p:nvPr/>
        </p:nvSpPr>
        <p:spPr>
          <a:xfrm>
            <a:off x="7477125" y="4038600"/>
            <a:ext cx="1381125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70" name="Shape 68"/>
          <p:cNvSpPr/>
          <p:nvPr/>
        </p:nvSpPr>
        <p:spPr>
          <a:xfrm>
            <a:off x="7915275" y="4200525"/>
            <a:ext cx="500063" cy="500063"/>
          </a:xfrm>
          <a:prstGeom prst="ellipse">
            <a:avLst/>
          </a:prstGeom>
          <a:solidFill>
            <a:srgbClr val="F8F8F8"/>
          </a:solidFill>
          <a:ln w="4524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120063" y="4386263"/>
            <a:ext cx="952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4C56F6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</a:t>
            </a:r>
            <a:endParaRPr lang="en-US" sz="1354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428625"/>
            <a:ext cx="41195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DECISION MATRIX</a:t>
            </a:r>
            <a:endParaRPr lang="en-US" sz="2672" dirty="0"/>
          </a:p>
        </p:txBody>
      </p:sp>
      <p:sp>
        <p:nvSpPr>
          <p:cNvPr id="4" name="Text 2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sp>
        <p:nvSpPr>
          <p:cNvPr id="6" name="Text 4"/>
          <p:cNvSpPr/>
          <p:nvPr/>
        </p:nvSpPr>
        <p:spPr>
          <a:xfrm>
            <a:off x="4090987" y="895350"/>
            <a:ext cx="9667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CONSEQUENTIAL</a:t>
            </a:r>
            <a:endParaRPr lang="en-US" sz="855" dirty="0"/>
          </a:p>
        </p:txBody>
      </p:sp>
      <p:sp>
        <p:nvSpPr>
          <p:cNvPr id="7" name="Text 5"/>
          <p:cNvSpPr/>
          <p:nvPr/>
        </p:nvSpPr>
        <p:spPr>
          <a:xfrm>
            <a:off x="4024313" y="4568410"/>
            <a:ext cx="108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INCONSEQUENTIAL</a:t>
            </a:r>
            <a:endParaRPr lang="en-US" sz="855" dirty="0"/>
          </a:p>
        </p:txBody>
      </p:sp>
      <p:sp>
        <p:nvSpPr>
          <p:cNvPr id="8" name="Text 6"/>
          <p:cNvSpPr/>
          <p:nvPr/>
        </p:nvSpPr>
        <p:spPr>
          <a:xfrm>
            <a:off x="2119313" y="2728913"/>
            <a:ext cx="695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REVERSIBLE</a:t>
            </a:r>
            <a:endParaRPr lang="en-US" sz="855" dirty="0"/>
          </a:p>
        </p:txBody>
      </p:sp>
      <p:sp>
        <p:nvSpPr>
          <p:cNvPr id="9" name="Text 7"/>
          <p:cNvSpPr/>
          <p:nvPr/>
        </p:nvSpPr>
        <p:spPr>
          <a:xfrm>
            <a:off x="6323912" y="2728913"/>
            <a:ext cx="8048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IRREVERSIBLE</a:t>
            </a:r>
            <a:endParaRPr lang="en-US" sz="85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0381" y="1247775"/>
            <a:ext cx="82711" cy="3139521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14662" y="2820343"/>
            <a:ext cx="3128293" cy="8271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019425" y="1304925"/>
            <a:ext cx="1390650" cy="1366838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13" name="Shape 9"/>
          <p:cNvSpPr/>
          <p:nvPr/>
        </p:nvSpPr>
        <p:spPr>
          <a:xfrm>
            <a:off x="3119438" y="1538288"/>
            <a:ext cx="1109663" cy="100013"/>
          </a:xfrm>
          <a:prstGeom prst="rect">
            <a:avLst/>
          </a:prstGeom>
          <a:noFill/>
          <a:ln/>
        </p:spPr>
      </p:sp>
      <p:sp>
        <p:nvSpPr>
          <p:cNvPr id="14" name="Text 10"/>
          <p:cNvSpPr/>
          <p:nvPr/>
        </p:nvSpPr>
        <p:spPr>
          <a:xfrm>
            <a:off x="3298031" y="1538288"/>
            <a:ext cx="7524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Reason</a:t>
            </a:r>
            <a:endParaRPr lang="en-US" sz="1069" dirty="0"/>
          </a:p>
        </p:txBody>
      </p:sp>
      <p:sp>
        <p:nvSpPr>
          <p:cNvPr id="15" name="Shape 11"/>
          <p:cNvSpPr/>
          <p:nvPr/>
        </p:nvSpPr>
        <p:spPr>
          <a:xfrm>
            <a:off x="3014663" y="2933700"/>
            <a:ext cx="1390650" cy="1366838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16" name="Shape 12"/>
          <p:cNvSpPr/>
          <p:nvPr/>
        </p:nvSpPr>
        <p:spPr>
          <a:xfrm>
            <a:off x="3114675" y="3167063"/>
            <a:ext cx="1109663" cy="100013"/>
          </a:xfrm>
          <a:prstGeom prst="rect">
            <a:avLst/>
          </a:prstGeom>
          <a:noFill/>
          <a:ln/>
        </p:spPr>
      </p:sp>
      <p:sp>
        <p:nvSpPr>
          <p:cNvPr id="17" name="Text 13"/>
          <p:cNvSpPr/>
          <p:nvPr/>
        </p:nvSpPr>
        <p:spPr>
          <a:xfrm>
            <a:off x="3293269" y="3167063"/>
            <a:ext cx="7524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Reason</a:t>
            </a:r>
            <a:endParaRPr lang="en-US" sz="1069" dirty="0"/>
          </a:p>
        </p:txBody>
      </p:sp>
      <p:sp>
        <p:nvSpPr>
          <p:cNvPr id="18" name="Shape 14"/>
          <p:cNvSpPr/>
          <p:nvPr/>
        </p:nvSpPr>
        <p:spPr>
          <a:xfrm>
            <a:off x="4719638" y="1304925"/>
            <a:ext cx="1390650" cy="1366838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19" name="Shape 15"/>
          <p:cNvSpPr/>
          <p:nvPr/>
        </p:nvSpPr>
        <p:spPr>
          <a:xfrm>
            <a:off x="4819650" y="1538288"/>
            <a:ext cx="1109663" cy="100013"/>
          </a:xfrm>
          <a:prstGeom prst="rect">
            <a:avLst/>
          </a:prstGeom>
          <a:noFill/>
          <a:ln/>
        </p:spPr>
      </p:sp>
      <p:sp>
        <p:nvSpPr>
          <p:cNvPr id="20" name="Text 16"/>
          <p:cNvSpPr/>
          <p:nvPr/>
        </p:nvSpPr>
        <p:spPr>
          <a:xfrm>
            <a:off x="4998244" y="1538288"/>
            <a:ext cx="7524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Reason</a:t>
            </a:r>
            <a:endParaRPr lang="en-US" sz="1069" dirty="0"/>
          </a:p>
        </p:txBody>
      </p:sp>
      <p:sp>
        <p:nvSpPr>
          <p:cNvPr id="21" name="Shape 17"/>
          <p:cNvSpPr/>
          <p:nvPr/>
        </p:nvSpPr>
        <p:spPr>
          <a:xfrm>
            <a:off x="4714875" y="2933700"/>
            <a:ext cx="1390650" cy="1366838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22" name="Shape 18"/>
          <p:cNvSpPr/>
          <p:nvPr/>
        </p:nvSpPr>
        <p:spPr>
          <a:xfrm>
            <a:off x="4814888" y="3167063"/>
            <a:ext cx="1109663" cy="100013"/>
          </a:xfrm>
          <a:prstGeom prst="rect">
            <a:avLst/>
          </a:prstGeom>
          <a:noFill/>
          <a:ln/>
        </p:spPr>
      </p:sp>
      <p:sp>
        <p:nvSpPr>
          <p:cNvPr id="23" name="Text 19"/>
          <p:cNvSpPr/>
          <p:nvPr/>
        </p:nvSpPr>
        <p:spPr>
          <a:xfrm>
            <a:off x="4993481" y="3167063"/>
            <a:ext cx="7524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Reason</a:t>
            </a:r>
            <a:endParaRPr lang="en-US" sz="1069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428625"/>
            <a:ext cx="411956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BENEFIT COMPARISON TABLE</a:t>
            </a:r>
            <a:endParaRPr lang="en-US" sz="2672" dirty="0"/>
          </a:p>
        </p:txBody>
      </p:sp>
      <p:sp>
        <p:nvSpPr>
          <p:cNvPr id="4" name="Text 2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5750" y="1504950"/>
          <a:ext cx="7905750" cy="3298524"/>
        </p:xfrm>
        <a:graphic>
          <a:graphicData uri="http://schemas.openxmlformats.org/drawingml/2006/table">
            <a:tbl>
              <a:tblPr/>
              <a:tblGrid>
                <a:gridCol w="1714500"/>
                <a:gridCol w="1238250"/>
                <a:gridCol w="1238250"/>
                <a:gridCol w="1238250"/>
                <a:gridCol w="1238250"/>
                <a:gridCol w="1238250"/>
              </a:tblGrid>
              <a:tr h="40481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03"/>
                        </a:lnSpc>
                        <a:buNone/>
                      </a:pPr>
                      <a:r>
                        <a:rPr lang="en-US" sz="1069" b="1" spc="-20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Benefit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03"/>
                        </a:lnSpc>
                        <a:buNone/>
                      </a:pPr>
                      <a:r>
                        <a:rPr lang="en-US" sz="1069" b="1" spc="-20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Option 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03"/>
                        </a:lnSpc>
                        <a:buNone/>
                      </a:pPr>
                      <a:r>
                        <a:rPr lang="en-US" sz="1069" b="1" spc="-20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Option B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03"/>
                        </a:lnSpc>
                        <a:buNone/>
                      </a:pPr>
                      <a:r>
                        <a:rPr lang="en-US" sz="1069" b="1" spc="-20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Option 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03"/>
                        </a:lnSpc>
                        <a:buNone/>
                      </a:pPr>
                      <a:r>
                        <a:rPr lang="en-US" sz="1069" b="1" spc="-20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Option 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03"/>
                        </a:lnSpc>
                        <a:buNone/>
                      </a:pPr>
                      <a:r>
                        <a:rPr lang="en-US" sz="1069" b="1" spc="-20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Option 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>
                        <a:alpha val="0"/>
                      </a:srgbClr>
                    </a:solidFill>
                  </a:tcPr>
                </a:tc>
              </a:tr>
              <a:tr h="72342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89"/>
                        </a:lnSpc>
                        <a:buNone/>
                      </a:pPr>
                      <a:r>
                        <a:rPr lang="en-US" sz="926" spc="-18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Benefit 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42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89"/>
                        </a:lnSpc>
                        <a:buNone/>
                      </a:pPr>
                      <a:r>
                        <a:rPr lang="en-US" sz="926" spc="-18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Benefit 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42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89"/>
                        </a:lnSpc>
                        <a:buNone/>
                      </a:pPr>
                      <a:r>
                        <a:rPr lang="en-US" sz="926" spc="-18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Benefit 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42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89"/>
                        </a:lnSpc>
                        <a:buNone/>
                      </a:pPr>
                      <a:r>
                        <a:rPr lang="en-US" sz="926" spc="-18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Benefit 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95713" y="2214563"/>
            <a:ext cx="126206" cy="12620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57463" y="2214563"/>
            <a:ext cx="126206" cy="126206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95713" y="2943225"/>
            <a:ext cx="126206" cy="126206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972050" y="3657600"/>
            <a:ext cx="126206" cy="126206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481887" y="2943225"/>
            <a:ext cx="126206" cy="12620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428625"/>
            <a:ext cx="411956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FINDINGS &amp; RECOMMENDATIONS</a:t>
            </a:r>
            <a:endParaRPr lang="en-US" sz="2672" dirty="0"/>
          </a:p>
        </p:txBody>
      </p:sp>
      <p:sp>
        <p:nvSpPr>
          <p:cNvPr id="4" name="Text 2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  <p:sp>
        <p:nvSpPr>
          <p:cNvPr id="6" name="Text 4"/>
          <p:cNvSpPr/>
          <p:nvPr/>
        </p:nvSpPr>
        <p:spPr>
          <a:xfrm>
            <a:off x="1790700" y="1495425"/>
            <a:ext cx="457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Findings</a:t>
            </a:r>
            <a:endParaRPr lang="en-US" sz="855" dirty="0"/>
          </a:p>
        </p:txBody>
      </p:sp>
      <p:sp>
        <p:nvSpPr>
          <p:cNvPr id="7" name="Text 5"/>
          <p:cNvSpPr/>
          <p:nvPr/>
        </p:nvSpPr>
        <p:spPr>
          <a:xfrm>
            <a:off x="6234113" y="1495425"/>
            <a:ext cx="9858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Recommendations</a:t>
            </a:r>
            <a:endParaRPr lang="en-US" sz="855" dirty="0"/>
          </a:p>
        </p:txBody>
      </p:sp>
      <p:sp>
        <p:nvSpPr>
          <p:cNvPr id="8" name="Shape 6"/>
          <p:cNvSpPr/>
          <p:nvPr/>
        </p:nvSpPr>
        <p:spPr>
          <a:xfrm>
            <a:off x="280988" y="1795463"/>
            <a:ext cx="8181975" cy="297180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280988" y="1795463"/>
            <a:ext cx="8181975" cy="847725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280988" y="1795463"/>
            <a:ext cx="3471863" cy="847725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280988" y="1795463"/>
            <a:ext cx="3471863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538" y="2019300"/>
            <a:ext cx="2395538" cy="390525"/>
          </a:xfrm>
          <a:prstGeom prst="rect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490538" y="2019300"/>
            <a:ext cx="385763" cy="390525"/>
          </a:xfrm>
          <a:prstGeom prst="rect">
            <a:avLst/>
          </a:prstGeom>
          <a:solidFill>
            <a:srgbClr val="C4C4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023938" y="2035969"/>
            <a:ext cx="1862138" cy="357188"/>
          </a:xfrm>
          <a:prstGeom prst="rect">
            <a:avLst/>
          </a:prstGeom>
          <a:noFill/>
          <a:ln/>
        </p:spPr>
      </p:sp>
      <p:sp>
        <p:nvSpPr>
          <p:cNvPr id="15" name="Text 13"/>
          <p:cNvSpPr/>
          <p:nvPr/>
        </p:nvSpPr>
        <p:spPr>
          <a:xfrm>
            <a:off x="1023938" y="2035969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sp>
        <p:nvSpPr>
          <p:cNvPr id="16" name="Text 14"/>
          <p:cNvSpPr/>
          <p:nvPr/>
        </p:nvSpPr>
        <p:spPr>
          <a:xfrm>
            <a:off x="4148137" y="2028825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2672" dirty="0"/>
          </a:p>
        </p:txBody>
      </p:sp>
      <p:sp>
        <p:nvSpPr>
          <p:cNvPr id="17" name="Shape 15"/>
          <p:cNvSpPr/>
          <p:nvPr/>
        </p:nvSpPr>
        <p:spPr>
          <a:xfrm>
            <a:off x="4991100" y="1795463"/>
            <a:ext cx="3471863" cy="847725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4991100" y="1795463"/>
            <a:ext cx="3471863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19" name="Shape 17"/>
          <p:cNvSpPr/>
          <p:nvPr/>
        </p:nvSpPr>
        <p:spPr>
          <a:xfrm>
            <a:off x="5862638" y="2019300"/>
            <a:ext cx="2395538" cy="390525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5862638" y="2035969"/>
            <a:ext cx="1862138" cy="357188"/>
          </a:xfrm>
          <a:prstGeom prst="rect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5862638" y="2035969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sp>
        <p:nvSpPr>
          <p:cNvPr id="22" name="Text 20"/>
          <p:cNvSpPr/>
          <p:nvPr/>
        </p:nvSpPr>
        <p:spPr>
          <a:xfrm>
            <a:off x="7872413" y="2019300"/>
            <a:ext cx="385763" cy="390525"/>
          </a:xfrm>
          <a:prstGeom prst="rect">
            <a:avLst/>
          </a:prstGeom>
          <a:solidFill>
            <a:srgbClr val="C4C4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280988" y="2857500"/>
            <a:ext cx="8181975" cy="847725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280988" y="2857500"/>
            <a:ext cx="3471863" cy="847725"/>
          </a:xfrm>
          <a:prstGeom prst="rect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280988" y="2857500"/>
            <a:ext cx="3471863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26" name="Shape 24"/>
          <p:cNvSpPr/>
          <p:nvPr/>
        </p:nvSpPr>
        <p:spPr>
          <a:xfrm>
            <a:off x="490538" y="3081338"/>
            <a:ext cx="2395538" cy="390525"/>
          </a:xfrm>
          <a:prstGeom prst="rect">
            <a:avLst/>
          </a:prstGeom>
          <a:noFill/>
          <a:ln/>
        </p:spPr>
      </p:sp>
      <p:sp>
        <p:nvSpPr>
          <p:cNvPr id="27" name="Text 25"/>
          <p:cNvSpPr/>
          <p:nvPr/>
        </p:nvSpPr>
        <p:spPr>
          <a:xfrm>
            <a:off x="490538" y="3081338"/>
            <a:ext cx="385763" cy="390525"/>
          </a:xfrm>
          <a:prstGeom prst="rect">
            <a:avLst/>
          </a:prstGeom>
          <a:solidFill>
            <a:srgbClr val="C4C4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1023938" y="3098006"/>
            <a:ext cx="1862138" cy="357188"/>
          </a:xfrm>
          <a:prstGeom prst="rect">
            <a:avLst/>
          </a:prstGeom>
          <a:noFill/>
          <a:ln/>
        </p:spPr>
      </p:sp>
      <p:sp>
        <p:nvSpPr>
          <p:cNvPr id="29" name="Text 27"/>
          <p:cNvSpPr/>
          <p:nvPr/>
        </p:nvSpPr>
        <p:spPr>
          <a:xfrm>
            <a:off x="1023938" y="3098006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sp>
        <p:nvSpPr>
          <p:cNvPr id="30" name="Text 28"/>
          <p:cNvSpPr/>
          <p:nvPr/>
        </p:nvSpPr>
        <p:spPr>
          <a:xfrm>
            <a:off x="4148137" y="3090863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2672" dirty="0"/>
          </a:p>
        </p:txBody>
      </p:sp>
      <p:sp>
        <p:nvSpPr>
          <p:cNvPr id="31" name="Shape 29"/>
          <p:cNvSpPr/>
          <p:nvPr/>
        </p:nvSpPr>
        <p:spPr>
          <a:xfrm>
            <a:off x="4991100" y="2857500"/>
            <a:ext cx="3471863" cy="847725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4991100" y="2857500"/>
            <a:ext cx="3471863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33" name="Shape 31"/>
          <p:cNvSpPr/>
          <p:nvPr/>
        </p:nvSpPr>
        <p:spPr>
          <a:xfrm>
            <a:off x="5862638" y="3081338"/>
            <a:ext cx="2395538" cy="390525"/>
          </a:xfrm>
          <a:prstGeom prst="rect">
            <a:avLst/>
          </a:prstGeom>
          <a:noFill/>
          <a:ln/>
        </p:spPr>
      </p:sp>
      <p:sp>
        <p:nvSpPr>
          <p:cNvPr id="34" name="Shape 32"/>
          <p:cNvSpPr/>
          <p:nvPr/>
        </p:nvSpPr>
        <p:spPr>
          <a:xfrm>
            <a:off x="5862638" y="3098006"/>
            <a:ext cx="1862138" cy="357188"/>
          </a:xfrm>
          <a:prstGeom prst="rect">
            <a:avLst/>
          </a:prstGeom>
          <a:noFill/>
          <a:ln/>
        </p:spPr>
      </p:sp>
      <p:sp>
        <p:nvSpPr>
          <p:cNvPr id="35" name="Text 33"/>
          <p:cNvSpPr/>
          <p:nvPr/>
        </p:nvSpPr>
        <p:spPr>
          <a:xfrm>
            <a:off x="5862638" y="3098006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sp>
        <p:nvSpPr>
          <p:cNvPr id="36" name="Text 34"/>
          <p:cNvSpPr/>
          <p:nvPr/>
        </p:nvSpPr>
        <p:spPr>
          <a:xfrm>
            <a:off x="7872413" y="3081338"/>
            <a:ext cx="385763" cy="390525"/>
          </a:xfrm>
          <a:prstGeom prst="rect">
            <a:avLst/>
          </a:prstGeom>
          <a:solidFill>
            <a:srgbClr val="C4C4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280988" y="3919537"/>
            <a:ext cx="8181975" cy="847725"/>
          </a:xfrm>
          <a:prstGeom prst="rect">
            <a:avLst/>
          </a:prstGeom>
          <a:noFill/>
          <a:ln/>
        </p:spPr>
      </p:sp>
      <p:sp>
        <p:nvSpPr>
          <p:cNvPr id="38" name="Shape 36"/>
          <p:cNvSpPr/>
          <p:nvPr/>
        </p:nvSpPr>
        <p:spPr>
          <a:xfrm>
            <a:off x="280988" y="3919537"/>
            <a:ext cx="3471863" cy="847725"/>
          </a:xfrm>
          <a:prstGeom prst="rect">
            <a:avLst/>
          </a:prstGeom>
          <a:noFill/>
          <a:ln/>
        </p:spPr>
      </p:sp>
      <p:sp>
        <p:nvSpPr>
          <p:cNvPr id="39" name="Shape 37"/>
          <p:cNvSpPr/>
          <p:nvPr/>
        </p:nvSpPr>
        <p:spPr>
          <a:xfrm>
            <a:off x="280988" y="3919537"/>
            <a:ext cx="3471863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40" name="Shape 38"/>
          <p:cNvSpPr/>
          <p:nvPr/>
        </p:nvSpPr>
        <p:spPr>
          <a:xfrm>
            <a:off x="490538" y="4143375"/>
            <a:ext cx="2395538" cy="390525"/>
          </a:xfrm>
          <a:prstGeom prst="rect">
            <a:avLst/>
          </a:prstGeom>
          <a:noFill/>
          <a:ln/>
        </p:spPr>
      </p:sp>
      <p:sp>
        <p:nvSpPr>
          <p:cNvPr id="41" name="Text 39"/>
          <p:cNvSpPr/>
          <p:nvPr/>
        </p:nvSpPr>
        <p:spPr>
          <a:xfrm>
            <a:off x="490538" y="4143375"/>
            <a:ext cx="385763" cy="390525"/>
          </a:xfrm>
          <a:prstGeom prst="rect">
            <a:avLst/>
          </a:prstGeom>
          <a:solidFill>
            <a:srgbClr val="C4C4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1023938" y="4160044"/>
            <a:ext cx="1862138" cy="357188"/>
          </a:xfrm>
          <a:prstGeom prst="rect">
            <a:avLst/>
          </a:prstGeom>
          <a:noFill/>
          <a:ln/>
        </p:spPr>
      </p:sp>
      <p:sp>
        <p:nvSpPr>
          <p:cNvPr id="43" name="Text 41"/>
          <p:cNvSpPr/>
          <p:nvPr/>
        </p:nvSpPr>
        <p:spPr>
          <a:xfrm>
            <a:off x="1023938" y="4160044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sp>
        <p:nvSpPr>
          <p:cNvPr id="44" name="Text 42"/>
          <p:cNvSpPr/>
          <p:nvPr/>
        </p:nvSpPr>
        <p:spPr>
          <a:xfrm>
            <a:off x="4148137" y="4152900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2672" dirty="0"/>
          </a:p>
        </p:txBody>
      </p:sp>
      <p:sp>
        <p:nvSpPr>
          <p:cNvPr id="45" name="Shape 43"/>
          <p:cNvSpPr/>
          <p:nvPr/>
        </p:nvSpPr>
        <p:spPr>
          <a:xfrm>
            <a:off x="4991100" y="3919537"/>
            <a:ext cx="3471863" cy="847725"/>
          </a:xfrm>
          <a:prstGeom prst="rect">
            <a:avLst/>
          </a:prstGeom>
          <a:noFill/>
          <a:ln/>
        </p:spPr>
      </p:sp>
      <p:sp>
        <p:nvSpPr>
          <p:cNvPr id="46" name="Shape 44"/>
          <p:cNvSpPr/>
          <p:nvPr/>
        </p:nvSpPr>
        <p:spPr>
          <a:xfrm>
            <a:off x="4991100" y="3919537"/>
            <a:ext cx="3471863" cy="847725"/>
          </a:xfrm>
          <a:prstGeom prst="rect">
            <a:avLst/>
          </a:prstGeom>
          <a:solidFill>
            <a:srgbClr val="F1F1F2"/>
          </a:solidFill>
          <a:ln/>
        </p:spPr>
      </p:sp>
      <p:sp>
        <p:nvSpPr>
          <p:cNvPr id="47" name="Shape 45"/>
          <p:cNvSpPr/>
          <p:nvPr/>
        </p:nvSpPr>
        <p:spPr>
          <a:xfrm>
            <a:off x="5862638" y="4143375"/>
            <a:ext cx="2395538" cy="390525"/>
          </a:xfrm>
          <a:prstGeom prst="rect">
            <a:avLst/>
          </a:prstGeom>
          <a:noFill/>
          <a:ln/>
        </p:spPr>
      </p:sp>
      <p:sp>
        <p:nvSpPr>
          <p:cNvPr id="48" name="Shape 46"/>
          <p:cNvSpPr/>
          <p:nvPr/>
        </p:nvSpPr>
        <p:spPr>
          <a:xfrm>
            <a:off x="5862638" y="4160044"/>
            <a:ext cx="1862138" cy="357188"/>
          </a:xfrm>
          <a:prstGeom prst="rect">
            <a:avLst/>
          </a:prstGeom>
          <a:noFill/>
          <a:ln/>
        </p:spPr>
      </p:sp>
      <p:sp>
        <p:nvSpPr>
          <p:cNvPr id="49" name="Text 47"/>
          <p:cNvSpPr/>
          <p:nvPr/>
        </p:nvSpPr>
        <p:spPr>
          <a:xfrm>
            <a:off x="5862638" y="4160044"/>
            <a:ext cx="18621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sample text. Insert</a:t>
            </a:r>
            <a:endParaRPr lang="en-US" sz="1069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desired text here</a:t>
            </a:r>
            <a:endParaRPr lang="en-US" sz="1069" dirty="0"/>
          </a:p>
        </p:txBody>
      </p:sp>
      <p:sp>
        <p:nvSpPr>
          <p:cNvPr id="50" name="Text 48"/>
          <p:cNvSpPr/>
          <p:nvPr/>
        </p:nvSpPr>
        <p:spPr>
          <a:xfrm>
            <a:off x="7872413" y="4143375"/>
            <a:ext cx="385763" cy="390525"/>
          </a:xfrm>
          <a:prstGeom prst="rect">
            <a:avLst/>
          </a:prstGeom>
          <a:solidFill>
            <a:srgbClr val="C4C4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428625"/>
            <a:ext cx="2343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672" spc="-107" kern="0" dirty="0">
                <a:solidFill>
                  <a:srgbClr val="FFFFFF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 MOCKUP</a:t>
            </a:r>
            <a:endParaRPr lang="en-US" sz="2672" dirty="0"/>
          </a:p>
        </p:txBody>
      </p:sp>
      <p:sp>
        <p:nvSpPr>
          <p:cNvPr id="4" name="Text 2"/>
          <p:cNvSpPr/>
          <p:nvPr/>
        </p:nvSpPr>
        <p:spPr>
          <a:xfrm>
            <a:off x="285750" y="1276350"/>
            <a:ext cx="3371850" cy="1671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Describe with this direction is  all about, and how it’s distinct from other the directions. If you can, include links to relevant files or docs.</a:t>
            </a:r>
            <a:endParaRPr lang="en-US" sz="1354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Replace the image with a Figma prototype or GIF to really sell it.</a:t>
            </a:r>
            <a:endParaRPr lang="en-US" sz="1354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27024" t="0" b="0"/>
          <a:stretch/>
        </p:blipFill>
        <p:spPr>
          <a:xfrm>
            <a:off x="3752850" y="428625"/>
            <a:ext cx="5391150" cy="4476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7238" y="509587"/>
            <a:ext cx="7624762" cy="43624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38125"/>
            <a:ext cx="91440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85750" y="47625"/>
            <a:ext cx="1457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/ FEATURE NAME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8067675" y="47625"/>
            <a:ext cx="790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TODAY’S DATE</a:t>
            </a:r>
            <a:endParaRPr lang="en-US" sz="85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05375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62275" y="3567113"/>
            <a:ext cx="97631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: XX 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5162550" y="3567113"/>
            <a:ext cx="9810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ROUND: XX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2076450" y="4167188"/>
            <a:ext cx="49911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EMAIL </a:t>
            </a:r>
            <a:endParaRPr lang="en-US" sz="1425" dirty="0"/>
          </a:p>
          <a:p>
            <a:pPr algn="ctr" indent="0" marL="0">
              <a:lnSpc>
                <a:spcPts val="1603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PROJECT LINK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285750" y="738188"/>
            <a:ext cx="857250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31"/>
              </a:lnSpc>
              <a:buNone/>
            </a:pPr>
            <a:r>
              <a:rPr lang="en-US" sz="6555" spc="-262" kern="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THANKS</a:t>
            </a:r>
            <a:endParaRPr lang="en-US" sz="6555" dirty="0"/>
          </a:p>
        </p:txBody>
      </p:sp>
      <p:sp>
        <p:nvSpPr>
          <p:cNvPr id="8" name="Shape 6"/>
          <p:cNvSpPr/>
          <p:nvPr/>
        </p:nvSpPr>
        <p:spPr>
          <a:xfrm>
            <a:off x="0" y="3509963"/>
            <a:ext cx="9144000" cy="0"/>
          </a:xfrm>
          <a:prstGeom prst="line">
            <a:avLst/>
          </a:prstGeom>
          <a:solidFill>
            <a:srgbClr val="FFFFFF"/>
          </a:solidFill>
          <a:ln w="4524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52413"/>
            <a:ext cx="9144000" cy="0"/>
          </a:xfrm>
          <a:prstGeom prst="line">
            <a:avLst/>
          </a:prstGeom>
          <a:solidFill>
            <a:srgbClr val="000000"/>
          </a:solidFill>
          <a:ln w="4524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1500" y="66675"/>
            <a:ext cx="381000" cy="82021"/>
          </a:xfrm>
          <a:prstGeom prst="rect">
            <a:avLst/>
          </a:prstGeom>
          <a:noFill/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1500" y="84216"/>
            <a:ext cx="63819" cy="6448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-2" t="0" b="0"/>
          <a:stretch/>
        </p:blipFill>
        <p:spPr>
          <a:xfrm>
            <a:off x="4461449" y="66675"/>
            <a:ext cx="300791" cy="819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2026-06-01T18:26:57Z</dcterms:created>
  <dcterms:modified xsi:type="dcterms:W3CDTF">2026-06-01T18:26:57Z</dcterms:modified>
</cp:coreProperties>
</file>